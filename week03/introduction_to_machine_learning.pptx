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5"/>
  </p:notesMasterIdLst>
  <p:sldIdLst>
    <p:sldId id="256"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6CDCEA-A80F-474E-D54A-9FD2156BEAC8}" v="13" dt="2026-04-01T09:45:38.0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6362" autoAdjust="0"/>
  </p:normalViewPr>
  <p:slideViewPr>
    <p:cSldViewPr snapToGrid="0" showGuides="1">
      <p:cViewPr varScale="1">
        <p:scale>
          <a:sx n="92" d="100"/>
          <a:sy n="92" d="100"/>
        </p:scale>
        <p:origin x="96" y="4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7F19B2-CDC1-46FF-8F9C-9EF7F5923C26}" type="doc">
      <dgm:prSet loTypeId="urn:microsoft.com/office/officeart/2005/8/layout/hChevron3" loCatId="process" qsTypeId="urn:microsoft.com/office/officeart/2005/8/quickstyle/simple1" qsCatId="simple" csTypeId="urn:microsoft.com/office/officeart/2005/8/colors/accent1_2" csCatId="accent1" phldr="1"/>
      <dgm:spPr/>
    </dgm:pt>
    <dgm:pt modelId="{DEDD2A84-2486-41CB-89B2-941E97ABA545}">
      <dgm:prSet phldrT="[Text]" custT="1"/>
      <dgm:spPr/>
      <dgm:t>
        <a:bodyPr/>
        <a:lstStyle/>
        <a:p>
          <a:r>
            <a:rPr lang="da-DK" sz="1600" dirty="0"/>
            <a:t>Data </a:t>
          </a:r>
          <a:r>
            <a:rPr lang="da-DK" sz="1600" dirty="0" err="1"/>
            <a:t>preprocessing</a:t>
          </a:r>
          <a:endParaRPr lang="da-DK" sz="1600" dirty="0"/>
        </a:p>
      </dgm:t>
    </dgm:pt>
    <dgm:pt modelId="{0D6C735C-8BD5-43DA-80EB-A004341491AF}" type="parTrans" cxnId="{583BEFDF-0EC9-4143-820C-481C98CCF21B}">
      <dgm:prSet/>
      <dgm:spPr/>
      <dgm:t>
        <a:bodyPr/>
        <a:lstStyle/>
        <a:p>
          <a:endParaRPr lang="da-DK" sz="1600"/>
        </a:p>
      </dgm:t>
    </dgm:pt>
    <dgm:pt modelId="{828BD355-42D9-4EFC-8C4E-9528E505CBB3}" type="sibTrans" cxnId="{583BEFDF-0EC9-4143-820C-481C98CCF21B}">
      <dgm:prSet/>
      <dgm:spPr/>
      <dgm:t>
        <a:bodyPr/>
        <a:lstStyle/>
        <a:p>
          <a:endParaRPr lang="da-DK" sz="1600"/>
        </a:p>
      </dgm:t>
    </dgm:pt>
    <dgm:pt modelId="{3335AF65-78D8-4C4A-B4DE-F713DA449FE9}">
      <dgm:prSet phldrT="[Text]" custT="1"/>
      <dgm:spPr/>
      <dgm:t>
        <a:bodyPr/>
        <a:lstStyle/>
        <a:p>
          <a:r>
            <a:rPr lang="da-DK" sz="1600" dirty="0"/>
            <a:t>Model </a:t>
          </a:r>
          <a:r>
            <a:rPr lang="da-DK" sz="1600" dirty="0" err="1"/>
            <a:t>training</a:t>
          </a:r>
          <a:endParaRPr lang="da-DK" sz="1600" dirty="0"/>
        </a:p>
      </dgm:t>
    </dgm:pt>
    <dgm:pt modelId="{0E89E42B-E6A3-49E8-93AF-4A198F5BE43A}" type="parTrans" cxnId="{F47D4D16-7729-4C73-85CA-5D682B6C33A5}">
      <dgm:prSet/>
      <dgm:spPr/>
      <dgm:t>
        <a:bodyPr/>
        <a:lstStyle/>
        <a:p>
          <a:endParaRPr lang="da-DK" sz="1600"/>
        </a:p>
      </dgm:t>
    </dgm:pt>
    <dgm:pt modelId="{C260C9B7-C692-476E-99ED-CE20C1465E0C}" type="sibTrans" cxnId="{F47D4D16-7729-4C73-85CA-5D682B6C33A5}">
      <dgm:prSet/>
      <dgm:spPr/>
      <dgm:t>
        <a:bodyPr/>
        <a:lstStyle/>
        <a:p>
          <a:endParaRPr lang="da-DK" sz="1600"/>
        </a:p>
      </dgm:t>
    </dgm:pt>
    <dgm:pt modelId="{2E333F8E-D718-4752-93B0-D8B57F5EEF44}">
      <dgm:prSet phldrT="[Text]" custT="1"/>
      <dgm:spPr/>
      <dgm:t>
        <a:bodyPr/>
        <a:lstStyle/>
        <a:p>
          <a:r>
            <a:rPr lang="da-DK" sz="1600" dirty="0"/>
            <a:t>Model </a:t>
          </a:r>
          <a:r>
            <a:rPr lang="da-DK" sz="1600" dirty="0" err="1"/>
            <a:t>testing</a:t>
          </a:r>
          <a:endParaRPr lang="da-DK" sz="1600" dirty="0"/>
        </a:p>
      </dgm:t>
    </dgm:pt>
    <dgm:pt modelId="{509B5C3B-65B9-4F34-B9DB-3FFF0144C520}" type="parTrans" cxnId="{2A52F5EB-F327-446C-BDFB-2ABC36BCA7C7}">
      <dgm:prSet/>
      <dgm:spPr/>
      <dgm:t>
        <a:bodyPr/>
        <a:lstStyle/>
        <a:p>
          <a:endParaRPr lang="da-DK" sz="1600"/>
        </a:p>
      </dgm:t>
    </dgm:pt>
    <dgm:pt modelId="{D937744C-E3C3-4E15-9F92-0579E28681F9}" type="sibTrans" cxnId="{2A52F5EB-F327-446C-BDFB-2ABC36BCA7C7}">
      <dgm:prSet/>
      <dgm:spPr/>
      <dgm:t>
        <a:bodyPr/>
        <a:lstStyle/>
        <a:p>
          <a:endParaRPr lang="da-DK" sz="1600"/>
        </a:p>
      </dgm:t>
    </dgm:pt>
    <dgm:pt modelId="{0145B152-81B7-4571-842E-47F1978F605C}">
      <dgm:prSet phldrT="[Text]" custT="1"/>
      <dgm:spPr/>
      <dgm:t>
        <a:bodyPr/>
        <a:lstStyle/>
        <a:p>
          <a:r>
            <a:rPr lang="da-DK" sz="1600" dirty="0"/>
            <a:t>Deployment</a:t>
          </a:r>
        </a:p>
      </dgm:t>
    </dgm:pt>
    <dgm:pt modelId="{A2301326-D500-499E-A95F-68E8F7B313BB}" type="parTrans" cxnId="{73E3B59A-4728-44D7-8A3D-DF832C630691}">
      <dgm:prSet/>
      <dgm:spPr/>
      <dgm:t>
        <a:bodyPr/>
        <a:lstStyle/>
        <a:p>
          <a:endParaRPr lang="da-DK" sz="1600"/>
        </a:p>
      </dgm:t>
    </dgm:pt>
    <dgm:pt modelId="{5F37FC8A-03B6-42C6-BE14-87BAAFF2DF92}" type="sibTrans" cxnId="{73E3B59A-4728-44D7-8A3D-DF832C630691}">
      <dgm:prSet/>
      <dgm:spPr/>
      <dgm:t>
        <a:bodyPr/>
        <a:lstStyle/>
        <a:p>
          <a:endParaRPr lang="da-DK" sz="1600"/>
        </a:p>
      </dgm:t>
    </dgm:pt>
    <dgm:pt modelId="{ED3DA1E4-D7FD-4ED6-AFA4-713251E96B80}" type="pres">
      <dgm:prSet presAssocID="{657F19B2-CDC1-46FF-8F9C-9EF7F5923C26}" presName="Name0" presStyleCnt="0">
        <dgm:presLayoutVars>
          <dgm:dir/>
          <dgm:resizeHandles val="exact"/>
        </dgm:presLayoutVars>
      </dgm:prSet>
      <dgm:spPr/>
    </dgm:pt>
    <dgm:pt modelId="{9D28772D-49C0-4DFB-8A8D-C770546AA921}" type="pres">
      <dgm:prSet presAssocID="{DEDD2A84-2486-41CB-89B2-941E97ABA545}" presName="parTxOnly" presStyleLbl="node1" presStyleIdx="0" presStyleCnt="4">
        <dgm:presLayoutVars>
          <dgm:bulletEnabled val="1"/>
        </dgm:presLayoutVars>
      </dgm:prSet>
      <dgm:spPr/>
    </dgm:pt>
    <dgm:pt modelId="{E52DB502-C062-4594-9E08-4BB791869882}" type="pres">
      <dgm:prSet presAssocID="{828BD355-42D9-4EFC-8C4E-9528E505CBB3}" presName="parSpace" presStyleCnt="0"/>
      <dgm:spPr/>
    </dgm:pt>
    <dgm:pt modelId="{26C98826-1713-4FC9-A999-98D2CEB26529}" type="pres">
      <dgm:prSet presAssocID="{3335AF65-78D8-4C4A-B4DE-F713DA449FE9}" presName="parTxOnly" presStyleLbl="node1" presStyleIdx="1" presStyleCnt="4">
        <dgm:presLayoutVars>
          <dgm:bulletEnabled val="1"/>
        </dgm:presLayoutVars>
      </dgm:prSet>
      <dgm:spPr/>
    </dgm:pt>
    <dgm:pt modelId="{D33FDE84-DB04-47C8-A4A4-386E0C07E80E}" type="pres">
      <dgm:prSet presAssocID="{C260C9B7-C692-476E-99ED-CE20C1465E0C}" presName="parSpace" presStyleCnt="0"/>
      <dgm:spPr/>
    </dgm:pt>
    <dgm:pt modelId="{CBFBFB2D-C4AE-4410-85A2-0CDD252F07A9}" type="pres">
      <dgm:prSet presAssocID="{2E333F8E-D718-4752-93B0-D8B57F5EEF44}" presName="parTxOnly" presStyleLbl="node1" presStyleIdx="2" presStyleCnt="4">
        <dgm:presLayoutVars>
          <dgm:bulletEnabled val="1"/>
        </dgm:presLayoutVars>
      </dgm:prSet>
      <dgm:spPr/>
    </dgm:pt>
    <dgm:pt modelId="{73893B8E-6135-4618-9B83-ADD6B988CECC}" type="pres">
      <dgm:prSet presAssocID="{D937744C-E3C3-4E15-9F92-0579E28681F9}" presName="parSpace" presStyleCnt="0"/>
      <dgm:spPr/>
    </dgm:pt>
    <dgm:pt modelId="{0DF68E32-9FA8-437E-B9E2-5E030CAB591A}" type="pres">
      <dgm:prSet presAssocID="{0145B152-81B7-4571-842E-47F1978F605C}" presName="parTxOnly" presStyleLbl="node1" presStyleIdx="3" presStyleCnt="4">
        <dgm:presLayoutVars>
          <dgm:bulletEnabled val="1"/>
        </dgm:presLayoutVars>
      </dgm:prSet>
      <dgm:spPr/>
    </dgm:pt>
  </dgm:ptLst>
  <dgm:cxnLst>
    <dgm:cxn modelId="{F47D4D16-7729-4C73-85CA-5D682B6C33A5}" srcId="{657F19B2-CDC1-46FF-8F9C-9EF7F5923C26}" destId="{3335AF65-78D8-4C4A-B4DE-F713DA449FE9}" srcOrd="1" destOrd="0" parTransId="{0E89E42B-E6A3-49E8-93AF-4A198F5BE43A}" sibTransId="{C260C9B7-C692-476E-99ED-CE20C1465E0C}"/>
    <dgm:cxn modelId="{CA4ECC17-CEB9-4D02-82D7-8238A854A9F3}" type="presOf" srcId="{DEDD2A84-2486-41CB-89B2-941E97ABA545}" destId="{9D28772D-49C0-4DFB-8A8D-C770546AA921}" srcOrd="0" destOrd="0" presId="urn:microsoft.com/office/officeart/2005/8/layout/hChevron3"/>
    <dgm:cxn modelId="{0A2E6C4B-E356-4D70-A73B-002CC85A46F6}" type="presOf" srcId="{657F19B2-CDC1-46FF-8F9C-9EF7F5923C26}" destId="{ED3DA1E4-D7FD-4ED6-AFA4-713251E96B80}" srcOrd="0" destOrd="0" presId="urn:microsoft.com/office/officeart/2005/8/layout/hChevron3"/>
    <dgm:cxn modelId="{73E3B59A-4728-44D7-8A3D-DF832C630691}" srcId="{657F19B2-CDC1-46FF-8F9C-9EF7F5923C26}" destId="{0145B152-81B7-4571-842E-47F1978F605C}" srcOrd="3" destOrd="0" parTransId="{A2301326-D500-499E-A95F-68E8F7B313BB}" sibTransId="{5F37FC8A-03B6-42C6-BE14-87BAAFF2DF92}"/>
    <dgm:cxn modelId="{F675E8AD-55CF-412A-97FB-D16E12DDAEBB}" type="presOf" srcId="{2E333F8E-D718-4752-93B0-D8B57F5EEF44}" destId="{CBFBFB2D-C4AE-4410-85A2-0CDD252F07A9}" srcOrd="0" destOrd="0" presId="urn:microsoft.com/office/officeart/2005/8/layout/hChevron3"/>
    <dgm:cxn modelId="{44A24AAE-5C57-4690-B17E-4010B4EC955E}" type="presOf" srcId="{0145B152-81B7-4571-842E-47F1978F605C}" destId="{0DF68E32-9FA8-437E-B9E2-5E030CAB591A}" srcOrd="0" destOrd="0" presId="urn:microsoft.com/office/officeart/2005/8/layout/hChevron3"/>
    <dgm:cxn modelId="{583BEFDF-0EC9-4143-820C-481C98CCF21B}" srcId="{657F19B2-CDC1-46FF-8F9C-9EF7F5923C26}" destId="{DEDD2A84-2486-41CB-89B2-941E97ABA545}" srcOrd="0" destOrd="0" parTransId="{0D6C735C-8BD5-43DA-80EB-A004341491AF}" sibTransId="{828BD355-42D9-4EFC-8C4E-9528E505CBB3}"/>
    <dgm:cxn modelId="{2A52F5EB-F327-446C-BDFB-2ABC36BCA7C7}" srcId="{657F19B2-CDC1-46FF-8F9C-9EF7F5923C26}" destId="{2E333F8E-D718-4752-93B0-D8B57F5EEF44}" srcOrd="2" destOrd="0" parTransId="{509B5C3B-65B9-4F34-B9DB-3FFF0144C520}" sibTransId="{D937744C-E3C3-4E15-9F92-0579E28681F9}"/>
    <dgm:cxn modelId="{ABB8F2FE-9134-42EF-A2F6-256C7AE83760}" type="presOf" srcId="{3335AF65-78D8-4C4A-B4DE-F713DA449FE9}" destId="{26C98826-1713-4FC9-A999-98D2CEB26529}" srcOrd="0" destOrd="0" presId="urn:microsoft.com/office/officeart/2005/8/layout/hChevron3"/>
    <dgm:cxn modelId="{9A42A01B-47F0-4FAE-BA4C-1526A6C57B9C}" type="presParOf" srcId="{ED3DA1E4-D7FD-4ED6-AFA4-713251E96B80}" destId="{9D28772D-49C0-4DFB-8A8D-C770546AA921}" srcOrd="0" destOrd="0" presId="urn:microsoft.com/office/officeart/2005/8/layout/hChevron3"/>
    <dgm:cxn modelId="{13FD14A3-9503-43EC-AD11-0B85C391241A}" type="presParOf" srcId="{ED3DA1E4-D7FD-4ED6-AFA4-713251E96B80}" destId="{E52DB502-C062-4594-9E08-4BB791869882}" srcOrd="1" destOrd="0" presId="urn:microsoft.com/office/officeart/2005/8/layout/hChevron3"/>
    <dgm:cxn modelId="{15A59772-60DA-43E2-AE6E-E4E62695EA1D}" type="presParOf" srcId="{ED3DA1E4-D7FD-4ED6-AFA4-713251E96B80}" destId="{26C98826-1713-4FC9-A999-98D2CEB26529}" srcOrd="2" destOrd="0" presId="urn:microsoft.com/office/officeart/2005/8/layout/hChevron3"/>
    <dgm:cxn modelId="{3D4E71B4-CCEB-4396-86AE-44FC686A3ECD}" type="presParOf" srcId="{ED3DA1E4-D7FD-4ED6-AFA4-713251E96B80}" destId="{D33FDE84-DB04-47C8-A4A4-386E0C07E80E}" srcOrd="3" destOrd="0" presId="urn:microsoft.com/office/officeart/2005/8/layout/hChevron3"/>
    <dgm:cxn modelId="{850DF2D5-AC6C-4626-9FF8-444A03BC06F8}" type="presParOf" srcId="{ED3DA1E4-D7FD-4ED6-AFA4-713251E96B80}" destId="{CBFBFB2D-C4AE-4410-85A2-0CDD252F07A9}" srcOrd="4" destOrd="0" presId="urn:microsoft.com/office/officeart/2005/8/layout/hChevron3"/>
    <dgm:cxn modelId="{26468A38-8FEC-4BC1-8597-8AFD1816B856}" type="presParOf" srcId="{ED3DA1E4-D7FD-4ED6-AFA4-713251E96B80}" destId="{73893B8E-6135-4618-9B83-ADD6B988CECC}" srcOrd="5" destOrd="0" presId="urn:microsoft.com/office/officeart/2005/8/layout/hChevron3"/>
    <dgm:cxn modelId="{00E73D42-39DA-46FE-96D9-29A5B612BC8B}" type="presParOf" srcId="{ED3DA1E4-D7FD-4ED6-AFA4-713251E96B80}" destId="{0DF68E32-9FA8-437E-B9E2-5E030CAB591A}" srcOrd="6"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28772D-49C0-4DFB-8A8D-C770546AA921}">
      <dsp:nvSpPr>
        <dsp:cNvPr id="0" name=""/>
        <dsp:cNvSpPr/>
      </dsp:nvSpPr>
      <dsp:spPr>
        <a:xfrm>
          <a:off x="2380" y="0"/>
          <a:ext cx="2388876" cy="649057"/>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2672" rIns="21336" bIns="42672" numCol="1" spcCol="1270" anchor="ctr" anchorCtr="0">
          <a:noAutofit/>
        </a:bodyPr>
        <a:lstStyle/>
        <a:p>
          <a:pPr marL="0" lvl="0" indent="0" algn="ctr" defTabSz="711200">
            <a:lnSpc>
              <a:spcPct val="90000"/>
            </a:lnSpc>
            <a:spcBef>
              <a:spcPct val="0"/>
            </a:spcBef>
            <a:spcAft>
              <a:spcPct val="35000"/>
            </a:spcAft>
            <a:buNone/>
          </a:pPr>
          <a:r>
            <a:rPr lang="da-DK" sz="1600" kern="1200" dirty="0"/>
            <a:t>Data </a:t>
          </a:r>
          <a:r>
            <a:rPr lang="da-DK" sz="1600" kern="1200" dirty="0" err="1"/>
            <a:t>preprocessing</a:t>
          </a:r>
          <a:endParaRPr lang="da-DK" sz="1600" kern="1200" dirty="0"/>
        </a:p>
      </dsp:txBody>
      <dsp:txXfrm>
        <a:off x="2380" y="0"/>
        <a:ext cx="2226612" cy="649057"/>
      </dsp:txXfrm>
    </dsp:sp>
    <dsp:sp modelId="{26C98826-1713-4FC9-A999-98D2CEB26529}">
      <dsp:nvSpPr>
        <dsp:cNvPr id="0" name=""/>
        <dsp:cNvSpPr/>
      </dsp:nvSpPr>
      <dsp:spPr>
        <a:xfrm>
          <a:off x="1913482" y="0"/>
          <a:ext cx="2388876" cy="64905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da-DK" sz="1600" kern="1200" dirty="0"/>
            <a:t>Model </a:t>
          </a:r>
          <a:r>
            <a:rPr lang="da-DK" sz="1600" kern="1200" dirty="0" err="1"/>
            <a:t>training</a:t>
          </a:r>
          <a:endParaRPr lang="da-DK" sz="1600" kern="1200" dirty="0"/>
        </a:p>
      </dsp:txBody>
      <dsp:txXfrm>
        <a:off x="2238011" y="0"/>
        <a:ext cx="1739819" cy="649057"/>
      </dsp:txXfrm>
    </dsp:sp>
    <dsp:sp modelId="{CBFBFB2D-C4AE-4410-85A2-0CDD252F07A9}">
      <dsp:nvSpPr>
        <dsp:cNvPr id="0" name=""/>
        <dsp:cNvSpPr/>
      </dsp:nvSpPr>
      <dsp:spPr>
        <a:xfrm>
          <a:off x="3824583" y="0"/>
          <a:ext cx="2388876" cy="64905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da-DK" sz="1600" kern="1200" dirty="0"/>
            <a:t>Model </a:t>
          </a:r>
          <a:r>
            <a:rPr lang="da-DK" sz="1600" kern="1200" dirty="0" err="1"/>
            <a:t>testing</a:t>
          </a:r>
          <a:endParaRPr lang="da-DK" sz="1600" kern="1200" dirty="0"/>
        </a:p>
      </dsp:txBody>
      <dsp:txXfrm>
        <a:off x="4149112" y="0"/>
        <a:ext cx="1739819" cy="649057"/>
      </dsp:txXfrm>
    </dsp:sp>
    <dsp:sp modelId="{0DF68E32-9FA8-437E-B9E2-5E030CAB591A}">
      <dsp:nvSpPr>
        <dsp:cNvPr id="0" name=""/>
        <dsp:cNvSpPr/>
      </dsp:nvSpPr>
      <dsp:spPr>
        <a:xfrm>
          <a:off x="5735684" y="0"/>
          <a:ext cx="2388876" cy="64905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da-DK" sz="1600" kern="1200" dirty="0"/>
            <a:t>Deployment</a:t>
          </a:r>
        </a:p>
      </dsp:txBody>
      <dsp:txXfrm>
        <a:off x="6060213" y="0"/>
        <a:ext cx="1739819" cy="649057"/>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43C4F8-B70A-45C4-8CFE-9D72D5ED9E1A}" type="datetimeFigureOut">
              <a:rPr lang="en-GB" smtClean="0"/>
              <a:t>01/04/2026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9CB282-0A6D-4BB5-9C14-17B3F7DAF9CC}" type="slidenum">
              <a:rPr lang="en-GB" smtClean="0"/>
              <a:t>‹#›</a:t>
            </a:fld>
            <a:endParaRPr lang="en-GB"/>
          </a:p>
        </p:txBody>
      </p:sp>
    </p:spTree>
    <p:extLst>
      <p:ext uri="{BB962C8B-B14F-4D97-AF65-F5344CB8AC3E}">
        <p14:creationId xmlns:p14="http://schemas.microsoft.com/office/powerpoint/2010/main" val="902277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6</a:t>
            </a:fld>
            <a:endParaRPr lang="da-DK" dirty="0"/>
          </a:p>
        </p:txBody>
      </p:sp>
    </p:spTree>
    <p:extLst>
      <p:ext uri="{BB962C8B-B14F-4D97-AF65-F5344CB8AC3E}">
        <p14:creationId xmlns:p14="http://schemas.microsoft.com/office/powerpoint/2010/main" val="2985205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7</a:t>
            </a:fld>
            <a:endParaRPr lang="da-DK" dirty="0"/>
          </a:p>
        </p:txBody>
      </p:sp>
    </p:spTree>
    <p:extLst>
      <p:ext uri="{BB962C8B-B14F-4D97-AF65-F5344CB8AC3E}">
        <p14:creationId xmlns:p14="http://schemas.microsoft.com/office/powerpoint/2010/main" val="2007155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8</a:t>
            </a:fld>
            <a:endParaRPr lang="da-DK" dirty="0"/>
          </a:p>
        </p:txBody>
      </p:sp>
    </p:spTree>
    <p:extLst>
      <p:ext uri="{BB962C8B-B14F-4D97-AF65-F5344CB8AC3E}">
        <p14:creationId xmlns:p14="http://schemas.microsoft.com/office/powerpoint/2010/main" val="3139735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9</a:t>
            </a:fld>
            <a:endParaRPr lang="da-DK" dirty="0"/>
          </a:p>
        </p:txBody>
      </p:sp>
    </p:spTree>
    <p:extLst>
      <p:ext uri="{BB962C8B-B14F-4D97-AF65-F5344CB8AC3E}">
        <p14:creationId xmlns:p14="http://schemas.microsoft.com/office/powerpoint/2010/main" val="2996496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10</a:t>
            </a:fld>
            <a:endParaRPr lang="da-DK" dirty="0"/>
          </a:p>
        </p:txBody>
      </p:sp>
    </p:spTree>
    <p:extLst>
      <p:ext uri="{BB962C8B-B14F-4D97-AF65-F5344CB8AC3E}">
        <p14:creationId xmlns:p14="http://schemas.microsoft.com/office/powerpoint/2010/main" val="5866116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11</a:t>
            </a:fld>
            <a:endParaRPr lang="da-DK" dirty="0"/>
          </a:p>
        </p:txBody>
      </p:sp>
    </p:spTree>
    <p:extLst>
      <p:ext uri="{BB962C8B-B14F-4D97-AF65-F5344CB8AC3E}">
        <p14:creationId xmlns:p14="http://schemas.microsoft.com/office/powerpoint/2010/main" val="5895702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12</a:t>
            </a:fld>
            <a:endParaRPr lang="da-DK" dirty="0"/>
          </a:p>
        </p:txBody>
      </p:sp>
    </p:spTree>
    <p:extLst>
      <p:ext uri="{BB962C8B-B14F-4D97-AF65-F5344CB8AC3E}">
        <p14:creationId xmlns:p14="http://schemas.microsoft.com/office/powerpoint/2010/main" val="26847262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13</a:t>
            </a:fld>
            <a:endParaRPr lang="da-DK" dirty="0"/>
          </a:p>
        </p:txBody>
      </p:sp>
    </p:spTree>
    <p:extLst>
      <p:ext uri="{BB962C8B-B14F-4D97-AF65-F5344CB8AC3E}">
        <p14:creationId xmlns:p14="http://schemas.microsoft.com/office/powerpoint/2010/main" val="18019589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14</a:t>
            </a:fld>
            <a:endParaRPr lang="da-DK" dirty="0"/>
          </a:p>
        </p:txBody>
      </p:sp>
    </p:spTree>
    <p:extLst>
      <p:ext uri="{BB962C8B-B14F-4D97-AF65-F5344CB8AC3E}">
        <p14:creationId xmlns:p14="http://schemas.microsoft.com/office/powerpoint/2010/main" val="35811759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15</a:t>
            </a:fld>
            <a:endParaRPr lang="da-DK" dirty="0"/>
          </a:p>
        </p:txBody>
      </p:sp>
    </p:spTree>
    <p:extLst>
      <p:ext uri="{BB962C8B-B14F-4D97-AF65-F5344CB8AC3E}">
        <p14:creationId xmlns:p14="http://schemas.microsoft.com/office/powerpoint/2010/main" val="36873894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16</a:t>
            </a:fld>
            <a:endParaRPr lang="da-DK" dirty="0"/>
          </a:p>
        </p:txBody>
      </p:sp>
    </p:spTree>
    <p:extLst>
      <p:ext uri="{BB962C8B-B14F-4D97-AF65-F5344CB8AC3E}">
        <p14:creationId xmlns:p14="http://schemas.microsoft.com/office/powerpoint/2010/main" val="40930065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17</a:t>
            </a:fld>
            <a:endParaRPr lang="da-DK" dirty="0"/>
          </a:p>
        </p:txBody>
      </p:sp>
    </p:spTree>
    <p:extLst>
      <p:ext uri="{BB962C8B-B14F-4D97-AF65-F5344CB8AC3E}">
        <p14:creationId xmlns:p14="http://schemas.microsoft.com/office/powerpoint/2010/main" val="19944006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18</a:t>
            </a:fld>
            <a:endParaRPr lang="da-DK" dirty="0"/>
          </a:p>
        </p:txBody>
      </p:sp>
    </p:spTree>
    <p:extLst>
      <p:ext uri="{BB962C8B-B14F-4D97-AF65-F5344CB8AC3E}">
        <p14:creationId xmlns:p14="http://schemas.microsoft.com/office/powerpoint/2010/main" val="32150532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19</a:t>
            </a:fld>
            <a:endParaRPr lang="da-DK" dirty="0"/>
          </a:p>
        </p:txBody>
      </p:sp>
    </p:spTree>
    <p:extLst>
      <p:ext uri="{BB962C8B-B14F-4D97-AF65-F5344CB8AC3E}">
        <p14:creationId xmlns:p14="http://schemas.microsoft.com/office/powerpoint/2010/main" val="16860855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20</a:t>
            </a:fld>
            <a:endParaRPr lang="da-DK" dirty="0"/>
          </a:p>
        </p:txBody>
      </p:sp>
    </p:spTree>
    <p:extLst>
      <p:ext uri="{BB962C8B-B14F-4D97-AF65-F5344CB8AC3E}">
        <p14:creationId xmlns:p14="http://schemas.microsoft.com/office/powerpoint/2010/main" val="4476864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21</a:t>
            </a:fld>
            <a:endParaRPr lang="da-DK" dirty="0"/>
          </a:p>
        </p:txBody>
      </p:sp>
    </p:spTree>
    <p:extLst>
      <p:ext uri="{BB962C8B-B14F-4D97-AF65-F5344CB8AC3E}">
        <p14:creationId xmlns:p14="http://schemas.microsoft.com/office/powerpoint/2010/main" val="36386065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22</a:t>
            </a:fld>
            <a:endParaRPr lang="da-DK" dirty="0"/>
          </a:p>
        </p:txBody>
      </p:sp>
    </p:spTree>
    <p:extLst>
      <p:ext uri="{BB962C8B-B14F-4D97-AF65-F5344CB8AC3E}">
        <p14:creationId xmlns:p14="http://schemas.microsoft.com/office/powerpoint/2010/main" val="35804334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23</a:t>
            </a:fld>
            <a:endParaRPr lang="da-DK" dirty="0"/>
          </a:p>
        </p:txBody>
      </p:sp>
    </p:spTree>
    <p:extLst>
      <p:ext uri="{BB962C8B-B14F-4D97-AF65-F5344CB8AC3E}">
        <p14:creationId xmlns:p14="http://schemas.microsoft.com/office/powerpoint/2010/main" val="25398047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24</a:t>
            </a:fld>
            <a:endParaRPr lang="da-DK" dirty="0"/>
          </a:p>
        </p:txBody>
      </p:sp>
    </p:spTree>
    <p:extLst>
      <p:ext uri="{BB962C8B-B14F-4D97-AF65-F5344CB8AC3E}">
        <p14:creationId xmlns:p14="http://schemas.microsoft.com/office/powerpoint/2010/main" val="29708455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25</a:t>
            </a:fld>
            <a:endParaRPr lang="da-DK" dirty="0"/>
          </a:p>
        </p:txBody>
      </p:sp>
    </p:spTree>
    <p:extLst>
      <p:ext uri="{BB962C8B-B14F-4D97-AF65-F5344CB8AC3E}">
        <p14:creationId xmlns:p14="http://schemas.microsoft.com/office/powerpoint/2010/main" val="27406312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26</a:t>
            </a:fld>
            <a:endParaRPr lang="da-DK" dirty="0"/>
          </a:p>
        </p:txBody>
      </p:sp>
    </p:spTree>
    <p:extLst>
      <p:ext uri="{BB962C8B-B14F-4D97-AF65-F5344CB8AC3E}">
        <p14:creationId xmlns:p14="http://schemas.microsoft.com/office/powerpoint/2010/main" val="22099933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27</a:t>
            </a:fld>
            <a:endParaRPr lang="da-DK" dirty="0"/>
          </a:p>
        </p:txBody>
      </p:sp>
    </p:spTree>
    <p:extLst>
      <p:ext uri="{BB962C8B-B14F-4D97-AF65-F5344CB8AC3E}">
        <p14:creationId xmlns:p14="http://schemas.microsoft.com/office/powerpoint/2010/main" val="21722731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28</a:t>
            </a:fld>
            <a:endParaRPr lang="da-DK" dirty="0"/>
          </a:p>
        </p:txBody>
      </p:sp>
    </p:spTree>
    <p:extLst>
      <p:ext uri="{BB962C8B-B14F-4D97-AF65-F5344CB8AC3E}">
        <p14:creationId xmlns:p14="http://schemas.microsoft.com/office/powerpoint/2010/main" val="868139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734BB09-483B-4C4B-A5A4-C02A22055B01}" type="slidenum">
              <a:rPr lang="da-DK" smtClean="0"/>
              <a:pPr/>
              <a:t>29</a:t>
            </a:fld>
            <a:endParaRPr lang="da-DK" dirty="0"/>
          </a:p>
        </p:txBody>
      </p:sp>
    </p:spTree>
    <p:extLst>
      <p:ext uri="{BB962C8B-B14F-4D97-AF65-F5344CB8AC3E}">
        <p14:creationId xmlns:p14="http://schemas.microsoft.com/office/powerpoint/2010/main" val="2415654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943ACF2E-AA34-4132-ACF7-6237C219935B}" type="datetimeFigureOut">
              <a:rPr lang="en-GB" smtClean="0"/>
              <a:t>01/04/2026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F96DC97-41F5-4E0E-861F-888347FF251D}" type="slidenum">
              <a:rPr lang="en-GB" smtClean="0"/>
              <a:t>‹#›</a:t>
            </a:fld>
            <a:endParaRPr lang="en-GB"/>
          </a:p>
        </p:txBody>
      </p:sp>
    </p:spTree>
    <p:extLst>
      <p:ext uri="{BB962C8B-B14F-4D97-AF65-F5344CB8AC3E}">
        <p14:creationId xmlns:p14="http://schemas.microsoft.com/office/powerpoint/2010/main" val="1327195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43ACF2E-AA34-4132-ACF7-6237C219935B}" type="datetimeFigureOut">
              <a:rPr lang="en-GB" smtClean="0"/>
              <a:t>01/04/2026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F96DC97-41F5-4E0E-861F-888347FF251D}" type="slidenum">
              <a:rPr lang="en-GB" smtClean="0"/>
              <a:t>‹#›</a:t>
            </a:fld>
            <a:endParaRPr lang="en-GB"/>
          </a:p>
        </p:txBody>
      </p:sp>
    </p:spTree>
    <p:extLst>
      <p:ext uri="{BB962C8B-B14F-4D97-AF65-F5344CB8AC3E}">
        <p14:creationId xmlns:p14="http://schemas.microsoft.com/office/powerpoint/2010/main" val="2258795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43ACF2E-AA34-4132-ACF7-6237C219935B}" type="datetimeFigureOut">
              <a:rPr lang="en-GB" smtClean="0"/>
              <a:t>01/04/2026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F96DC97-41F5-4E0E-861F-888347FF251D}" type="slidenum">
              <a:rPr lang="en-GB" smtClean="0"/>
              <a:t>‹#›</a:t>
            </a:fld>
            <a:endParaRPr lang="en-GB"/>
          </a:p>
        </p:txBody>
      </p:sp>
    </p:spTree>
    <p:extLst>
      <p:ext uri="{BB962C8B-B14F-4D97-AF65-F5344CB8AC3E}">
        <p14:creationId xmlns:p14="http://schemas.microsoft.com/office/powerpoint/2010/main" val="422804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943ACF2E-AA34-4132-ACF7-6237C219935B}" type="datetimeFigureOut">
              <a:rPr lang="en-GB" smtClean="0"/>
              <a:t>01/04/2026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F96DC97-41F5-4E0E-861F-888347FF251D}" type="slidenum">
              <a:rPr lang="en-GB" smtClean="0"/>
              <a:t>‹#›</a:t>
            </a:fld>
            <a:endParaRPr lang="en-GB"/>
          </a:p>
        </p:txBody>
      </p:sp>
    </p:spTree>
    <p:extLst>
      <p:ext uri="{BB962C8B-B14F-4D97-AF65-F5344CB8AC3E}">
        <p14:creationId xmlns:p14="http://schemas.microsoft.com/office/powerpoint/2010/main" val="4105961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943ACF2E-AA34-4132-ACF7-6237C219935B}" type="datetimeFigureOut">
              <a:rPr lang="en-GB" smtClean="0"/>
              <a:t>01/04/2026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F96DC97-41F5-4E0E-861F-888347FF251D}" type="slidenum">
              <a:rPr lang="en-GB" smtClean="0"/>
              <a:t>‹#›</a:t>
            </a:fld>
            <a:endParaRPr lang="en-GB"/>
          </a:p>
        </p:txBody>
      </p:sp>
    </p:spTree>
    <p:extLst>
      <p:ext uri="{BB962C8B-B14F-4D97-AF65-F5344CB8AC3E}">
        <p14:creationId xmlns:p14="http://schemas.microsoft.com/office/powerpoint/2010/main" val="682445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943ACF2E-AA34-4132-ACF7-6237C219935B}" type="datetimeFigureOut">
              <a:rPr lang="en-GB" smtClean="0"/>
              <a:t>01/04/2026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F96DC97-41F5-4E0E-861F-888347FF251D}" type="slidenum">
              <a:rPr lang="en-GB" smtClean="0"/>
              <a:t>‹#›</a:t>
            </a:fld>
            <a:endParaRPr lang="en-GB"/>
          </a:p>
        </p:txBody>
      </p:sp>
    </p:spTree>
    <p:extLst>
      <p:ext uri="{BB962C8B-B14F-4D97-AF65-F5344CB8AC3E}">
        <p14:creationId xmlns:p14="http://schemas.microsoft.com/office/powerpoint/2010/main" val="3447292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3ACF2E-AA34-4132-ACF7-6237C219935B}" type="datetimeFigureOut">
              <a:rPr lang="en-GB" smtClean="0"/>
              <a:t>01/04/2026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FF96DC97-41F5-4E0E-861F-888347FF251D}" type="slidenum">
              <a:rPr lang="en-GB" smtClean="0"/>
              <a:t>‹#›</a:t>
            </a:fld>
            <a:endParaRPr lang="en-GB"/>
          </a:p>
        </p:txBody>
      </p:sp>
    </p:spTree>
    <p:extLst>
      <p:ext uri="{BB962C8B-B14F-4D97-AF65-F5344CB8AC3E}">
        <p14:creationId xmlns:p14="http://schemas.microsoft.com/office/powerpoint/2010/main" val="465043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3ACF2E-AA34-4132-ACF7-6237C219935B}" type="datetimeFigureOut">
              <a:rPr lang="en-GB" smtClean="0"/>
              <a:t>01/04/2026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F96DC97-41F5-4E0E-861F-888347FF251D}" type="slidenum">
              <a:rPr lang="en-GB" smtClean="0"/>
              <a:t>‹#›</a:t>
            </a:fld>
            <a:endParaRPr lang="en-GB"/>
          </a:p>
        </p:txBody>
      </p:sp>
    </p:spTree>
    <p:extLst>
      <p:ext uri="{BB962C8B-B14F-4D97-AF65-F5344CB8AC3E}">
        <p14:creationId xmlns:p14="http://schemas.microsoft.com/office/powerpoint/2010/main" val="1663800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3ACF2E-AA34-4132-ACF7-6237C219935B}" type="datetimeFigureOut">
              <a:rPr lang="en-GB" smtClean="0"/>
              <a:t>01/04/2026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F96DC97-41F5-4E0E-861F-888347FF251D}" type="slidenum">
              <a:rPr lang="en-GB" smtClean="0"/>
              <a:t>‹#›</a:t>
            </a:fld>
            <a:endParaRPr lang="en-GB"/>
          </a:p>
        </p:txBody>
      </p:sp>
    </p:spTree>
    <p:extLst>
      <p:ext uri="{BB962C8B-B14F-4D97-AF65-F5344CB8AC3E}">
        <p14:creationId xmlns:p14="http://schemas.microsoft.com/office/powerpoint/2010/main" val="1371302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43ACF2E-AA34-4132-ACF7-6237C219935B}" type="datetimeFigureOut">
              <a:rPr lang="en-GB" smtClean="0"/>
              <a:t>01/04/2026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F96DC97-41F5-4E0E-861F-888347FF251D}" type="slidenum">
              <a:rPr lang="en-GB" smtClean="0"/>
              <a:t>‹#›</a:t>
            </a:fld>
            <a:endParaRPr lang="en-GB"/>
          </a:p>
        </p:txBody>
      </p:sp>
    </p:spTree>
    <p:extLst>
      <p:ext uri="{BB962C8B-B14F-4D97-AF65-F5344CB8AC3E}">
        <p14:creationId xmlns:p14="http://schemas.microsoft.com/office/powerpoint/2010/main" val="3137464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43ACF2E-AA34-4132-ACF7-6237C219935B}" type="datetimeFigureOut">
              <a:rPr lang="en-GB" smtClean="0"/>
              <a:t>01/04/2026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F96DC97-41F5-4E0E-861F-888347FF251D}" type="slidenum">
              <a:rPr lang="en-GB" smtClean="0"/>
              <a:t>‹#›</a:t>
            </a:fld>
            <a:endParaRPr lang="en-GB"/>
          </a:p>
        </p:txBody>
      </p:sp>
    </p:spTree>
    <p:extLst>
      <p:ext uri="{BB962C8B-B14F-4D97-AF65-F5344CB8AC3E}">
        <p14:creationId xmlns:p14="http://schemas.microsoft.com/office/powerpoint/2010/main" val="2311070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Front A">
    <p:bg>
      <p:bgPr>
        <a:solidFill>
          <a:schemeClr val="accent1"/>
        </a:solidFill>
        <a:effectLst/>
      </p:bgPr>
    </p:bg>
    <p:spTree>
      <p:nvGrpSpPr>
        <p:cNvPr id="1" name=""/>
        <p:cNvGrpSpPr/>
        <p:nvPr/>
      </p:nvGrpSpPr>
      <p:grpSpPr>
        <a:xfrm>
          <a:off x="0" y="0"/>
          <a:ext cx="0" cy="0"/>
          <a:chOff x="0" y="0"/>
          <a:chExt cx="0" cy="0"/>
        </a:xfrm>
      </p:grpSpPr>
      <p:sp>
        <p:nvSpPr>
          <p:cNvPr id="2" name="Background"/>
          <p:cNvSpPr/>
          <p:nvPr userDrawn="1"/>
        </p:nvSpPr>
        <p:spPr bwMode="auto">
          <a:xfrm>
            <a:off x="0" y="0"/>
            <a:ext cx="0" cy="0"/>
          </a:xfrm>
          <a:prstGeom prst="rect">
            <a:avLst/>
          </a:prstGeom>
          <a:solidFill>
            <a:srgbClr val="990000"/>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dirty="0">
              <a:ln>
                <a:noFill/>
              </a:ln>
              <a:solidFill>
                <a:schemeClr val="tx1"/>
              </a:solidFill>
              <a:effectLst/>
              <a:latin typeface="Arial" panose="020B0604020202020204" pitchFamily="34" charset="0"/>
              <a:ea typeface="ＭＳ Ｐゴシック" pitchFamily="-80" charset="-128"/>
            </a:endParaRPr>
          </a:p>
        </p:txBody>
      </p:sp>
      <p:sp>
        <p:nvSpPr>
          <p:cNvPr id="11" name="Logo white">
            <a:extLst>
              <a:ext uri="{FF2B5EF4-FFF2-40B4-BE49-F238E27FC236}">
                <a16:creationId xmlns:a16="http://schemas.microsoft.com/office/drawing/2014/main" id="{275A6477-FE3A-4D40-B1FE-E46C11E344A5}"/>
              </a:ext>
            </a:extLst>
          </p:cNvPr>
          <p:cNvSpPr>
            <a:spLocks noChangeAspect="1"/>
          </p:cNvSpPr>
          <p:nvPr userDrawn="1">
            <p:custDataLst>
              <p:tags r:id="rId1"/>
            </p:custDataLst>
          </p:nvPr>
        </p:nvSpPr>
        <p:spPr bwMode="auto">
          <a:xfrm>
            <a:off x="252033" y="252000"/>
            <a:ext cx="419666" cy="612000"/>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FFFFFF"/>
          </a:solidFill>
          <a:ln>
            <a:noFill/>
          </a:ln>
        </p:spPr>
        <p:txBody>
          <a:bodyPr vert="horz" wrap="square" lIns="91440" tIns="45720" rIns="91440" bIns="45720" numCol="1" anchor="t" anchorCtr="0" compatLnSpc="1">
            <a:prstTxWarp prst="textNoShape">
              <a:avLst/>
            </a:prstTxWarp>
            <a:noAutofit/>
          </a:bodyPr>
          <a:lstStyle/>
          <a:p>
            <a:endParaRPr lang="en-GB" sz="1800" dirty="0"/>
          </a:p>
        </p:txBody>
      </p:sp>
      <p:sp>
        <p:nvSpPr>
          <p:cNvPr id="114690" name="Rectangle 2"/>
          <p:cNvSpPr>
            <a:spLocks noGrp="1" noChangeArrowheads="1"/>
          </p:cNvSpPr>
          <p:nvPr>
            <p:ph type="ctrTitle"/>
          </p:nvPr>
        </p:nvSpPr>
        <p:spPr>
          <a:xfrm>
            <a:off x="249892" y="3545117"/>
            <a:ext cx="10841439" cy="2706458"/>
          </a:xfrm>
        </p:spPr>
        <p:txBody>
          <a:bodyPr anchor="t" anchorCtr="0"/>
          <a:lstStyle>
            <a:lvl1pPr>
              <a:lnSpc>
                <a:spcPct val="93000"/>
              </a:lnSpc>
              <a:defRPr sz="8000">
                <a:solidFill>
                  <a:schemeClr val="bg1"/>
                </a:solidFill>
              </a:defRPr>
            </a:lvl1pPr>
          </a:lstStyle>
          <a:p>
            <a:pPr lvl="0"/>
            <a:r>
              <a:rPr lang="en-US" noProof="0"/>
              <a:t>Click to edit Master title style</a:t>
            </a:r>
            <a:endParaRPr lang="en-GB" noProof="0" dirty="0"/>
          </a:p>
        </p:txBody>
      </p:sp>
      <p:sp>
        <p:nvSpPr>
          <p:cNvPr id="114691" name="Rectangle 3"/>
          <p:cNvSpPr>
            <a:spLocks noGrp="1" noChangeArrowheads="1"/>
          </p:cNvSpPr>
          <p:nvPr>
            <p:ph type="subTitle" idx="1"/>
          </p:nvPr>
        </p:nvSpPr>
        <p:spPr>
          <a:xfrm>
            <a:off x="247104" y="1704975"/>
            <a:ext cx="10841439" cy="1660654"/>
          </a:xfrm>
        </p:spPr>
        <p:txBody>
          <a:bodyPr anchor="b" anchorCtr="0"/>
          <a:lstStyle>
            <a:lvl1pPr marL="0" indent="0">
              <a:lnSpc>
                <a:spcPct val="110000"/>
              </a:lnSpc>
              <a:spcBef>
                <a:spcPts val="0"/>
              </a:spcBef>
              <a:buFontTx/>
              <a:buNone/>
              <a:defRPr sz="3000">
                <a:solidFill>
                  <a:schemeClr val="bg1"/>
                </a:solidFill>
              </a:defRPr>
            </a:lvl1pPr>
          </a:lstStyle>
          <a:p>
            <a:pPr lvl="0"/>
            <a:r>
              <a:rPr lang="en-US" noProof="0"/>
              <a:t>Click to edit Master subtitle style</a:t>
            </a:r>
            <a:endParaRPr lang="en-GB" noProof="0" dirty="0"/>
          </a:p>
        </p:txBody>
      </p:sp>
      <p:sp>
        <p:nvSpPr>
          <p:cNvPr id="3" name="Footer Placeholder 2">
            <a:extLst>
              <a:ext uri="{FF2B5EF4-FFF2-40B4-BE49-F238E27FC236}">
                <a16:creationId xmlns:a16="http://schemas.microsoft.com/office/drawing/2014/main" id="{F2117C6C-7BC3-4888-BC29-FAB17565D119}"/>
              </a:ext>
            </a:extLst>
          </p:cNvPr>
          <p:cNvSpPr>
            <a:spLocks noGrp="1"/>
          </p:cNvSpPr>
          <p:nvPr>
            <p:ph type="ftr" sz="quarter" idx="16"/>
          </p:nvPr>
        </p:nvSpPr>
        <p:spPr/>
        <p:txBody>
          <a:bodyPr/>
          <a:lstStyle>
            <a:lvl1pPr>
              <a:defRPr>
                <a:noFill/>
              </a:defRPr>
            </a:lvl1pPr>
          </a:lstStyle>
          <a:p>
            <a:endParaRPr lang="en-GB" dirty="0"/>
          </a:p>
        </p:txBody>
      </p:sp>
      <p:sp>
        <p:nvSpPr>
          <p:cNvPr id="4" name="Slide Number Placeholder 3">
            <a:extLst>
              <a:ext uri="{FF2B5EF4-FFF2-40B4-BE49-F238E27FC236}">
                <a16:creationId xmlns:a16="http://schemas.microsoft.com/office/drawing/2014/main" id="{E77E4668-D07F-4B96-9755-175402734855}"/>
              </a:ext>
            </a:extLst>
          </p:cNvPr>
          <p:cNvSpPr>
            <a:spLocks noGrp="1"/>
          </p:cNvSpPr>
          <p:nvPr>
            <p:ph type="sldNum" sz="quarter" idx="17"/>
          </p:nvPr>
        </p:nvSpPr>
        <p:spPr/>
        <p:txBody>
          <a:bodyPr/>
          <a:lstStyle>
            <a:lvl1pPr>
              <a:defRPr>
                <a:solidFill>
                  <a:schemeClr val="bg1"/>
                </a:solidFill>
              </a:defRPr>
            </a:lvl1pPr>
          </a:lstStyle>
          <a:p>
            <a:fld id="{103EA872-A674-449B-A120-B97244F8E91D}" type="slidenum">
              <a:rPr lang="en-GB" smtClean="0"/>
              <a:pPr/>
              <a:t>‹#›</a:t>
            </a:fld>
            <a:endParaRPr lang="en-GB" dirty="0"/>
          </a:p>
        </p:txBody>
      </p:sp>
    </p:spTree>
    <p:extLst>
      <p:ext uri="{BB962C8B-B14F-4D97-AF65-F5344CB8AC3E}">
        <p14:creationId xmlns:p14="http://schemas.microsoft.com/office/powerpoint/2010/main" val="6633810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p15:clr>
            <a:srgbClr val="F26B43"/>
          </p15:clr>
        </p15:guide>
        <p15:guide id="2" pos="6984">
          <p15:clr>
            <a:srgbClr val="F26B43"/>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One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8A0E3C-0CE1-4BBF-A912-5A81BF3B7BCA}"/>
              </a:ext>
            </a:extLst>
          </p:cNvPr>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Footer Placeholder 1">
            <a:extLst>
              <a:ext uri="{FF2B5EF4-FFF2-40B4-BE49-F238E27FC236}">
                <a16:creationId xmlns:a16="http://schemas.microsoft.com/office/drawing/2014/main" id="{1FCA8860-CDAD-4F91-9292-2B11655C191E}"/>
              </a:ext>
            </a:extLst>
          </p:cNvPr>
          <p:cNvSpPr>
            <a:spLocks noGrp="1"/>
          </p:cNvSpPr>
          <p:nvPr>
            <p:ph type="ftr" sz="quarter" idx="10"/>
          </p:nvPr>
        </p:nvSpPr>
        <p:spPr/>
        <p:txBody>
          <a:bodyPr/>
          <a:lstStyle/>
          <a:p>
            <a:endParaRPr lang="en-GB" dirty="0"/>
          </a:p>
        </p:txBody>
      </p:sp>
      <p:sp>
        <p:nvSpPr>
          <p:cNvPr id="6" name="Slide Number Placeholder 5">
            <a:extLst>
              <a:ext uri="{FF2B5EF4-FFF2-40B4-BE49-F238E27FC236}">
                <a16:creationId xmlns:a16="http://schemas.microsoft.com/office/drawing/2014/main" id="{88C7A21B-9B48-4777-BF0D-9FB95719C2E7}"/>
              </a:ext>
            </a:extLst>
          </p:cNvPr>
          <p:cNvSpPr>
            <a:spLocks noGrp="1"/>
          </p:cNvSpPr>
          <p:nvPr>
            <p:ph type="sldNum" sz="quarter" idx="11"/>
          </p:nvPr>
        </p:nvSpPr>
        <p:spPr/>
        <p:txBody>
          <a:bodyPr/>
          <a:lstStyle/>
          <a:p>
            <a:fld id="{103EA872-A674-449B-A120-B97244F8E91D}" type="slidenum">
              <a:rPr lang="en-GB" smtClean="0"/>
              <a:pPr/>
              <a:t>‹#›</a:t>
            </a:fld>
            <a:endParaRPr lang="en-GB" dirty="0"/>
          </a:p>
        </p:txBody>
      </p:sp>
    </p:spTree>
    <p:extLst>
      <p:ext uri="{BB962C8B-B14F-4D97-AF65-F5344CB8AC3E}">
        <p14:creationId xmlns:p14="http://schemas.microsoft.com/office/powerpoint/2010/main" val="4053219799"/>
      </p:ext>
    </p:extLst>
  </p:cSld>
  <p:clrMapOvr>
    <a:masterClrMapping/>
  </p:clrMapOvr>
  <p:extLst>
    <p:ext uri="{DCECCB84-F9BA-43D5-87BE-67443E8EF086}">
      <p15:sldGuideLst xmlns:p15="http://schemas.microsoft.com/office/powerpoint/2012/main">
        <p15:guide id="1" pos="6984">
          <p15:clr>
            <a:srgbClr val="F26B43"/>
          </p15:clr>
        </p15:guide>
        <p15:guide id="2" pos="1117">
          <p15:clr>
            <a:srgbClr val="F26B43"/>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3ACF2E-AA34-4132-ACF7-6237C219935B}" type="datetimeFigureOut">
              <a:rPr lang="en-GB" smtClean="0"/>
              <a:t>01/04/2026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96DC97-41F5-4E0E-861F-888347FF251D}" type="slidenum">
              <a:rPr lang="en-GB" smtClean="0"/>
              <a:t>‹#›</a:t>
            </a:fld>
            <a:endParaRPr lang="en-GB"/>
          </a:p>
        </p:txBody>
      </p:sp>
    </p:spTree>
    <p:extLst>
      <p:ext uri="{BB962C8B-B14F-4D97-AF65-F5344CB8AC3E}">
        <p14:creationId xmlns:p14="http://schemas.microsoft.com/office/powerpoint/2010/main" val="15811670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10.png"/><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8.png"/><Relationship Id="rId3" Type="http://schemas.openxmlformats.org/officeDocument/2006/relationships/hyperlink" Target="https://scikit-learn.org/stable/" TargetMode="External"/><Relationship Id="rId7" Type="http://schemas.openxmlformats.org/officeDocument/2006/relationships/hyperlink" Target="https://gpytorch.ai/" TargetMode="External"/><Relationship Id="rId12"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hyperlink" Target="https://pyro.ai/" TargetMode="External"/><Relationship Id="rId11" Type="http://schemas.openxmlformats.org/officeDocument/2006/relationships/image" Target="../media/image16.jpeg"/><Relationship Id="rId5" Type="http://schemas.openxmlformats.org/officeDocument/2006/relationships/hyperlink" Target="https://www.tensorflow.org/" TargetMode="External"/><Relationship Id="rId10" Type="http://schemas.openxmlformats.org/officeDocument/2006/relationships/image" Target="../media/image15.png"/><Relationship Id="rId4" Type="http://schemas.openxmlformats.org/officeDocument/2006/relationships/hyperlink" Target="https://pytorch.org/" TargetMode="External"/><Relationship Id="rId9"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20.png"/><Relationship Id="rId4" Type="http://schemas.openxmlformats.org/officeDocument/2006/relationships/image" Target="../media/image9.jpeg"/></Relationships>
</file>

<file path=ppt/slides/_rels/slide1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7.png"/><Relationship Id="rId3" Type="http://schemas.openxmlformats.org/officeDocument/2006/relationships/hyperlink" Target="https://scikit-learn.org/stable/" TargetMode="External"/><Relationship Id="rId7" Type="http://schemas.openxmlformats.org/officeDocument/2006/relationships/hyperlink" Target="https://gpytorch.ai/" TargetMode="External"/><Relationship Id="rId12"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hyperlink" Target="https://pyro.ai/" TargetMode="External"/><Relationship Id="rId11" Type="http://schemas.openxmlformats.org/officeDocument/2006/relationships/image" Target="../media/image15.png"/><Relationship Id="rId5" Type="http://schemas.openxmlformats.org/officeDocument/2006/relationships/hyperlink" Target="https://www.tensorflow.org/" TargetMode="External"/><Relationship Id="rId10" Type="http://schemas.openxmlformats.org/officeDocument/2006/relationships/image" Target="../media/image14.png"/><Relationship Id="rId4" Type="http://schemas.openxmlformats.org/officeDocument/2006/relationships/hyperlink" Target="https://pytorch.org/" TargetMode="External"/><Relationship Id="rId9"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image" Target="../media/image18.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22.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29.emf"/></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33.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hyperlink" Target="https://github.com/FiammettaC/AI-for-Chemical-Engineers/tree/main/week03" TargetMode="External"/><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53737" y="1839216"/>
            <a:ext cx="6663204" cy="2387600"/>
          </a:xfrm>
        </p:spPr>
        <p:txBody>
          <a:bodyPr/>
          <a:lstStyle/>
          <a:p>
            <a:pPr algn="l"/>
            <a:r>
              <a:rPr lang="en-GB" dirty="0"/>
              <a:t>Introduction to machine learning</a:t>
            </a:r>
          </a:p>
        </p:txBody>
      </p:sp>
      <p:sp>
        <p:nvSpPr>
          <p:cNvPr id="3" name="Subtitle 2"/>
          <p:cNvSpPr>
            <a:spLocks noGrp="1"/>
          </p:cNvSpPr>
          <p:nvPr>
            <p:ph type="subTitle" idx="1"/>
          </p:nvPr>
        </p:nvSpPr>
        <p:spPr>
          <a:xfrm>
            <a:off x="1053737" y="4720975"/>
            <a:ext cx="9144000" cy="1655762"/>
          </a:xfrm>
        </p:spPr>
        <p:txBody>
          <a:bodyPr vert="horz" lIns="91440" tIns="45720" rIns="91440" bIns="45720" rtlCol="0" anchor="t">
            <a:normAutofit/>
          </a:bodyPr>
          <a:lstStyle/>
          <a:p>
            <a:pPr algn="l"/>
            <a:r>
              <a:rPr lang="en-GB" b="1" dirty="0"/>
              <a:t>Fiammetta Caccavale</a:t>
            </a:r>
            <a:endParaRPr lang="en-GB" b="1" dirty="0">
              <a:ea typeface="Calibri"/>
              <a:cs typeface="Calibri"/>
            </a:endParaRPr>
          </a:p>
          <a:p>
            <a:pPr algn="l"/>
            <a:endParaRPr lang="en-GB" dirty="0">
              <a:ea typeface="Calibri"/>
              <a:cs typeface="Calibri"/>
            </a:endParaRPr>
          </a:p>
          <a:p>
            <a:pPr algn="l"/>
            <a:r>
              <a:rPr lang="en-GB" sz="2000">
                <a:ea typeface="Calibri"/>
                <a:cs typeface="Calibri"/>
              </a:rPr>
              <a:t>Slides credits: Fiammetta Caccavale, Sebastian Topalian, Adem R. </a:t>
            </a:r>
            <a:r>
              <a:rPr lang="en-GB" sz="2000" err="1">
                <a:ea typeface="Calibri"/>
                <a:cs typeface="Calibri"/>
              </a:rPr>
              <a:t>N.Aouichaoui</a:t>
            </a:r>
            <a:endParaRPr lang="en-GB">
              <a:ea typeface="Calibri"/>
              <a:cs typeface="Calibri"/>
            </a:endParaRPr>
          </a:p>
        </p:txBody>
      </p:sp>
    </p:spTree>
    <p:extLst>
      <p:ext uri="{BB962C8B-B14F-4D97-AF65-F5344CB8AC3E}">
        <p14:creationId xmlns:p14="http://schemas.microsoft.com/office/powerpoint/2010/main" val="1407109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410691" y="2057580"/>
            <a:ext cx="3370621" cy="2742843"/>
          </a:xfrm>
          <a:custGeom>
            <a:avLst/>
            <a:gdLst/>
            <a:ahLst/>
            <a:cxnLst/>
            <a:rect l="l" t="t" r="r" b="b"/>
            <a:pathLst>
              <a:path w="5056590" h="4114800">
                <a:moveTo>
                  <a:pt x="0" y="0"/>
                </a:moveTo>
                <a:lnTo>
                  <a:pt x="5056590" y="0"/>
                </a:lnTo>
                <a:lnTo>
                  <a:pt x="505659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1401651" y="578365"/>
            <a:ext cx="9388701" cy="820738"/>
          </a:xfrm>
          <a:prstGeom prst="rect">
            <a:avLst/>
          </a:prstGeom>
        </p:spPr>
        <p:txBody>
          <a:bodyPr lIns="0" tIns="0" rIns="0" bIns="0" rtlCol="0" anchor="t">
            <a:spAutoFit/>
          </a:bodyPr>
          <a:lstStyle/>
          <a:p>
            <a:pPr>
              <a:lnSpc>
                <a:spcPts val="6399"/>
              </a:lnSpc>
              <a:spcBef>
                <a:spcPct val="0"/>
              </a:spcBef>
            </a:pPr>
            <a:r>
              <a:rPr lang="en-US" sz="5333" b="1" dirty="0">
                <a:solidFill>
                  <a:srgbClr val="000000"/>
                </a:solidFill>
                <a:latin typeface="+mj-lt"/>
                <a:ea typeface="Canva Sans 1 Bold"/>
                <a:cs typeface="Canva Sans 1 Bold"/>
                <a:sym typeface="Canva Sans 1 Bold"/>
              </a:rPr>
              <a:t>What is AI?</a:t>
            </a:r>
          </a:p>
        </p:txBody>
      </p:sp>
      <p:sp>
        <p:nvSpPr>
          <p:cNvPr id="4" name="TextBox 4"/>
          <p:cNvSpPr txBox="1"/>
          <p:nvPr/>
        </p:nvSpPr>
        <p:spPr>
          <a:xfrm>
            <a:off x="8184032" y="1352964"/>
            <a:ext cx="2509695" cy="974626"/>
          </a:xfrm>
          <a:prstGeom prst="rect">
            <a:avLst/>
          </a:prstGeom>
        </p:spPr>
        <p:txBody>
          <a:bodyPr lIns="0" tIns="0" rIns="0" bIns="0" rtlCol="0" anchor="t">
            <a:spAutoFit/>
          </a:bodyPr>
          <a:lstStyle/>
          <a:p>
            <a:pPr algn="ctr">
              <a:lnSpc>
                <a:spcPts val="1866"/>
              </a:lnSpc>
            </a:pPr>
            <a:r>
              <a:rPr lang="en-US" sz="1333" b="1" dirty="0">
                <a:solidFill>
                  <a:srgbClr val="000000"/>
                </a:solidFill>
                <a:ea typeface="Barlow Bold"/>
                <a:cs typeface="Barlow Bold"/>
                <a:sym typeface="Barlow Bold"/>
              </a:rPr>
              <a:t>Long History</a:t>
            </a:r>
            <a:r>
              <a:rPr lang="en-US" sz="1333" dirty="0">
                <a:solidFill>
                  <a:srgbClr val="000000"/>
                </a:solidFill>
                <a:ea typeface="Barlow"/>
                <a:cs typeface="Barlow"/>
                <a:sym typeface="Barlow"/>
              </a:rPr>
              <a:t>:</a:t>
            </a:r>
          </a:p>
          <a:p>
            <a:pPr algn="ctr">
              <a:lnSpc>
                <a:spcPts val="1866"/>
              </a:lnSpc>
              <a:spcBef>
                <a:spcPct val="0"/>
              </a:spcBef>
            </a:pPr>
            <a:r>
              <a:rPr lang="en-US" sz="1333" dirty="0">
                <a:solidFill>
                  <a:srgbClr val="000000"/>
                </a:solidFill>
                <a:ea typeface="Barlow"/>
                <a:cs typeface="Barlow"/>
                <a:sym typeface="Barlow"/>
              </a:rPr>
              <a:t>The work in this field started soon after the end of World War II, and the term itself was coined in 1956. </a:t>
            </a:r>
          </a:p>
        </p:txBody>
      </p:sp>
      <p:sp>
        <p:nvSpPr>
          <p:cNvPr id="5" name="TextBox 5"/>
          <p:cNvSpPr txBox="1"/>
          <p:nvPr/>
        </p:nvSpPr>
        <p:spPr>
          <a:xfrm>
            <a:off x="1288808" y="4768677"/>
            <a:ext cx="3121882" cy="1705595"/>
          </a:xfrm>
          <a:prstGeom prst="rect">
            <a:avLst/>
          </a:prstGeom>
        </p:spPr>
        <p:txBody>
          <a:bodyPr lIns="0" tIns="0" rIns="0" bIns="0" rtlCol="0" anchor="t">
            <a:spAutoFit/>
          </a:bodyPr>
          <a:lstStyle/>
          <a:p>
            <a:pPr algn="ctr">
              <a:lnSpc>
                <a:spcPts val="1866"/>
              </a:lnSpc>
              <a:spcBef>
                <a:spcPct val="0"/>
              </a:spcBef>
            </a:pPr>
            <a:endParaRPr sz="1067" dirty="0"/>
          </a:p>
          <a:p>
            <a:pPr algn="ctr">
              <a:lnSpc>
                <a:spcPts val="1866"/>
              </a:lnSpc>
              <a:spcBef>
                <a:spcPct val="0"/>
              </a:spcBef>
            </a:pPr>
            <a:r>
              <a:rPr lang="en-US" sz="1333" b="1" dirty="0">
                <a:solidFill>
                  <a:srgbClr val="000000"/>
                </a:solidFill>
                <a:ea typeface="Barlow Bold"/>
                <a:cs typeface="Barlow Bold"/>
                <a:sym typeface="Barlow Bold"/>
              </a:rPr>
              <a:t>Different AI Types</a:t>
            </a:r>
            <a:r>
              <a:rPr lang="en-US" sz="1333" dirty="0">
                <a:solidFill>
                  <a:srgbClr val="000000"/>
                </a:solidFill>
                <a:ea typeface="Barlow"/>
                <a:cs typeface="Barlow"/>
                <a:sym typeface="Barlow"/>
              </a:rPr>
              <a:t>: </a:t>
            </a:r>
          </a:p>
          <a:p>
            <a:pPr algn="ctr">
              <a:lnSpc>
                <a:spcPts val="1866"/>
              </a:lnSpc>
              <a:spcBef>
                <a:spcPct val="0"/>
              </a:spcBef>
            </a:pPr>
            <a:r>
              <a:rPr lang="en-US" sz="1333" dirty="0">
                <a:solidFill>
                  <a:srgbClr val="000000"/>
                </a:solidFill>
                <a:ea typeface="Barlow"/>
                <a:cs typeface="Barlow"/>
                <a:sym typeface="Barlow"/>
              </a:rPr>
              <a:t>AI can be categorized into various types, from narrow AI designed for one specific task (self-driving cars, writing poetry,  medical diagnostics) to more general AI that can handle a wide range of tasks.</a:t>
            </a:r>
          </a:p>
        </p:txBody>
      </p:sp>
      <p:sp>
        <p:nvSpPr>
          <p:cNvPr id="6" name="AutoShape 6"/>
          <p:cNvSpPr/>
          <p:nvPr/>
        </p:nvSpPr>
        <p:spPr>
          <a:xfrm flipV="1">
            <a:off x="7346919" y="1843967"/>
            <a:ext cx="837113" cy="736367"/>
          </a:xfrm>
          <a:prstGeom prst="line">
            <a:avLst/>
          </a:prstGeom>
          <a:ln w="66675" cap="flat">
            <a:solidFill>
              <a:srgbClr val="6414AB"/>
            </a:solidFill>
            <a:prstDash val="solid"/>
            <a:headEnd type="none" w="sm" len="sm"/>
            <a:tailEnd type="none" w="sm" len="sm"/>
          </a:ln>
        </p:spPr>
      </p:sp>
      <p:sp>
        <p:nvSpPr>
          <p:cNvPr id="7" name="TextBox 7"/>
          <p:cNvSpPr txBox="1"/>
          <p:nvPr/>
        </p:nvSpPr>
        <p:spPr>
          <a:xfrm>
            <a:off x="6203749" y="5200419"/>
            <a:ext cx="2852564" cy="1218282"/>
          </a:xfrm>
          <a:prstGeom prst="rect">
            <a:avLst/>
          </a:prstGeom>
        </p:spPr>
        <p:txBody>
          <a:bodyPr wrap="square" lIns="0" tIns="0" rIns="0" bIns="0" rtlCol="0" anchor="t">
            <a:spAutoFit/>
          </a:bodyPr>
          <a:lstStyle/>
          <a:p>
            <a:pPr algn="ctr">
              <a:lnSpc>
                <a:spcPts val="1866"/>
              </a:lnSpc>
              <a:spcBef>
                <a:spcPct val="0"/>
              </a:spcBef>
            </a:pPr>
            <a:r>
              <a:rPr lang="en-US" sz="1333" b="1" dirty="0">
                <a:solidFill>
                  <a:srgbClr val="000000"/>
                </a:solidFill>
                <a:ea typeface="Barlow Bold"/>
                <a:cs typeface="Barlow Bold"/>
                <a:sym typeface="Barlow Bold"/>
              </a:rPr>
              <a:t>Learning and Reasoning</a:t>
            </a:r>
            <a:r>
              <a:rPr lang="en-US" sz="1333" dirty="0">
                <a:solidFill>
                  <a:srgbClr val="000000"/>
                </a:solidFill>
                <a:ea typeface="Barlow"/>
                <a:cs typeface="Barlow"/>
                <a:sym typeface="Barlow"/>
              </a:rPr>
              <a:t>: </a:t>
            </a:r>
          </a:p>
          <a:p>
            <a:pPr algn="ctr">
              <a:lnSpc>
                <a:spcPts val="1866"/>
              </a:lnSpc>
              <a:spcBef>
                <a:spcPct val="0"/>
              </a:spcBef>
            </a:pPr>
            <a:r>
              <a:rPr lang="en-US" sz="1333" dirty="0">
                <a:solidFill>
                  <a:srgbClr val="000000"/>
                </a:solidFill>
                <a:ea typeface="Barlow"/>
                <a:cs typeface="Barlow"/>
                <a:sym typeface="Barlow"/>
              </a:rPr>
              <a:t>It involves giving machines the ability to learn from data, reason, and make decisions without being explicitly programmed for every scenario.</a:t>
            </a:r>
          </a:p>
        </p:txBody>
      </p:sp>
      <p:sp>
        <p:nvSpPr>
          <p:cNvPr id="8" name="AutoShape 8"/>
          <p:cNvSpPr/>
          <p:nvPr/>
        </p:nvSpPr>
        <p:spPr>
          <a:xfrm>
            <a:off x="7519093" y="3939046"/>
            <a:ext cx="1537220" cy="0"/>
          </a:xfrm>
          <a:prstGeom prst="line">
            <a:avLst/>
          </a:prstGeom>
          <a:ln w="66675" cap="flat">
            <a:solidFill>
              <a:srgbClr val="6414AB"/>
            </a:solidFill>
            <a:prstDash val="solid"/>
            <a:headEnd type="none" w="sm" len="sm"/>
            <a:tailEnd type="none" w="sm" len="sm"/>
          </a:ln>
        </p:spPr>
      </p:sp>
      <p:sp>
        <p:nvSpPr>
          <p:cNvPr id="9" name="AutoShape 9"/>
          <p:cNvSpPr/>
          <p:nvPr/>
        </p:nvSpPr>
        <p:spPr>
          <a:xfrm>
            <a:off x="7184137" y="4327635"/>
            <a:ext cx="203795" cy="910881"/>
          </a:xfrm>
          <a:prstGeom prst="line">
            <a:avLst/>
          </a:prstGeom>
          <a:ln w="66675" cap="flat">
            <a:solidFill>
              <a:srgbClr val="6414AB"/>
            </a:solidFill>
            <a:prstDash val="solid"/>
            <a:headEnd type="none" w="sm" len="sm"/>
            <a:tailEnd type="none" w="sm" len="sm"/>
          </a:ln>
        </p:spPr>
      </p:sp>
      <p:sp>
        <p:nvSpPr>
          <p:cNvPr id="10" name="TextBox 10"/>
          <p:cNvSpPr txBox="1"/>
          <p:nvPr/>
        </p:nvSpPr>
        <p:spPr>
          <a:xfrm>
            <a:off x="686505" y="1919470"/>
            <a:ext cx="2789720" cy="1705595"/>
          </a:xfrm>
          <a:prstGeom prst="rect">
            <a:avLst/>
          </a:prstGeom>
        </p:spPr>
        <p:txBody>
          <a:bodyPr lIns="0" tIns="0" rIns="0" bIns="0" rtlCol="0" anchor="t">
            <a:spAutoFit/>
          </a:bodyPr>
          <a:lstStyle/>
          <a:p>
            <a:pPr algn="ctr">
              <a:lnSpc>
                <a:spcPts val="1866"/>
              </a:lnSpc>
              <a:spcBef>
                <a:spcPct val="0"/>
              </a:spcBef>
            </a:pPr>
            <a:r>
              <a:rPr lang="en-US" sz="1333" b="1" dirty="0">
                <a:solidFill>
                  <a:srgbClr val="000000"/>
                </a:solidFill>
                <a:ea typeface="Barlow Bold"/>
                <a:cs typeface="Barlow Bold"/>
                <a:sym typeface="Barlow Bold"/>
              </a:rPr>
              <a:t>Inspired by the human brain</a:t>
            </a:r>
            <a:r>
              <a:rPr lang="en-US" sz="1333" dirty="0">
                <a:solidFill>
                  <a:srgbClr val="000000"/>
                </a:solidFill>
                <a:ea typeface="Barlow"/>
                <a:cs typeface="Barlow"/>
                <a:sym typeface="Barlow"/>
              </a:rPr>
              <a:t>:</a:t>
            </a:r>
          </a:p>
          <a:p>
            <a:pPr algn="ctr">
              <a:lnSpc>
                <a:spcPts val="1866"/>
              </a:lnSpc>
              <a:spcBef>
                <a:spcPct val="0"/>
              </a:spcBef>
            </a:pPr>
            <a:r>
              <a:rPr lang="en-US" sz="1333" dirty="0">
                <a:solidFill>
                  <a:srgbClr val="000000"/>
                </a:solidFill>
                <a:ea typeface="Barlow"/>
                <a:cs typeface="Barlow"/>
                <a:sym typeface="Barlow"/>
              </a:rPr>
              <a:t>Current SOTA models are neural networks, which are a very simplified, mathematical model of how our brains work. They contain a vast network of interconnected neurons, which share numerical signals like synapses.</a:t>
            </a:r>
          </a:p>
        </p:txBody>
      </p:sp>
      <p:sp>
        <p:nvSpPr>
          <p:cNvPr id="11" name="AutoShape 11"/>
          <p:cNvSpPr/>
          <p:nvPr/>
        </p:nvSpPr>
        <p:spPr>
          <a:xfrm flipH="1">
            <a:off x="3698084" y="4103282"/>
            <a:ext cx="1651963" cy="948940"/>
          </a:xfrm>
          <a:prstGeom prst="line">
            <a:avLst/>
          </a:prstGeom>
          <a:ln w="66675" cap="flat">
            <a:solidFill>
              <a:srgbClr val="6414AB"/>
            </a:solidFill>
            <a:prstDash val="solid"/>
            <a:headEnd type="none" w="sm" len="sm"/>
            <a:tailEnd type="none" w="sm" len="sm"/>
          </a:ln>
        </p:spPr>
      </p:sp>
      <p:sp>
        <p:nvSpPr>
          <p:cNvPr id="12" name="AutoShape 12"/>
          <p:cNvSpPr/>
          <p:nvPr/>
        </p:nvSpPr>
        <p:spPr>
          <a:xfrm flipH="1" flipV="1">
            <a:off x="3566990" y="2924195"/>
            <a:ext cx="843700" cy="365056"/>
          </a:xfrm>
          <a:prstGeom prst="line">
            <a:avLst/>
          </a:prstGeom>
          <a:ln w="66675" cap="flat">
            <a:solidFill>
              <a:srgbClr val="6414AB"/>
            </a:solidFill>
            <a:prstDash val="solid"/>
            <a:headEnd type="none" w="sm" len="sm"/>
            <a:tailEnd type="none" w="sm" len="sm"/>
          </a:ln>
        </p:spPr>
      </p:sp>
      <p:sp>
        <p:nvSpPr>
          <p:cNvPr id="13" name="TextBox 13"/>
          <p:cNvSpPr txBox="1"/>
          <p:nvPr/>
        </p:nvSpPr>
        <p:spPr>
          <a:xfrm>
            <a:off x="9056314" y="3330584"/>
            <a:ext cx="2509695" cy="1218282"/>
          </a:xfrm>
          <a:prstGeom prst="rect">
            <a:avLst/>
          </a:prstGeom>
        </p:spPr>
        <p:txBody>
          <a:bodyPr lIns="0" tIns="0" rIns="0" bIns="0" rtlCol="0" anchor="t">
            <a:spAutoFit/>
          </a:bodyPr>
          <a:lstStyle/>
          <a:p>
            <a:pPr algn="ctr">
              <a:lnSpc>
                <a:spcPts val="1866"/>
              </a:lnSpc>
              <a:spcBef>
                <a:spcPct val="0"/>
              </a:spcBef>
            </a:pPr>
            <a:r>
              <a:rPr lang="en-US" sz="1333" b="1" dirty="0">
                <a:solidFill>
                  <a:srgbClr val="000000"/>
                </a:solidFill>
                <a:ea typeface="Barlow Bold"/>
                <a:cs typeface="Barlow Bold"/>
                <a:sym typeface="Barlow Bold"/>
              </a:rPr>
              <a:t>Mimicking Human Intelligence</a:t>
            </a:r>
            <a:r>
              <a:rPr lang="en-US" sz="1333" dirty="0">
                <a:solidFill>
                  <a:srgbClr val="000000"/>
                </a:solidFill>
                <a:ea typeface="Barlow"/>
                <a:cs typeface="Barlow"/>
                <a:sym typeface="Barlow"/>
              </a:rPr>
              <a:t>: </a:t>
            </a:r>
          </a:p>
          <a:p>
            <a:pPr algn="ctr">
              <a:lnSpc>
                <a:spcPts val="1866"/>
              </a:lnSpc>
              <a:spcBef>
                <a:spcPct val="0"/>
              </a:spcBef>
            </a:pPr>
            <a:r>
              <a:rPr lang="en-US" sz="1333" dirty="0">
                <a:solidFill>
                  <a:srgbClr val="000000"/>
                </a:solidFill>
                <a:ea typeface="Barlow"/>
                <a:cs typeface="Barlow"/>
                <a:sym typeface="Barlow"/>
              </a:rPr>
              <a:t>AI is a field of computer science dedicated to creating systems that can perform tasks normally requiring human intelligence.</a:t>
            </a:r>
          </a:p>
        </p:txBody>
      </p:sp>
    </p:spTree>
    <p:extLst>
      <p:ext uri="{BB962C8B-B14F-4D97-AF65-F5344CB8AC3E}">
        <p14:creationId xmlns:p14="http://schemas.microsoft.com/office/powerpoint/2010/main" val="3894129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86504" y="1509913"/>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1282457" y="338723"/>
            <a:ext cx="9627088" cy="820738"/>
          </a:xfrm>
          <a:prstGeom prst="rect">
            <a:avLst/>
          </a:prstGeom>
        </p:spPr>
        <p:txBody>
          <a:bodyPr lIns="0" tIns="0" rIns="0" bIns="0" rtlCol="0" anchor="t">
            <a:spAutoFit/>
          </a:bodyPr>
          <a:lstStyle/>
          <a:p>
            <a:pPr algn="ctr">
              <a:lnSpc>
                <a:spcPts val="6399"/>
              </a:lnSpc>
              <a:spcBef>
                <a:spcPct val="0"/>
              </a:spcBef>
            </a:pPr>
            <a:r>
              <a:rPr lang="en-US" sz="5333" b="1" dirty="0">
                <a:solidFill>
                  <a:srgbClr val="000000"/>
                </a:solidFill>
                <a:ea typeface="Canva Sans 1 Bold"/>
                <a:cs typeface="Canva Sans 1 Bold"/>
                <a:sym typeface="Canva Sans 1 Bold"/>
              </a:rPr>
              <a:t>Historical moments for AI</a:t>
            </a:r>
          </a:p>
        </p:txBody>
      </p:sp>
      <p:sp>
        <p:nvSpPr>
          <p:cNvPr id="4" name="Freeform 4"/>
          <p:cNvSpPr/>
          <p:nvPr/>
        </p:nvSpPr>
        <p:spPr>
          <a:xfrm>
            <a:off x="2633481" y="1509913"/>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4579539" y="1509913"/>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6525597" y="1509913"/>
            <a:ext cx="1101618" cy="645823"/>
          </a:xfrm>
          <a:custGeom>
            <a:avLst/>
            <a:gdLst/>
            <a:ahLst/>
            <a:cxnLst/>
            <a:rect l="l" t="t" r="r" b="b"/>
            <a:pathLst>
              <a:path w="1652642" h="968861">
                <a:moveTo>
                  <a:pt x="0" y="0"/>
                </a:moveTo>
                <a:lnTo>
                  <a:pt x="1652641" y="0"/>
                </a:lnTo>
                <a:lnTo>
                  <a:pt x="1652641" y="968861"/>
                </a:lnTo>
                <a:lnTo>
                  <a:pt x="0" y="9688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a:off x="8471654" y="1509913"/>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8" name="Freeform 8"/>
          <p:cNvSpPr/>
          <p:nvPr/>
        </p:nvSpPr>
        <p:spPr>
          <a:xfrm>
            <a:off x="10417712" y="1509913"/>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686504" y="3463999"/>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p:cNvSpPr/>
          <p:nvPr/>
        </p:nvSpPr>
        <p:spPr>
          <a:xfrm>
            <a:off x="2633481" y="3463999"/>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1" name="Freeform 11"/>
          <p:cNvSpPr/>
          <p:nvPr/>
        </p:nvSpPr>
        <p:spPr>
          <a:xfrm>
            <a:off x="4579539" y="3463999"/>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2" name="Freeform 12"/>
          <p:cNvSpPr/>
          <p:nvPr/>
        </p:nvSpPr>
        <p:spPr>
          <a:xfrm>
            <a:off x="6525597" y="3463999"/>
            <a:ext cx="1101618" cy="645823"/>
          </a:xfrm>
          <a:custGeom>
            <a:avLst/>
            <a:gdLst/>
            <a:ahLst/>
            <a:cxnLst/>
            <a:rect l="l" t="t" r="r" b="b"/>
            <a:pathLst>
              <a:path w="1652642" h="968861">
                <a:moveTo>
                  <a:pt x="0" y="0"/>
                </a:moveTo>
                <a:lnTo>
                  <a:pt x="1652641" y="0"/>
                </a:lnTo>
                <a:lnTo>
                  <a:pt x="1652641" y="968861"/>
                </a:lnTo>
                <a:lnTo>
                  <a:pt x="0" y="9688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3" name="Freeform 13"/>
          <p:cNvSpPr/>
          <p:nvPr/>
        </p:nvSpPr>
        <p:spPr>
          <a:xfrm>
            <a:off x="8471654" y="3463999"/>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4" name="Freeform 14"/>
          <p:cNvSpPr/>
          <p:nvPr/>
        </p:nvSpPr>
        <p:spPr>
          <a:xfrm>
            <a:off x="10417712" y="3463999"/>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5" name="Freeform 15"/>
          <p:cNvSpPr/>
          <p:nvPr/>
        </p:nvSpPr>
        <p:spPr>
          <a:xfrm>
            <a:off x="686504" y="5418085"/>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6" name="Freeform 16"/>
          <p:cNvSpPr/>
          <p:nvPr/>
        </p:nvSpPr>
        <p:spPr>
          <a:xfrm>
            <a:off x="2633481" y="5418085"/>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7" name="Freeform 17"/>
          <p:cNvSpPr/>
          <p:nvPr/>
        </p:nvSpPr>
        <p:spPr>
          <a:xfrm>
            <a:off x="4579539" y="5418085"/>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8" name="Freeform 18"/>
          <p:cNvSpPr/>
          <p:nvPr/>
        </p:nvSpPr>
        <p:spPr>
          <a:xfrm>
            <a:off x="6525597" y="5418085"/>
            <a:ext cx="1101618" cy="645823"/>
          </a:xfrm>
          <a:custGeom>
            <a:avLst/>
            <a:gdLst/>
            <a:ahLst/>
            <a:cxnLst/>
            <a:rect l="l" t="t" r="r" b="b"/>
            <a:pathLst>
              <a:path w="1652642" h="968861">
                <a:moveTo>
                  <a:pt x="0" y="0"/>
                </a:moveTo>
                <a:lnTo>
                  <a:pt x="1652641" y="0"/>
                </a:lnTo>
                <a:lnTo>
                  <a:pt x="1652641" y="968861"/>
                </a:lnTo>
                <a:lnTo>
                  <a:pt x="0" y="9688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9" name="Freeform 19"/>
          <p:cNvSpPr/>
          <p:nvPr/>
        </p:nvSpPr>
        <p:spPr>
          <a:xfrm>
            <a:off x="8471654" y="5418085"/>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0" name="Freeform 20"/>
          <p:cNvSpPr/>
          <p:nvPr/>
        </p:nvSpPr>
        <p:spPr>
          <a:xfrm>
            <a:off x="10417712" y="5418085"/>
            <a:ext cx="1101618" cy="645823"/>
          </a:xfrm>
          <a:custGeom>
            <a:avLst/>
            <a:gdLst/>
            <a:ahLst/>
            <a:cxnLst/>
            <a:rect l="l" t="t" r="r" b="b"/>
            <a:pathLst>
              <a:path w="1652642" h="968861">
                <a:moveTo>
                  <a:pt x="0" y="0"/>
                </a:moveTo>
                <a:lnTo>
                  <a:pt x="1652642" y="0"/>
                </a:lnTo>
                <a:lnTo>
                  <a:pt x="1652642" y="968861"/>
                </a:lnTo>
                <a:lnTo>
                  <a:pt x="0" y="9688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1" name="AutoShape 21"/>
          <p:cNvSpPr/>
          <p:nvPr/>
        </p:nvSpPr>
        <p:spPr>
          <a:xfrm>
            <a:off x="1788123" y="1832823"/>
            <a:ext cx="848583" cy="0"/>
          </a:xfrm>
          <a:prstGeom prst="line">
            <a:avLst/>
          </a:prstGeom>
          <a:ln w="38100" cap="flat">
            <a:solidFill>
              <a:srgbClr val="6414AB"/>
            </a:solidFill>
            <a:prstDash val="solid"/>
            <a:headEnd type="none" w="sm" len="sm"/>
            <a:tailEnd type="arrow" w="med" len="sm"/>
          </a:ln>
        </p:spPr>
      </p:sp>
      <p:sp>
        <p:nvSpPr>
          <p:cNvPr id="22" name="AutoShape 22"/>
          <p:cNvSpPr/>
          <p:nvPr/>
        </p:nvSpPr>
        <p:spPr>
          <a:xfrm>
            <a:off x="3735100" y="1832823"/>
            <a:ext cx="848583" cy="0"/>
          </a:xfrm>
          <a:prstGeom prst="line">
            <a:avLst/>
          </a:prstGeom>
          <a:ln w="38100" cap="flat">
            <a:solidFill>
              <a:srgbClr val="6414AB"/>
            </a:solidFill>
            <a:prstDash val="solid"/>
            <a:headEnd type="none" w="sm" len="sm"/>
            <a:tailEnd type="arrow" w="med" len="sm"/>
          </a:ln>
        </p:spPr>
      </p:sp>
      <p:sp>
        <p:nvSpPr>
          <p:cNvPr id="23" name="AutoShape 23"/>
          <p:cNvSpPr/>
          <p:nvPr/>
        </p:nvSpPr>
        <p:spPr>
          <a:xfrm>
            <a:off x="5681158" y="1832823"/>
            <a:ext cx="848583" cy="0"/>
          </a:xfrm>
          <a:prstGeom prst="line">
            <a:avLst/>
          </a:prstGeom>
          <a:ln w="38100" cap="flat">
            <a:solidFill>
              <a:srgbClr val="6414AB"/>
            </a:solidFill>
            <a:prstDash val="solid"/>
            <a:headEnd type="none" w="sm" len="sm"/>
            <a:tailEnd type="arrow" w="med" len="sm"/>
          </a:ln>
        </p:spPr>
      </p:sp>
      <p:sp>
        <p:nvSpPr>
          <p:cNvPr id="24" name="AutoShape 24"/>
          <p:cNvSpPr/>
          <p:nvPr/>
        </p:nvSpPr>
        <p:spPr>
          <a:xfrm>
            <a:off x="7627215" y="1845522"/>
            <a:ext cx="848583" cy="0"/>
          </a:xfrm>
          <a:prstGeom prst="line">
            <a:avLst/>
          </a:prstGeom>
          <a:ln w="38100" cap="flat">
            <a:solidFill>
              <a:srgbClr val="6414AB"/>
            </a:solidFill>
            <a:prstDash val="solid"/>
            <a:headEnd type="none" w="sm" len="sm"/>
            <a:tailEnd type="arrow" w="med" len="sm"/>
          </a:ln>
        </p:spPr>
      </p:sp>
      <p:sp>
        <p:nvSpPr>
          <p:cNvPr id="25" name="AutoShape 25"/>
          <p:cNvSpPr/>
          <p:nvPr/>
        </p:nvSpPr>
        <p:spPr>
          <a:xfrm>
            <a:off x="9573273" y="1845522"/>
            <a:ext cx="848583" cy="0"/>
          </a:xfrm>
          <a:prstGeom prst="line">
            <a:avLst/>
          </a:prstGeom>
          <a:ln w="38100" cap="flat">
            <a:solidFill>
              <a:srgbClr val="6414AB"/>
            </a:solidFill>
            <a:prstDash val="solid"/>
            <a:headEnd type="none" w="sm" len="sm"/>
            <a:tailEnd type="arrow" w="med" len="sm"/>
          </a:ln>
        </p:spPr>
      </p:sp>
      <p:sp>
        <p:nvSpPr>
          <p:cNvPr id="26" name="AutoShape 26"/>
          <p:cNvSpPr/>
          <p:nvPr/>
        </p:nvSpPr>
        <p:spPr>
          <a:xfrm>
            <a:off x="1784899" y="5740995"/>
            <a:ext cx="848583" cy="0"/>
          </a:xfrm>
          <a:prstGeom prst="line">
            <a:avLst/>
          </a:prstGeom>
          <a:ln w="38100" cap="flat">
            <a:solidFill>
              <a:srgbClr val="6414AB"/>
            </a:solidFill>
            <a:prstDash val="solid"/>
            <a:headEnd type="none" w="sm" len="sm"/>
            <a:tailEnd type="arrow" w="med" len="sm"/>
          </a:ln>
        </p:spPr>
      </p:sp>
      <p:sp>
        <p:nvSpPr>
          <p:cNvPr id="27" name="AutoShape 27"/>
          <p:cNvSpPr/>
          <p:nvPr/>
        </p:nvSpPr>
        <p:spPr>
          <a:xfrm>
            <a:off x="3735100" y="5753693"/>
            <a:ext cx="848583" cy="0"/>
          </a:xfrm>
          <a:prstGeom prst="line">
            <a:avLst/>
          </a:prstGeom>
          <a:ln w="38100" cap="flat">
            <a:solidFill>
              <a:srgbClr val="6414AB"/>
            </a:solidFill>
            <a:prstDash val="solid"/>
            <a:headEnd type="none" w="sm" len="sm"/>
            <a:tailEnd type="arrow" w="med" len="sm"/>
          </a:ln>
        </p:spPr>
      </p:sp>
      <p:sp>
        <p:nvSpPr>
          <p:cNvPr id="28" name="AutoShape 28"/>
          <p:cNvSpPr/>
          <p:nvPr/>
        </p:nvSpPr>
        <p:spPr>
          <a:xfrm>
            <a:off x="5681158" y="5740995"/>
            <a:ext cx="848583" cy="0"/>
          </a:xfrm>
          <a:prstGeom prst="line">
            <a:avLst/>
          </a:prstGeom>
          <a:ln w="38100" cap="flat">
            <a:solidFill>
              <a:srgbClr val="6414AB"/>
            </a:solidFill>
            <a:prstDash val="solid"/>
            <a:headEnd type="none" w="sm" len="sm"/>
            <a:tailEnd type="arrow" w="med" len="sm"/>
          </a:ln>
        </p:spPr>
      </p:sp>
      <p:sp>
        <p:nvSpPr>
          <p:cNvPr id="29" name="AutoShape 29"/>
          <p:cNvSpPr/>
          <p:nvPr/>
        </p:nvSpPr>
        <p:spPr>
          <a:xfrm>
            <a:off x="7627215" y="5740995"/>
            <a:ext cx="848583" cy="0"/>
          </a:xfrm>
          <a:prstGeom prst="line">
            <a:avLst/>
          </a:prstGeom>
          <a:ln w="38100" cap="flat">
            <a:solidFill>
              <a:srgbClr val="6414AB"/>
            </a:solidFill>
            <a:prstDash val="solid"/>
            <a:headEnd type="none" w="sm" len="sm"/>
            <a:tailEnd type="arrow" w="med" len="sm"/>
          </a:ln>
        </p:spPr>
      </p:sp>
      <p:sp>
        <p:nvSpPr>
          <p:cNvPr id="30" name="AutoShape 30"/>
          <p:cNvSpPr/>
          <p:nvPr/>
        </p:nvSpPr>
        <p:spPr>
          <a:xfrm>
            <a:off x="9573273" y="5728297"/>
            <a:ext cx="848583" cy="0"/>
          </a:xfrm>
          <a:prstGeom prst="line">
            <a:avLst/>
          </a:prstGeom>
          <a:ln w="38100" cap="flat">
            <a:solidFill>
              <a:srgbClr val="6414AB"/>
            </a:solidFill>
            <a:prstDash val="solid"/>
            <a:headEnd type="none" w="sm" len="sm"/>
            <a:tailEnd type="arrow" w="med" len="sm"/>
          </a:ln>
        </p:spPr>
      </p:sp>
      <p:sp>
        <p:nvSpPr>
          <p:cNvPr id="31" name="AutoShape 31"/>
          <p:cNvSpPr/>
          <p:nvPr/>
        </p:nvSpPr>
        <p:spPr>
          <a:xfrm flipH="1">
            <a:off x="9569130" y="3786909"/>
            <a:ext cx="848583" cy="0"/>
          </a:xfrm>
          <a:prstGeom prst="line">
            <a:avLst/>
          </a:prstGeom>
          <a:ln w="38100" cap="flat">
            <a:solidFill>
              <a:srgbClr val="6414AB"/>
            </a:solidFill>
            <a:prstDash val="solid"/>
            <a:headEnd type="none" w="sm" len="sm"/>
            <a:tailEnd type="arrow" w="med" len="sm"/>
          </a:ln>
        </p:spPr>
      </p:sp>
      <p:sp>
        <p:nvSpPr>
          <p:cNvPr id="32" name="AutoShape 32"/>
          <p:cNvSpPr/>
          <p:nvPr/>
        </p:nvSpPr>
        <p:spPr>
          <a:xfrm flipH="1">
            <a:off x="7623072" y="3786909"/>
            <a:ext cx="848583" cy="0"/>
          </a:xfrm>
          <a:prstGeom prst="line">
            <a:avLst/>
          </a:prstGeom>
          <a:ln w="38100" cap="flat">
            <a:solidFill>
              <a:srgbClr val="6414AB"/>
            </a:solidFill>
            <a:prstDash val="solid"/>
            <a:headEnd type="none" w="sm" len="sm"/>
            <a:tailEnd type="arrow" w="med" len="sm"/>
          </a:ln>
        </p:spPr>
      </p:sp>
      <p:sp>
        <p:nvSpPr>
          <p:cNvPr id="33" name="AutoShape 33"/>
          <p:cNvSpPr/>
          <p:nvPr/>
        </p:nvSpPr>
        <p:spPr>
          <a:xfrm flipH="1">
            <a:off x="5681158" y="3786909"/>
            <a:ext cx="848583" cy="0"/>
          </a:xfrm>
          <a:prstGeom prst="line">
            <a:avLst/>
          </a:prstGeom>
          <a:ln w="38100" cap="flat">
            <a:solidFill>
              <a:srgbClr val="6414AB"/>
            </a:solidFill>
            <a:prstDash val="solid"/>
            <a:headEnd type="none" w="sm" len="sm"/>
            <a:tailEnd type="arrow" w="med" len="sm"/>
          </a:ln>
        </p:spPr>
      </p:sp>
      <p:sp>
        <p:nvSpPr>
          <p:cNvPr id="34" name="AutoShape 34"/>
          <p:cNvSpPr/>
          <p:nvPr/>
        </p:nvSpPr>
        <p:spPr>
          <a:xfrm flipH="1">
            <a:off x="3740516" y="3786909"/>
            <a:ext cx="848583" cy="0"/>
          </a:xfrm>
          <a:prstGeom prst="line">
            <a:avLst/>
          </a:prstGeom>
          <a:ln w="38100" cap="flat">
            <a:solidFill>
              <a:srgbClr val="6414AB"/>
            </a:solidFill>
            <a:prstDash val="solid"/>
            <a:headEnd type="none" w="sm" len="sm"/>
            <a:tailEnd type="arrow" w="med" len="sm"/>
          </a:ln>
        </p:spPr>
      </p:sp>
      <p:sp>
        <p:nvSpPr>
          <p:cNvPr id="35" name="AutoShape 35"/>
          <p:cNvSpPr/>
          <p:nvPr/>
        </p:nvSpPr>
        <p:spPr>
          <a:xfrm flipH="1">
            <a:off x="1788123" y="3786909"/>
            <a:ext cx="848583" cy="0"/>
          </a:xfrm>
          <a:prstGeom prst="line">
            <a:avLst/>
          </a:prstGeom>
          <a:ln w="38100" cap="flat">
            <a:solidFill>
              <a:srgbClr val="6414AB"/>
            </a:solidFill>
            <a:prstDash val="solid"/>
            <a:headEnd type="none" w="sm" len="sm"/>
            <a:tailEnd type="arrow" w="med" len="sm"/>
          </a:ln>
        </p:spPr>
      </p:sp>
      <p:sp>
        <p:nvSpPr>
          <p:cNvPr id="36" name="AutoShape 36"/>
          <p:cNvSpPr/>
          <p:nvPr/>
        </p:nvSpPr>
        <p:spPr>
          <a:xfrm>
            <a:off x="10981219" y="2615416"/>
            <a:ext cx="0" cy="848583"/>
          </a:xfrm>
          <a:prstGeom prst="line">
            <a:avLst/>
          </a:prstGeom>
          <a:ln w="38100" cap="flat">
            <a:solidFill>
              <a:srgbClr val="6414AB"/>
            </a:solidFill>
            <a:prstDash val="solid"/>
            <a:headEnd type="none" w="sm" len="sm"/>
            <a:tailEnd type="arrow" w="med" len="sm"/>
          </a:ln>
        </p:spPr>
      </p:sp>
      <p:sp>
        <p:nvSpPr>
          <p:cNvPr id="37" name="AutoShape 37"/>
          <p:cNvSpPr/>
          <p:nvPr/>
        </p:nvSpPr>
        <p:spPr>
          <a:xfrm>
            <a:off x="1237313" y="4569501"/>
            <a:ext cx="0" cy="848583"/>
          </a:xfrm>
          <a:prstGeom prst="line">
            <a:avLst/>
          </a:prstGeom>
          <a:ln w="38100" cap="flat">
            <a:solidFill>
              <a:srgbClr val="6414AB"/>
            </a:solidFill>
            <a:prstDash val="solid"/>
            <a:headEnd type="none" w="sm" len="sm"/>
            <a:tailEnd type="arrow" w="med" len="sm"/>
          </a:ln>
        </p:spPr>
      </p:sp>
      <p:sp>
        <p:nvSpPr>
          <p:cNvPr id="38" name="TextBox 38"/>
          <p:cNvSpPr txBox="1"/>
          <p:nvPr/>
        </p:nvSpPr>
        <p:spPr>
          <a:xfrm>
            <a:off x="926123" y="1617164"/>
            <a:ext cx="703270" cy="410369"/>
          </a:xfrm>
          <a:prstGeom prst="rect">
            <a:avLst/>
          </a:prstGeom>
        </p:spPr>
        <p:txBody>
          <a:bodyPr lIns="0" tIns="0" rIns="0" bIns="0" rtlCol="0" anchor="t">
            <a:spAutoFit/>
          </a:bodyPr>
          <a:lstStyle/>
          <a:p>
            <a:pPr algn="ctr">
              <a:lnSpc>
                <a:spcPts val="3173"/>
              </a:lnSpc>
            </a:pPr>
            <a:r>
              <a:rPr lang="en-US" sz="2133" dirty="0">
                <a:solidFill>
                  <a:srgbClr val="000000"/>
                </a:solidFill>
                <a:ea typeface="Canva Sans 1"/>
                <a:cs typeface="Canva Sans 1"/>
                <a:sym typeface="Canva Sans 1"/>
              </a:rPr>
              <a:t>1950</a:t>
            </a:r>
          </a:p>
        </p:txBody>
      </p:sp>
      <p:sp>
        <p:nvSpPr>
          <p:cNvPr id="39" name="TextBox 39"/>
          <p:cNvSpPr txBox="1"/>
          <p:nvPr/>
        </p:nvSpPr>
        <p:spPr>
          <a:xfrm>
            <a:off x="4829773" y="1617164"/>
            <a:ext cx="686306" cy="410369"/>
          </a:xfrm>
          <a:prstGeom prst="rect">
            <a:avLst/>
          </a:prstGeom>
        </p:spPr>
        <p:txBody>
          <a:bodyPr lIns="0" tIns="0" rIns="0" bIns="0" rtlCol="0" anchor="t">
            <a:spAutoFit/>
          </a:bodyPr>
          <a:lstStyle/>
          <a:p>
            <a:pPr algn="ctr">
              <a:lnSpc>
                <a:spcPts val="3173"/>
              </a:lnSpc>
            </a:pPr>
            <a:r>
              <a:rPr lang="en-US" sz="2133" dirty="0">
                <a:solidFill>
                  <a:srgbClr val="000000"/>
                </a:solidFill>
                <a:ea typeface="Canva Sans 1"/>
                <a:cs typeface="Canva Sans 1"/>
                <a:sym typeface="Canva Sans 1"/>
              </a:rPr>
              <a:t>1965</a:t>
            </a:r>
          </a:p>
        </p:txBody>
      </p:sp>
      <p:sp>
        <p:nvSpPr>
          <p:cNvPr id="40" name="TextBox 40"/>
          <p:cNvSpPr txBox="1"/>
          <p:nvPr/>
        </p:nvSpPr>
        <p:spPr>
          <a:xfrm>
            <a:off x="2883715" y="1617164"/>
            <a:ext cx="686306" cy="410369"/>
          </a:xfrm>
          <a:prstGeom prst="rect">
            <a:avLst/>
          </a:prstGeom>
        </p:spPr>
        <p:txBody>
          <a:bodyPr lIns="0" tIns="0" rIns="0" bIns="0" rtlCol="0" anchor="t">
            <a:spAutoFit/>
          </a:bodyPr>
          <a:lstStyle/>
          <a:p>
            <a:pPr algn="ctr">
              <a:lnSpc>
                <a:spcPts val="3173"/>
              </a:lnSpc>
            </a:pPr>
            <a:r>
              <a:rPr lang="en-US" sz="2133" dirty="0">
                <a:solidFill>
                  <a:srgbClr val="000000"/>
                </a:solidFill>
                <a:ea typeface="Canva Sans 1"/>
                <a:cs typeface="Canva Sans 1"/>
                <a:sym typeface="Canva Sans 1"/>
              </a:rPr>
              <a:t>1956</a:t>
            </a:r>
          </a:p>
        </p:txBody>
      </p:sp>
      <p:sp>
        <p:nvSpPr>
          <p:cNvPr id="41" name="TextBox 41"/>
          <p:cNvSpPr txBox="1"/>
          <p:nvPr/>
        </p:nvSpPr>
        <p:spPr>
          <a:xfrm>
            <a:off x="10665853" y="1617164"/>
            <a:ext cx="690075"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1986</a:t>
            </a:r>
          </a:p>
        </p:txBody>
      </p:sp>
      <p:sp>
        <p:nvSpPr>
          <p:cNvPr id="42" name="TextBox 42"/>
          <p:cNvSpPr txBox="1"/>
          <p:nvPr/>
        </p:nvSpPr>
        <p:spPr>
          <a:xfrm>
            <a:off x="8637157" y="1617164"/>
            <a:ext cx="850393"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1980s</a:t>
            </a:r>
          </a:p>
        </p:txBody>
      </p:sp>
      <p:sp>
        <p:nvSpPr>
          <p:cNvPr id="43" name="TextBox 43"/>
          <p:cNvSpPr txBox="1"/>
          <p:nvPr/>
        </p:nvSpPr>
        <p:spPr>
          <a:xfrm>
            <a:off x="6767299" y="1617164"/>
            <a:ext cx="701187" cy="410369"/>
          </a:xfrm>
          <a:prstGeom prst="rect">
            <a:avLst/>
          </a:prstGeom>
        </p:spPr>
        <p:txBody>
          <a:bodyPr lIns="0" tIns="0" rIns="0" bIns="0" rtlCol="0" anchor="t">
            <a:spAutoFit/>
          </a:bodyPr>
          <a:lstStyle/>
          <a:p>
            <a:pPr algn="ctr">
              <a:lnSpc>
                <a:spcPts val="3173"/>
              </a:lnSpc>
            </a:pPr>
            <a:r>
              <a:rPr lang="en-US" sz="2133" dirty="0">
                <a:solidFill>
                  <a:srgbClr val="000000"/>
                </a:solidFill>
                <a:ea typeface="Canva Sans 1"/>
                <a:cs typeface="Canva Sans 1"/>
                <a:sym typeface="Canva Sans 1"/>
              </a:rPr>
              <a:t>1969</a:t>
            </a:r>
          </a:p>
        </p:txBody>
      </p:sp>
      <p:sp>
        <p:nvSpPr>
          <p:cNvPr id="44" name="TextBox 44"/>
          <p:cNvSpPr txBox="1"/>
          <p:nvPr/>
        </p:nvSpPr>
        <p:spPr>
          <a:xfrm>
            <a:off x="10685396" y="3571251"/>
            <a:ext cx="650989"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1997</a:t>
            </a:r>
          </a:p>
        </p:txBody>
      </p:sp>
      <p:sp>
        <p:nvSpPr>
          <p:cNvPr id="45" name="TextBox 45"/>
          <p:cNvSpPr txBox="1"/>
          <p:nvPr/>
        </p:nvSpPr>
        <p:spPr>
          <a:xfrm>
            <a:off x="8704369" y="3571251"/>
            <a:ext cx="689877"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1998</a:t>
            </a:r>
          </a:p>
        </p:txBody>
      </p:sp>
      <p:sp>
        <p:nvSpPr>
          <p:cNvPr id="46" name="TextBox 46"/>
          <p:cNvSpPr txBox="1"/>
          <p:nvPr/>
        </p:nvSpPr>
        <p:spPr>
          <a:xfrm>
            <a:off x="6778399" y="3571251"/>
            <a:ext cx="661108"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2011</a:t>
            </a:r>
          </a:p>
        </p:txBody>
      </p:sp>
      <p:sp>
        <p:nvSpPr>
          <p:cNvPr id="47" name="TextBox 47"/>
          <p:cNvSpPr txBox="1"/>
          <p:nvPr/>
        </p:nvSpPr>
        <p:spPr>
          <a:xfrm>
            <a:off x="4810923" y="3571251"/>
            <a:ext cx="661108"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2011</a:t>
            </a:r>
          </a:p>
        </p:txBody>
      </p:sp>
      <p:sp>
        <p:nvSpPr>
          <p:cNvPr id="48" name="TextBox 48"/>
          <p:cNvSpPr txBox="1"/>
          <p:nvPr/>
        </p:nvSpPr>
        <p:spPr>
          <a:xfrm>
            <a:off x="2880699" y="3571251"/>
            <a:ext cx="682040"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2014</a:t>
            </a:r>
          </a:p>
        </p:txBody>
      </p:sp>
      <p:sp>
        <p:nvSpPr>
          <p:cNvPr id="49" name="TextBox 49"/>
          <p:cNvSpPr txBox="1"/>
          <p:nvPr/>
        </p:nvSpPr>
        <p:spPr>
          <a:xfrm>
            <a:off x="909953" y="3571251"/>
            <a:ext cx="687695"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2016</a:t>
            </a:r>
          </a:p>
        </p:txBody>
      </p:sp>
      <p:sp>
        <p:nvSpPr>
          <p:cNvPr id="50" name="TextBox 50"/>
          <p:cNvSpPr txBox="1"/>
          <p:nvPr/>
        </p:nvSpPr>
        <p:spPr>
          <a:xfrm>
            <a:off x="10652509" y="5512638"/>
            <a:ext cx="682040"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2023</a:t>
            </a:r>
          </a:p>
        </p:txBody>
      </p:sp>
      <p:sp>
        <p:nvSpPr>
          <p:cNvPr id="51" name="TextBox 51"/>
          <p:cNvSpPr txBox="1"/>
          <p:nvPr/>
        </p:nvSpPr>
        <p:spPr>
          <a:xfrm>
            <a:off x="8704368" y="5512638"/>
            <a:ext cx="673012"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2022</a:t>
            </a:r>
          </a:p>
        </p:txBody>
      </p:sp>
      <p:sp>
        <p:nvSpPr>
          <p:cNvPr id="52" name="TextBox 52"/>
          <p:cNvSpPr txBox="1"/>
          <p:nvPr/>
        </p:nvSpPr>
        <p:spPr>
          <a:xfrm>
            <a:off x="6756079" y="5512638"/>
            <a:ext cx="717159"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2020</a:t>
            </a:r>
          </a:p>
        </p:txBody>
      </p:sp>
      <p:sp>
        <p:nvSpPr>
          <p:cNvPr id="53" name="TextBox 53"/>
          <p:cNvSpPr txBox="1"/>
          <p:nvPr/>
        </p:nvSpPr>
        <p:spPr>
          <a:xfrm>
            <a:off x="2880997" y="5512638"/>
            <a:ext cx="681743"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2018</a:t>
            </a:r>
          </a:p>
        </p:txBody>
      </p:sp>
      <p:sp>
        <p:nvSpPr>
          <p:cNvPr id="54" name="TextBox 54"/>
          <p:cNvSpPr txBox="1"/>
          <p:nvPr/>
        </p:nvSpPr>
        <p:spPr>
          <a:xfrm>
            <a:off x="948791" y="5525336"/>
            <a:ext cx="639282"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2017</a:t>
            </a:r>
          </a:p>
        </p:txBody>
      </p:sp>
      <p:sp>
        <p:nvSpPr>
          <p:cNvPr id="55" name="TextBox 55"/>
          <p:cNvSpPr txBox="1"/>
          <p:nvPr/>
        </p:nvSpPr>
        <p:spPr>
          <a:xfrm>
            <a:off x="4794257" y="5512638"/>
            <a:ext cx="681743" cy="410369"/>
          </a:xfrm>
          <a:prstGeom prst="rect">
            <a:avLst/>
          </a:prstGeom>
        </p:spPr>
        <p:txBody>
          <a:bodyPr lIns="0" tIns="0" rIns="0" bIns="0" rtlCol="0" anchor="t">
            <a:spAutoFit/>
          </a:bodyPr>
          <a:lstStyle/>
          <a:p>
            <a:pPr algn="ctr">
              <a:lnSpc>
                <a:spcPts val="3173"/>
              </a:lnSpc>
            </a:pPr>
            <a:r>
              <a:rPr lang="en-US" sz="2133">
                <a:solidFill>
                  <a:srgbClr val="000000"/>
                </a:solidFill>
                <a:ea typeface="Canva Sans 1"/>
                <a:cs typeface="Canva Sans 1"/>
                <a:sym typeface="Canva Sans 1"/>
              </a:rPr>
              <a:t>2018</a:t>
            </a:r>
          </a:p>
        </p:txBody>
      </p:sp>
      <p:sp>
        <p:nvSpPr>
          <p:cNvPr id="56" name="TextBox 56"/>
          <p:cNvSpPr txBox="1"/>
          <p:nvPr/>
        </p:nvSpPr>
        <p:spPr>
          <a:xfrm>
            <a:off x="432692" y="2123990"/>
            <a:ext cx="1609242" cy="512961"/>
          </a:xfrm>
          <a:prstGeom prst="rect">
            <a:avLst/>
          </a:prstGeom>
        </p:spPr>
        <p:txBody>
          <a:bodyPr lIns="0" tIns="0" rIns="0" bIns="0" rtlCol="0" anchor="t">
            <a:spAutoFit/>
          </a:bodyPr>
          <a:lstStyle/>
          <a:p>
            <a:pPr algn="ctr">
              <a:lnSpc>
                <a:spcPts val="1960"/>
              </a:lnSpc>
            </a:pPr>
            <a:r>
              <a:rPr lang="en-US" sz="1400" dirty="0">
                <a:solidFill>
                  <a:srgbClr val="000000"/>
                </a:solidFill>
                <a:ea typeface="Barlow"/>
                <a:cs typeface="Barlow"/>
                <a:sym typeface="Barlow"/>
              </a:rPr>
              <a:t>"Can machines think?", Turing Test </a:t>
            </a:r>
          </a:p>
        </p:txBody>
      </p:sp>
      <p:sp>
        <p:nvSpPr>
          <p:cNvPr id="57" name="TextBox 57"/>
          <p:cNvSpPr txBox="1"/>
          <p:nvPr/>
        </p:nvSpPr>
        <p:spPr>
          <a:xfrm>
            <a:off x="2324208" y="2123990"/>
            <a:ext cx="1720167"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AI term coined, academic discipline</a:t>
            </a:r>
          </a:p>
        </p:txBody>
      </p:sp>
      <p:sp>
        <p:nvSpPr>
          <p:cNvPr id="58" name="TextBox 58"/>
          <p:cNvSpPr txBox="1"/>
          <p:nvPr/>
        </p:nvSpPr>
        <p:spPr>
          <a:xfrm>
            <a:off x="4378314" y="2123990"/>
            <a:ext cx="1609242"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Eliza, first chatbot is created</a:t>
            </a:r>
          </a:p>
        </p:txBody>
      </p:sp>
      <p:sp>
        <p:nvSpPr>
          <p:cNvPr id="59" name="TextBox 59"/>
          <p:cNvSpPr txBox="1"/>
          <p:nvPr/>
        </p:nvSpPr>
        <p:spPr>
          <a:xfrm>
            <a:off x="6271785" y="2123990"/>
            <a:ext cx="1609242"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Perceptron paper published</a:t>
            </a:r>
          </a:p>
        </p:txBody>
      </p:sp>
      <p:sp>
        <p:nvSpPr>
          <p:cNvPr id="60" name="TextBox 60"/>
          <p:cNvSpPr txBox="1"/>
          <p:nvPr/>
        </p:nvSpPr>
        <p:spPr>
          <a:xfrm>
            <a:off x="8217843" y="2123990"/>
            <a:ext cx="1609242"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Development of expert systems</a:t>
            </a:r>
          </a:p>
        </p:txBody>
      </p:sp>
      <p:sp>
        <p:nvSpPr>
          <p:cNvPr id="61" name="TextBox 61"/>
          <p:cNvSpPr txBox="1"/>
          <p:nvPr/>
        </p:nvSpPr>
        <p:spPr>
          <a:xfrm>
            <a:off x="10193029" y="2123990"/>
            <a:ext cx="1609242"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Backpropagation in neural networks</a:t>
            </a:r>
          </a:p>
        </p:txBody>
      </p:sp>
      <p:sp>
        <p:nvSpPr>
          <p:cNvPr id="62" name="TextBox 62"/>
          <p:cNvSpPr txBox="1"/>
          <p:nvPr/>
        </p:nvSpPr>
        <p:spPr>
          <a:xfrm>
            <a:off x="10216487" y="4078076"/>
            <a:ext cx="1609242"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IBM’s Deep Blue victory in chess</a:t>
            </a:r>
          </a:p>
        </p:txBody>
      </p:sp>
      <p:sp>
        <p:nvSpPr>
          <p:cNvPr id="63" name="TextBox 63"/>
          <p:cNvSpPr txBox="1"/>
          <p:nvPr/>
        </p:nvSpPr>
        <p:spPr>
          <a:xfrm>
            <a:off x="8270429" y="4078076"/>
            <a:ext cx="1609242"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Kismet robot for social interactions</a:t>
            </a:r>
          </a:p>
        </p:txBody>
      </p:sp>
      <p:sp>
        <p:nvSpPr>
          <p:cNvPr id="64" name="TextBox 64"/>
          <p:cNvSpPr txBox="1"/>
          <p:nvPr/>
        </p:nvSpPr>
        <p:spPr>
          <a:xfrm>
            <a:off x="6324681" y="4078076"/>
            <a:ext cx="1609242"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IBM’s Watson wins in Jeopardy</a:t>
            </a:r>
          </a:p>
        </p:txBody>
      </p:sp>
      <p:sp>
        <p:nvSpPr>
          <p:cNvPr id="65" name="TextBox 65"/>
          <p:cNvSpPr txBox="1"/>
          <p:nvPr/>
        </p:nvSpPr>
        <p:spPr>
          <a:xfrm>
            <a:off x="4520685" y="4078076"/>
            <a:ext cx="1304481"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Apple integrates SIRI</a:t>
            </a:r>
          </a:p>
        </p:txBody>
      </p:sp>
      <p:sp>
        <p:nvSpPr>
          <p:cNvPr id="66" name="TextBox 66"/>
          <p:cNvSpPr txBox="1"/>
          <p:nvPr/>
        </p:nvSpPr>
        <p:spPr>
          <a:xfrm>
            <a:off x="2324207" y="4078076"/>
            <a:ext cx="1788436"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Generative adversarial networks</a:t>
            </a:r>
          </a:p>
        </p:txBody>
      </p:sp>
      <p:sp>
        <p:nvSpPr>
          <p:cNvPr id="67" name="TextBox 67"/>
          <p:cNvSpPr txBox="1"/>
          <p:nvPr/>
        </p:nvSpPr>
        <p:spPr>
          <a:xfrm>
            <a:off x="494731" y="4078076"/>
            <a:ext cx="1485167"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AlphaGo defeats Go champion</a:t>
            </a:r>
          </a:p>
        </p:txBody>
      </p:sp>
      <p:sp>
        <p:nvSpPr>
          <p:cNvPr id="68" name="TextBox 68"/>
          <p:cNvSpPr txBox="1"/>
          <p:nvPr/>
        </p:nvSpPr>
        <p:spPr>
          <a:xfrm>
            <a:off x="477835" y="6032162"/>
            <a:ext cx="1609242"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Transformer architecture</a:t>
            </a:r>
          </a:p>
        </p:txBody>
      </p:sp>
      <p:sp>
        <p:nvSpPr>
          <p:cNvPr id="69" name="TextBox 69"/>
          <p:cNvSpPr txBox="1"/>
          <p:nvPr/>
        </p:nvSpPr>
        <p:spPr>
          <a:xfrm>
            <a:off x="2449510" y="6032162"/>
            <a:ext cx="1469560"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OpenAI's GPT-1, first LLM</a:t>
            </a:r>
          </a:p>
        </p:txBody>
      </p:sp>
      <p:sp>
        <p:nvSpPr>
          <p:cNvPr id="70" name="TextBox 70"/>
          <p:cNvSpPr txBox="1"/>
          <p:nvPr/>
        </p:nvSpPr>
        <p:spPr>
          <a:xfrm>
            <a:off x="4280973" y="6032163"/>
            <a:ext cx="1609242"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Google’s BERT, transfer learning</a:t>
            </a:r>
          </a:p>
        </p:txBody>
      </p:sp>
      <p:sp>
        <p:nvSpPr>
          <p:cNvPr id="71" name="TextBox 71"/>
          <p:cNvSpPr txBox="1"/>
          <p:nvPr/>
        </p:nvSpPr>
        <p:spPr>
          <a:xfrm>
            <a:off x="6324372" y="6032163"/>
            <a:ext cx="1609242"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OpenAI's GPT-3, scale and power</a:t>
            </a:r>
          </a:p>
        </p:txBody>
      </p:sp>
      <p:sp>
        <p:nvSpPr>
          <p:cNvPr id="72" name="TextBox 72"/>
          <p:cNvSpPr txBox="1"/>
          <p:nvPr/>
        </p:nvSpPr>
        <p:spPr>
          <a:xfrm>
            <a:off x="8270429" y="6032162"/>
            <a:ext cx="1609242"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OpenAI's ChatGPT launch</a:t>
            </a:r>
          </a:p>
        </p:txBody>
      </p:sp>
      <p:sp>
        <p:nvSpPr>
          <p:cNvPr id="73" name="TextBox 73"/>
          <p:cNvSpPr txBox="1"/>
          <p:nvPr/>
        </p:nvSpPr>
        <p:spPr>
          <a:xfrm>
            <a:off x="10311415" y="6032162"/>
            <a:ext cx="1312466" cy="512961"/>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Barlow"/>
                <a:cs typeface="Barlow"/>
                <a:sym typeface="Barlow"/>
              </a:rPr>
              <a:t>Claude and Gemini</a:t>
            </a:r>
          </a:p>
        </p:txBody>
      </p:sp>
      <p:sp>
        <p:nvSpPr>
          <p:cNvPr id="74" name="AutoShape 74"/>
          <p:cNvSpPr/>
          <p:nvPr/>
        </p:nvSpPr>
        <p:spPr>
          <a:xfrm>
            <a:off x="11505977" y="5728297"/>
            <a:ext cx="685230" cy="0"/>
          </a:xfrm>
          <a:prstGeom prst="line">
            <a:avLst/>
          </a:prstGeom>
          <a:ln w="38100" cap="flat">
            <a:solidFill>
              <a:srgbClr val="6414AB"/>
            </a:solidFill>
            <a:prstDash val="solid"/>
            <a:headEnd type="none" w="sm" len="sm"/>
            <a:tailEnd type="arrow" w="med" len="sm"/>
          </a:ln>
        </p:spPr>
      </p:sp>
    </p:spTree>
    <p:extLst>
      <p:ext uri="{BB962C8B-B14F-4D97-AF65-F5344CB8AC3E}">
        <p14:creationId xmlns:p14="http://schemas.microsoft.com/office/powerpoint/2010/main" val="139211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2283422" y="2067378"/>
            <a:ext cx="2291853" cy="346249"/>
          </a:xfrm>
          <a:prstGeom prst="rect">
            <a:avLst/>
          </a:prstGeom>
        </p:spPr>
        <p:txBody>
          <a:bodyPr lIns="0" tIns="0" rIns="0" bIns="0" rtlCol="0" anchor="t">
            <a:spAutoFit/>
          </a:bodyPr>
          <a:lstStyle/>
          <a:p>
            <a:pPr algn="ctr">
              <a:lnSpc>
                <a:spcPts val="2706"/>
              </a:lnSpc>
            </a:pPr>
            <a:r>
              <a:rPr lang="en-US" sz="1933" b="1">
                <a:solidFill>
                  <a:srgbClr val="FFFFFF"/>
                </a:solidFill>
                <a:ea typeface="Barlow Bold"/>
                <a:cs typeface="Barlow Bold"/>
                <a:sym typeface="Barlow Bold"/>
              </a:rPr>
              <a:t>Artificial Intelligence</a:t>
            </a:r>
          </a:p>
        </p:txBody>
      </p:sp>
      <p:sp>
        <p:nvSpPr>
          <p:cNvPr id="6" name="TextBox 6"/>
          <p:cNvSpPr txBox="1"/>
          <p:nvPr/>
        </p:nvSpPr>
        <p:spPr>
          <a:xfrm>
            <a:off x="2469929" y="3339530"/>
            <a:ext cx="1918839" cy="346249"/>
          </a:xfrm>
          <a:prstGeom prst="rect">
            <a:avLst/>
          </a:prstGeom>
        </p:spPr>
        <p:txBody>
          <a:bodyPr lIns="0" tIns="0" rIns="0" bIns="0" rtlCol="0" anchor="t">
            <a:spAutoFit/>
          </a:bodyPr>
          <a:lstStyle/>
          <a:p>
            <a:pPr algn="ctr">
              <a:lnSpc>
                <a:spcPts val="2706"/>
              </a:lnSpc>
            </a:pPr>
            <a:r>
              <a:rPr lang="en-US" sz="1933" b="1">
                <a:solidFill>
                  <a:srgbClr val="FFFFFF"/>
                </a:solidFill>
                <a:ea typeface="Barlow Bold"/>
                <a:cs typeface="Barlow Bold"/>
                <a:sym typeface="Barlow Bold"/>
              </a:rPr>
              <a:t>Machine Learning</a:t>
            </a:r>
          </a:p>
        </p:txBody>
      </p:sp>
      <p:sp>
        <p:nvSpPr>
          <p:cNvPr id="7" name="TextBox 7"/>
          <p:cNvSpPr txBox="1"/>
          <p:nvPr/>
        </p:nvSpPr>
        <p:spPr>
          <a:xfrm>
            <a:off x="2288705" y="4477724"/>
            <a:ext cx="2281284" cy="346249"/>
          </a:xfrm>
          <a:prstGeom prst="rect">
            <a:avLst/>
          </a:prstGeom>
        </p:spPr>
        <p:txBody>
          <a:bodyPr lIns="0" tIns="0" rIns="0" bIns="0" rtlCol="0" anchor="t">
            <a:spAutoFit/>
          </a:bodyPr>
          <a:lstStyle/>
          <a:p>
            <a:pPr algn="ctr">
              <a:lnSpc>
                <a:spcPts val="2706"/>
              </a:lnSpc>
            </a:pPr>
            <a:r>
              <a:rPr lang="en-US" sz="1933" b="1">
                <a:solidFill>
                  <a:srgbClr val="FFFFFF"/>
                </a:solidFill>
                <a:ea typeface="Barlow Bold"/>
                <a:cs typeface="Barlow Bold"/>
                <a:sym typeface="Barlow Bold"/>
              </a:rPr>
              <a:t>Deep Learning</a:t>
            </a:r>
          </a:p>
        </p:txBody>
      </p:sp>
      <p:sp>
        <p:nvSpPr>
          <p:cNvPr id="14" name="TextBox 14"/>
          <p:cNvSpPr txBox="1"/>
          <p:nvPr/>
        </p:nvSpPr>
        <p:spPr>
          <a:xfrm>
            <a:off x="7113702" y="2067378"/>
            <a:ext cx="3747919" cy="564257"/>
          </a:xfrm>
          <a:prstGeom prst="rect">
            <a:avLst/>
          </a:prstGeom>
        </p:spPr>
        <p:txBody>
          <a:bodyPr lIns="0" tIns="0" rIns="0" bIns="0" rtlCol="0" anchor="t">
            <a:spAutoFit/>
          </a:bodyPr>
          <a:lstStyle/>
          <a:p>
            <a:pPr>
              <a:lnSpc>
                <a:spcPts val="2239"/>
              </a:lnSpc>
            </a:pPr>
            <a:r>
              <a:rPr lang="en-US" dirty="0">
                <a:solidFill>
                  <a:srgbClr val="000000"/>
                </a:solidFill>
                <a:ea typeface="Barlow"/>
                <a:cs typeface="Barlow"/>
                <a:sym typeface="Barlow"/>
              </a:rPr>
              <a:t>Aims to create machines mimicking human intelligence</a:t>
            </a:r>
          </a:p>
        </p:txBody>
      </p:sp>
      <p:sp>
        <p:nvSpPr>
          <p:cNvPr id="15" name="TextBox 15"/>
          <p:cNvSpPr txBox="1"/>
          <p:nvPr/>
        </p:nvSpPr>
        <p:spPr>
          <a:xfrm>
            <a:off x="7113702" y="3339530"/>
            <a:ext cx="3747919" cy="564257"/>
          </a:xfrm>
          <a:prstGeom prst="rect">
            <a:avLst/>
          </a:prstGeom>
        </p:spPr>
        <p:txBody>
          <a:bodyPr lIns="0" tIns="0" rIns="0" bIns="0" rtlCol="0" anchor="t">
            <a:spAutoFit/>
          </a:bodyPr>
          <a:lstStyle/>
          <a:p>
            <a:pPr>
              <a:lnSpc>
                <a:spcPts val="2239"/>
              </a:lnSpc>
            </a:pPr>
            <a:r>
              <a:rPr lang="en-US">
                <a:solidFill>
                  <a:srgbClr val="000000"/>
                </a:solidFill>
                <a:ea typeface="Barlow"/>
                <a:cs typeface="Barlow"/>
                <a:sym typeface="Barlow"/>
              </a:rPr>
              <a:t>Specific branch of AI using algorithms enabling computers to learn from data</a:t>
            </a:r>
          </a:p>
        </p:txBody>
      </p:sp>
      <p:sp>
        <p:nvSpPr>
          <p:cNvPr id="16" name="TextBox 16"/>
          <p:cNvSpPr txBox="1"/>
          <p:nvPr/>
        </p:nvSpPr>
        <p:spPr>
          <a:xfrm>
            <a:off x="7113702" y="5661387"/>
            <a:ext cx="3929433" cy="564257"/>
          </a:xfrm>
          <a:prstGeom prst="rect">
            <a:avLst/>
          </a:prstGeom>
        </p:spPr>
        <p:txBody>
          <a:bodyPr lIns="0" tIns="0" rIns="0" bIns="0" rtlCol="0" anchor="t">
            <a:spAutoFit/>
          </a:bodyPr>
          <a:lstStyle/>
          <a:p>
            <a:pPr>
              <a:lnSpc>
                <a:spcPts val="2239"/>
              </a:lnSpc>
            </a:pPr>
            <a:r>
              <a:rPr lang="en-US">
                <a:solidFill>
                  <a:srgbClr val="000000"/>
                </a:solidFill>
                <a:ea typeface="Barlow"/>
                <a:cs typeface="Barlow"/>
                <a:sym typeface="Barlow"/>
              </a:rPr>
              <a:t>Subset of deep learning models that generate outputs like text, images, code</a:t>
            </a:r>
          </a:p>
        </p:txBody>
      </p:sp>
      <p:sp>
        <p:nvSpPr>
          <p:cNvPr id="17" name="TextBox 17"/>
          <p:cNvSpPr txBox="1"/>
          <p:nvPr/>
        </p:nvSpPr>
        <p:spPr>
          <a:xfrm>
            <a:off x="7113702" y="4477723"/>
            <a:ext cx="3747919" cy="846386"/>
          </a:xfrm>
          <a:prstGeom prst="rect">
            <a:avLst/>
          </a:prstGeom>
        </p:spPr>
        <p:txBody>
          <a:bodyPr lIns="0" tIns="0" rIns="0" bIns="0" rtlCol="0" anchor="t">
            <a:spAutoFit/>
          </a:bodyPr>
          <a:lstStyle/>
          <a:p>
            <a:pPr>
              <a:lnSpc>
                <a:spcPts val="2239"/>
              </a:lnSpc>
            </a:pPr>
            <a:r>
              <a:rPr lang="en-US">
                <a:solidFill>
                  <a:srgbClr val="000000"/>
                </a:solidFill>
                <a:ea typeface="Barlow"/>
                <a:cs typeface="Barlow"/>
                <a:sym typeface="Barlow"/>
              </a:rPr>
              <a:t>Specialized subfield using neural networks for hierarchical representation learning</a:t>
            </a:r>
          </a:p>
        </p:txBody>
      </p:sp>
      <p:sp>
        <p:nvSpPr>
          <p:cNvPr id="18" name="TextBox 18"/>
          <p:cNvSpPr txBox="1"/>
          <p:nvPr/>
        </p:nvSpPr>
        <p:spPr>
          <a:xfrm>
            <a:off x="1282457" y="338723"/>
            <a:ext cx="9627088" cy="820738"/>
          </a:xfrm>
          <a:prstGeom prst="rect">
            <a:avLst/>
          </a:prstGeom>
        </p:spPr>
        <p:txBody>
          <a:bodyPr lIns="0" tIns="0" rIns="0" bIns="0" rtlCol="0" anchor="t">
            <a:spAutoFit/>
          </a:bodyPr>
          <a:lstStyle/>
          <a:p>
            <a:pPr algn="ctr">
              <a:lnSpc>
                <a:spcPts val="6399"/>
              </a:lnSpc>
              <a:spcBef>
                <a:spcPct val="0"/>
              </a:spcBef>
            </a:pPr>
            <a:r>
              <a:rPr lang="en-US" sz="5333" b="1" dirty="0">
                <a:solidFill>
                  <a:srgbClr val="000000"/>
                </a:solidFill>
                <a:ea typeface="Canva Sans 1 Bold"/>
                <a:cs typeface="Canva Sans 1 Bold"/>
                <a:sym typeface="Canva Sans 1 Bold"/>
              </a:rPr>
              <a:t>What AI do people refer to?</a:t>
            </a:r>
          </a:p>
        </p:txBody>
      </p:sp>
      <p:pic>
        <p:nvPicPr>
          <p:cNvPr id="19" name="Picture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694" y="1167312"/>
            <a:ext cx="6278548" cy="5358032"/>
          </a:xfrm>
          <a:prstGeom prst="rect">
            <a:avLst/>
          </a:prstGeom>
        </p:spPr>
      </p:pic>
    </p:spTree>
    <p:extLst>
      <p:ext uri="{BB962C8B-B14F-4D97-AF65-F5344CB8AC3E}">
        <p14:creationId xmlns:p14="http://schemas.microsoft.com/office/powerpoint/2010/main" val="254603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Deep dive into ML</a:t>
            </a:r>
          </a:p>
        </p:txBody>
      </p:sp>
      <p:sp>
        <p:nvSpPr>
          <p:cNvPr id="2" name="Slide Number Placeholder 1"/>
          <p:cNvSpPr>
            <a:spLocks noGrp="1"/>
          </p:cNvSpPr>
          <p:nvPr>
            <p:ph type="sldNum" sz="quarter" idx="4294967295"/>
          </p:nvPr>
        </p:nvSpPr>
        <p:spPr>
          <a:xfrm>
            <a:off x="11757819" y="6540500"/>
            <a:ext cx="433388" cy="317500"/>
          </a:xfrm>
        </p:spPr>
        <p:txBody>
          <a:bodyPr/>
          <a:lstStyle/>
          <a:p>
            <a:fld id="{103EA872-A674-449B-A120-B97244F8E91D}" type="slidenum">
              <a:rPr lang="en-GB" smtClean="0"/>
              <a:pPr/>
              <a:t>5</a:t>
            </a:fld>
            <a:endParaRPr lang="en-GB" dirty="0"/>
          </a:p>
        </p:txBody>
      </p:sp>
    </p:spTree>
    <p:extLst>
      <p:ext uri="{BB962C8B-B14F-4D97-AF65-F5344CB8AC3E}">
        <p14:creationId xmlns:p14="http://schemas.microsoft.com/office/powerpoint/2010/main" val="576394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Introduction –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6</a:t>
            </a:fld>
            <a:endParaRPr lang="en-GB" dirty="0"/>
          </a:p>
        </p:txBody>
      </p:sp>
      <p:sp>
        <p:nvSpPr>
          <p:cNvPr id="3" name="TextBox 2">
            <a:extLst>
              <a:ext uri="{FF2B5EF4-FFF2-40B4-BE49-F238E27FC236}">
                <a16:creationId xmlns:a16="http://schemas.microsoft.com/office/drawing/2014/main" id="{0341CC6A-6D15-5B93-E53E-B30C727F7E53}"/>
              </a:ext>
            </a:extLst>
          </p:cNvPr>
          <p:cNvSpPr txBox="1"/>
          <p:nvPr/>
        </p:nvSpPr>
        <p:spPr>
          <a:xfrm>
            <a:off x="1775520" y="1715904"/>
            <a:ext cx="9312374" cy="553998"/>
          </a:xfrm>
          <a:prstGeom prst="rect">
            <a:avLst/>
          </a:prstGeom>
          <a:noFill/>
        </p:spPr>
        <p:txBody>
          <a:bodyPr wrap="square" lIns="0" tIns="0" rIns="0" bIns="0" rtlCol="0">
            <a:spAutoFit/>
          </a:bodyPr>
          <a:lstStyle/>
          <a:p>
            <a:pPr>
              <a:spcBef>
                <a:spcPts val="432"/>
              </a:spcBef>
            </a:pPr>
            <a:r>
              <a:rPr lang="da-DK" b="1" dirty="0"/>
              <a:t>Machine learning Vs. </a:t>
            </a:r>
            <a:r>
              <a:rPr lang="en-US" b="1" dirty="0"/>
              <a:t>Classical</a:t>
            </a:r>
            <a:r>
              <a:rPr lang="da-DK" b="1" dirty="0"/>
              <a:t> modeling: </a:t>
            </a:r>
            <a:r>
              <a:rPr lang="en-US" dirty="0"/>
              <a:t>the main difference between the two approaches resides in the communication between the user and the “computer”.</a:t>
            </a:r>
          </a:p>
        </p:txBody>
      </p:sp>
      <p:pic>
        <p:nvPicPr>
          <p:cNvPr id="10" name="Picture 9">
            <a:extLst>
              <a:ext uri="{FF2B5EF4-FFF2-40B4-BE49-F238E27FC236}">
                <a16:creationId xmlns:a16="http://schemas.microsoft.com/office/drawing/2014/main" id="{D70963D3-3C64-441B-D49A-B9A9182C4F12}"/>
              </a:ext>
            </a:extLst>
          </p:cNvPr>
          <p:cNvPicPr>
            <a:picLocks noChangeAspect="1"/>
          </p:cNvPicPr>
          <p:nvPr/>
        </p:nvPicPr>
        <p:blipFill>
          <a:blip r:embed="rId3"/>
          <a:stretch>
            <a:fillRect/>
          </a:stretch>
        </p:blipFill>
        <p:spPr>
          <a:xfrm>
            <a:off x="695400" y="4015652"/>
            <a:ext cx="5272332" cy="1214112"/>
          </a:xfrm>
          <a:prstGeom prst="rect">
            <a:avLst/>
          </a:prstGeom>
        </p:spPr>
      </p:pic>
      <p:pic>
        <p:nvPicPr>
          <p:cNvPr id="11" name="Picture 10">
            <a:extLst>
              <a:ext uri="{FF2B5EF4-FFF2-40B4-BE49-F238E27FC236}">
                <a16:creationId xmlns:a16="http://schemas.microsoft.com/office/drawing/2014/main" id="{65BE83F4-31B3-131C-3B78-75DF6821062D}"/>
              </a:ext>
            </a:extLst>
          </p:cNvPr>
          <p:cNvPicPr>
            <a:picLocks noChangeAspect="1"/>
          </p:cNvPicPr>
          <p:nvPr/>
        </p:nvPicPr>
        <p:blipFill>
          <a:blip r:embed="rId4"/>
          <a:stretch>
            <a:fillRect/>
          </a:stretch>
        </p:blipFill>
        <p:spPr>
          <a:xfrm>
            <a:off x="6359926" y="3954492"/>
            <a:ext cx="5076282" cy="1194035"/>
          </a:xfrm>
          <a:prstGeom prst="rect">
            <a:avLst/>
          </a:prstGeom>
        </p:spPr>
      </p:pic>
      <p:sp>
        <p:nvSpPr>
          <p:cNvPr id="12" name="TextBox 11">
            <a:extLst>
              <a:ext uri="{FF2B5EF4-FFF2-40B4-BE49-F238E27FC236}">
                <a16:creationId xmlns:a16="http://schemas.microsoft.com/office/drawing/2014/main" id="{36C847E4-6CD5-AC0E-D86B-1DDE6164EFD1}"/>
              </a:ext>
            </a:extLst>
          </p:cNvPr>
          <p:cNvSpPr txBox="1"/>
          <p:nvPr/>
        </p:nvSpPr>
        <p:spPr>
          <a:xfrm>
            <a:off x="2571920" y="3356994"/>
            <a:ext cx="1744708" cy="276999"/>
          </a:xfrm>
          <a:prstGeom prst="rect">
            <a:avLst/>
          </a:prstGeom>
          <a:noFill/>
        </p:spPr>
        <p:txBody>
          <a:bodyPr wrap="none" lIns="0" tIns="0" rIns="0" bIns="0" rtlCol="0">
            <a:spAutoFit/>
          </a:bodyPr>
          <a:lstStyle/>
          <a:p>
            <a:pPr>
              <a:spcBef>
                <a:spcPts val="432"/>
              </a:spcBef>
            </a:pPr>
            <a:r>
              <a:rPr lang="en-US" b="1" dirty="0"/>
              <a:t>Classical</a:t>
            </a:r>
            <a:r>
              <a:rPr lang="da-DK" b="1" dirty="0"/>
              <a:t> </a:t>
            </a:r>
            <a:r>
              <a:rPr lang="en-US" b="1" dirty="0"/>
              <a:t>approach</a:t>
            </a:r>
          </a:p>
        </p:txBody>
      </p:sp>
      <p:sp>
        <p:nvSpPr>
          <p:cNvPr id="13" name="TextBox 12">
            <a:extLst>
              <a:ext uri="{FF2B5EF4-FFF2-40B4-BE49-F238E27FC236}">
                <a16:creationId xmlns:a16="http://schemas.microsoft.com/office/drawing/2014/main" id="{D1F57D30-A02F-D469-10F5-345422266DD4}"/>
              </a:ext>
            </a:extLst>
          </p:cNvPr>
          <p:cNvSpPr txBox="1"/>
          <p:nvPr/>
        </p:nvSpPr>
        <p:spPr>
          <a:xfrm>
            <a:off x="8404569" y="3356993"/>
            <a:ext cx="1249125" cy="276999"/>
          </a:xfrm>
          <a:prstGeom prst="rect">
            <a:avLst/>
          </a:prstGeom>
          <a:noFill/>
        </p:spPr>
        <p:txBody>
          <a:bodyPr wrap="none" lIns="0" tIns="0" rIns="0" bIns="0" rtlCol="0">
            <a:spAutoFit/>
          </a:bodyPr>
          <a:lstStyle/>
          <a:p>
            <a:pPr>
              <a:spcBef>
                <a:spcPts val="432"/>
              </a:spcBef>
            </a:pPr>
            <a:r>
              <a:rPr lang="da-DK" b="1" dirty="0"/>
              <a:t>ML approach</a:t>
            </a:r>
          </a:p>
        </p:txBody>
      </p:sp>
    </p:spTree>
    <p:extLst>
      <p:ext uri="{BB962C8B-B14F-4D97-AF65-F5344CB8AC3E}">
        <p14:creationId xmlns:p14="http://schemas.microsoft.com/office/powerpoint/2010/main" val="3573376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7</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2" y="1709109"/>
            <a:ext cx="9312373" cy="369332"/>
          </a:xfrm>
          <a:prstGeom prst="rect">
            <a:avLst/>
          </a:prstGeom>
          <a:noFill/>
        </p:spPr>
        <p:txBody>
          <a:bodyPr wrap="square">
            <a:spAutoFit/>
          </a:bodyPr>
          <a:lstStyle/>
          <a:p>
            <a:r>
              <a:rPr lang="en-US" b="1" dirty="0"/>
              <a:t>Supervised &amp; Unsupervised learning</a:t>
            </a:r>
            <a:endParaRPr lang="en-US" dirty="0"/>
          </a:p>
        </p:txBody>
      </p:sp>
      <p:pic>
        <p:nvPicPr>
          <p:cNvPr id="8" name="Picture 7" descr="A robot head with a brain&#10;&#10;Description automatically generated">
            <a:extLst>
              <a:ext uri="{FF2B5EF4-FFF2-40B4-BE49-F238E27FC236}">
                <a16:creationId xmlns:a16="http://schemas.microsoft.com/office/drawing/2014/main" id="{B8D7209A-DDF0-9C7E-302F-62406E8992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19936" y="2232328"/>
            <a:ext cx="1152128" cy="1152128"/>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9" name="Oval 8">
            <a:extLst>
              <a:ext uri="{FF2B5EF4-FFF2-40B4-BE49-F238E27FC236}">
                <a16:creationId xmlns:a16="http://schemas.microsoft.com/office/drawing/2014/main" id="{054F3E06-BD5C-839F-FBCC-CD048EAE90D6}"/>
              </a:ext>
            </a:extLst>
          </p:cNvPr>
          <p:cNvSpPr/>
          <p:nvPr/>
        </p:nvSpPr>
        <p:spPr bwMode="auto">
          <a:xfrm>
            <a:off x="1847529" y="3789040"/>
            <a:ext cx="2592288" cy="707886"/>
          </a:xfrm>
          <a:prstGeom prst="ellipse">
            <a:avLst/>
          </a:prstGeom>
          <a:solidFill>
            <a:schemeClr val="accent1"/>
          </a:solidFill>
          <a:ln w="9525" cap="flat" cmpd="sng" algn="ctr">
            <a:solidFill>
              <a:schemeClr val="accent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ctr" anchorCtr="0" compatLnSpc="1">
            <a:prstTxWarp prst="textNoShape">
              <a:avLst/>
            </a:prstTxWarp>
          </a:bodyPr>
          <a:lstStyle/>
          <a:p>
            <a:pPr algn="ctr" fontAlgn="base">
              <a:spcBef>
                <a:spcPts val="432"/>
              </a:spcBef>
              <a:spcAft>
                <a:spcPct val="0"/>
              </a:spcAft>
            </a:pPr>
            <a:r>
              <a:rPr lang="en-US" sz="1600" dirty="0">
                <a:solidFill>
                  <a:srgbClr val="FFFFFF"/>
                </a:solidFill>
              </a:rPr>
              <a:t>Supervised</a:t>
            </a:r>
          </a:p>
          <a:p>
            <a:pPr algn="ctr" fontAlgn="base">
              <a:spcBef>
                <a:spcPts val="432"/>
              </a:spcBef>
              <a:spcAft>
                <a:spcPct val="0"/>
              </a:spcAft>
            </a:pPr>
            <a:r>
              <a:rPr lang="da-DK" dirty="0">
                <a:solidFill>
                  <a:srgbClr val="FFFFFF"/>
                </a:solidFill>
              </a:rPr>
              <a:t>Learning</a:t>
            </a:r>
            <a:endParaRPr lang="da-DK" sz="1600" dirty="0">
              <a:solidFill>
                <a:srgbClr val="FFFFFF"/>
              </a:solidFill>
            </a:endParaRPr>
          </a:p>
        </p:txBody>
      </p:sp>
      <p:sp>
        <p:nvSpPr>
          <p:cNvPr id="10" name="Oval 9">
            <a:extLst>
              <a:ext uri="{FF2B5EF4-FFF2-40B4-BE49-F238E27FC236}">
                <a16:creationId xmlns:a16="http://schemas.microsoft.com/office/drawing/2014/main" id="{B1348A2E-6345-937C-AC4E-B5BEA52D8E55}"/>
              </a:ext>
            </a:extLst>
          </p:cNvPr>
          <p:cNvSpPr/>
          <p:nvPr/>
        </p:nvSpPr>
        <p:spPr bwMode="auto">
          <a:xfrm>
            <a:off x="7968208" y="3789039"/>
            <a:ext cx="2592288" cy="707886"/>
          </a:xfrm>
          <a:prstGeom prst="ellipse">
            <a:avLst/>
          </a:prstGeom>
          <a:solidFill>
            <a:schemeClr val="accent1"/>
          </a:solidFill>
          <a:ln w="9525" cap="flat" cmpd="sng" algn="ctr">
            <a:solidFill>
              <a:schemeClr val="accent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ctr" anchorCtr="0" compatLnSpc="1">
            <a:prstTxWarp prst="textNoShape">
              <a:avLst/>
            </a:prstTxWarp>
          </a:bodyPr>
          <a:lstStyle/>
          <a:p>
            <a:pPr algn="ctr" fontAlgn="base">
              <a:spcBef>
                <a:spcPts val="432"/>
              </a:spcBef>
              <a:spcAft>
                <a:spcPct val="0"/>
              </a:spcAft>
            </a:pPr>
            <a:r>
              <a:rPr lang="en-US" dirty="0">
                <a:solidFill>
                  <a:srgbClr val="FFFFFF"/>
                </a:solidFill>
              </a:rPr>
              <a:t>U</a:t>
            </a:r>
            <a:r>
              <a:rPr lang="en-US" sz="1600" dirty="0">
                <a:solidFill>
                  <a:srgbClr val="FFFFFF"/>
                </a:solidFill>
              </a:rPr>
              <a:t>nsupervised</a:t>
            </a:r>
          </a:p>
          <a:p>
            <a:pPr algn="ctr" fontAlgn="base">
              <a:spcBef>
                <a:spcPts val="432"/>
              </a:spcBef>
              <a:spcAft>
                <a:spcPct val="0"/>
              </a:spcAft>
            </a:pPr>
            <a:r>
              <a:rPr lang="da-DK" dirty="0">
                <a:solidFill>
                  <a:srgbClr val="FFFFFF"/>
                </a:solidFill>
              </a:rPr>
              <a:t>Learning</a:t>
            </a:r>
            <a:endParaRPr lang="da-DK" sz="1600" dirty="0">
              <a:solidFill>
                <a:srgbClr val="FFFFFF"/>
              </a:solidFill>
            </a:endParaRPr>
          </a:p>
        </p:txBody>
      </p:sp>
      <p:sp>
        <p:nvSpPr>
          <p:cNvPr id="11" name="Oval 10">
            <a:extLst>
              <a:ext uri="{FF2B5EF4-FFF2-40B4-BE49-F238E27FC236}">
                <a16:creationId xmlns:a16="http://schemas.microsoft.com/office/drawing/2014/main" id="{E2F3E3E9-E05E-E134-C2DB-299831F24B46}"/>
              </a:ext>
            </a:extLst>
          </p:cNvPr>
          <p:cNvSpPr/>
          <p:nvPr/>
        </p:nvSpPr>
        <p:spPr bwMode="auto">
          <a:xfrm>
            <a:off x="191344" y="5085184"/>
            <a:ext cx="2592288" cy="707886"/>
          </a:xfrm>
          <a:prstGeom prst="ellipse">
            <a:avLst/>
          </a:prstGeom>
          <a:solidFill>
            <a:schemeClr val="accent1"/>
          </a:solidFill>
          <a:ln w="9525" cap="flat" cmpd="sng" algn="ctr">
            <a:solidFill>
              <a:schemeClr val="accent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ctr" anchorCtr="0" compatLnSpc="1">
            <a:prstTxWarp prst="textNoShape">
              <a:avLst/>
            </a:prstTxWarp>
          </a:bodyPr>
          <a:lstStyle/>
          <a:p>
            <a:pPr algn="ctr" fontAlgn="base">
              <a:spcBef>
                <a:spcPts val="432"/>
              </a:spcBef>
              <a:spcAft>
                <a:spcPct val="0"/>
              </a:spcAft>
            </a:pPr>
            <a:r>
              <a:rPr lang="da-DK" sz="1600" dirty="0" err="1">
                <a:solidFill>
                  <a:srgbClr val="FFFFFF"/>
                </a:solidFill>
                <a:ea typeface="ＭＳ Ｐゴシック" pitchFamily="-80" charset="-128"/>
              </a:rPr>
              <a:t>Classification</a:t>
            </a:r>
            <a:endParaRPr lang="da-DK" sz="1600" dirty="0">
              <a:solidFill>
                <a:srgbClr val="FFFFFF"/>
              </a:solidFill>
              <a:ea typeface="ＭＳ Ｐゴシック" pitchFamily="-80" charset="-128"/>
            </a:endParaRPr>
          </a:p>
        </p:txBody>
      </p:sp>
      <p:sp>
        <p:nvSpPr>
          <p:cNvPr id="12" name="Oval 11">
            <a:extLst>
              <a:ext uri="{FF2B5EF4-FFF2-40B4-BE49-F238E27FC236}">
                <a16:creationId xmlns:a16="http://schemas.microsoft.com/office/drawing/2014/main" id="{EE0C7B3F-934C-7951-326D-FDC50AADB5A1}"/>
              </a:ext>
            </a:extLst>
          </p:cNvPr>
          <p:cNvSpPr/>
          <p:nvPr/>
        </p:nvSpPr>
        <p:spPr bwMode="auto">
          <a:xfrm>
            <a:off x="3490881" y="5085184"/>
            <a:ext cx="2592288" cy="707886"/>
          </a:xfrm>
          <a:prstGeom prst="ellipse">
            <a:avLst/>
          </a:prstGeom>
          <a:solidFill>
            <a:schemeClr val="accent1"/>
          </a:solidFill>
          <a:ln w="9525" cap="flat" cmpd="sng" algn="ctr">
            <a:solidFill>
              <a:schemeClr val="accent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ctr" anchorCtr="0" compatLnSpc="1">
            <a:prstTxWarp prst="textNoShape">
              <a:avLst/>
            </a:prstTxWarp>
          </a:bodyPr>
          <a:lstStyle/>
          <a:p>
            <a:pPr algn="ctr" fontAlgn="base">
              <a:spcBef>
                <a:spcPts val="432"/>
              </a:spcBef>
              <a:spcAft>
                <a:spcPct val="0"/>
              </a:spcAft>
            </a:pPr>
            <a:r>
              <a:rPr lang="en-US" sz="1600" dirty="0">
                <a:solidFill>
                  <a:srgbClr val="FFFFFF"/>
                </a:solidFill>
                <a:ea typeface="ＭＳ Ｐゴシック" pitchFamily="-80" charset="-128"/>
              </a:rPr>
              <a:t>Regression</a:t>
            </a:r>
          </a:p>
        </p:txBody>
      </p:sp>
      <p:sp>
        <p:nvSpPr>
          <p:cNvPr id="13" name="Oval 12">
            <a:extLst>
              <a:ext uri="{FF2B5EF4-FFF2-40B4-BE49-F238E27FC236}">
                <a16:creationId xmlns:a16="http://schemas.microsoft.com/office/drawing/2014/main" id="{FC54A8F1-8687-C307-A00E-1314BFB15CBE}"/>
              </a:ext>
            </a:extLst>
          </p:cNvPr>
          <p:cNvSpPr/>
          <p:nvPr/>
        </p:nvSpPr>
        <p:spPr bwMode="auto">
          <a:xfrm>
            <a:off x="6295077" y="5074787"/>
            <a:ext cx="2592288" cy="707886"/>
          </a:xfrm>
          <a:prstGeom prst="ellipse">
            <a:avLst/>
          </a:prstGeom>
          <a:solidFill>
            <a:schemeClr val="accent1"/>
          </a:solidFill>
          <a:ln w="9525" cap="flat" cmpd="sng" algn="ctr">
            <a:solidFill>
              <a:schemeClr val="accent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ctr" anchorCtr="0" compatLnSpc="1">
            <a:prstTxWarp prst="textNoShape">
              <a:avLst/>
            </a:prstTxWarp>
          </a:bodyPr>
          <a:lstStyle/>
          <a:p>
            <a:pPr algn="ctr" fontAlgn="base">
              <a:spcBef>
                <a:spcPts val="432"/>
              </a:spcBef>
              <a:spcAft>
                <a:spcPct val="0"/>
              </a:spcAft>
            </a:pPr>
            <a:r>
              <a:rPr lang="da-DK" sz="1600" dirty="0">
                <a:solidFill>
                  <a:srgbClr val="FFFFFF"/>
                </a:solidFill>
                <a:ea typeface="ＭＳ Ｐゴシック" pitchFamily="-80" charset="-128"/>
              </a:rPr>
              <a:t>Clustering</a:t>
            </a:r>
          </a:p>
        </p:txBody>
      </p:sp>
      <p:sp>
        <p:nvSpPr>
          <p:cNvPr id="14" name="Oval 13">
            <a:extLst>
              <a:ext uri="{FF2B5EF4-FFF2-40B4-BE49-F238E27FC236}">
                <a16:creationId xmlns:a16="http://schemas.microsoft.com/office/drawing/2014/main" id="{1E67CED2-DEB8-389C-6D4C-DAA913F19E58}"/>
              </a:ext>
            </a:extLst>
          </p:cNvPr>
          <p:cNvSpPr/>
          <p:nvPr/>
        </p:nvSpPr>
        <p:spPr bwMode="auto">
          <a:xfrm>
            <a:off x="9594614" y="5074787"/>
            <a:ext cx="2592288" cy="707886"/>
          </a:xfrm>
          <a:prstGeom prst="ellipse">
            <a:avLst/>
          </a:prstGeom>
          <a:solidFill>
            <a:schemeClr val="accent1"/>
          </a:solidFill>
          <a:ln w="9525" cap="flat" cmpd="sng" algn="ctr">
            <a:solidFill>
              <a:schemeClr val="accent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ctr" anchorCtr="0" compatLnSpc="1">
            <a:prstTxWarp prst="textNoShape">
              <a:avLst/>
            </a:prstTxWarp>
          </a:bodyPr>
          <a:lstStyle/>
          <a:p>
            <a:pPr algn="ctr" fontAlgn="base">
              <a:spcBef>
                <a:spcPts val="432"/>
              </a:spcBef>
              <a:spcAft>
                <a:spcPct val="0"/>
              </a:spcAft>
            </a:pPr>
            <a:r>
              <a:rPr lang="en-US" sz="1600" dirty="0">
                <a:solidFill>
                  <a:srgbClr val="FFFFFF"/>
                </a:solidFill>
                <a:ea typeface="ＭＳ Ｐゴシック" pitchFamily="-80" charset="-128"/>
              </a:rPr>
              <a:t>Association</a:t>
            </a:r>
          </a:p>
        </p:txBody>
      </p:sp>
      <p:cxnSp>
        <p:nvCxnSpPr>
          <p:cNvPr id="16" name="Connector: Elbow 15">
            <a:extLst>
              <a:ext uri="{FF2B5EF4-FFF2-40B4-BE49-F238E27FC236}">
                <a16:creationId xmlns:a16="http://schemas.microsoft.com/office/drawing/2014/main" id="{9AC8F44A-A4B8-7D7E-3819-EF5882B4151B}"/>
              </a:ext>
            </a:extLst>
          </p:cNvPr>
          <p:cNvCxnSpPr>
            <a:stCxn id="8" idx="2"/>
            <a:endCxn id="9" idx="0"/>
          </p:cNvCxnSpPr>
          <p:nvPr/>
        </p:nvCxnSpPr>
        <p:spPr bwMode="auto">
          <a:xfrm rot="10800000" flipV="1">
            <a:off x="3143675" y="2808392"/>
            <a:ext cx="2376263" cy="980648"/>
          </a:xfrm>
          <a:prstGeom prst="bentConnector2">
            <a:avLst/>
          </a:prstGeom>
          <a:solidFill>
            <a:schemeClr val="accent1"/>
          </a:solidFill>
          <a:ln w="76200"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Connector: Elbow 17">
            <a:extLst>
              <a:ext uri="{FF2B5EF4-FFF2-40B4-BE49-F238E27FC236}">
                <a16:creationId xmlns:a16="http://schemas.microsoft.com/office/drawing/2014/main" id="{44D74DF2-8BA0-C640-6FCF-5B2ADE46322C}"/>
              </a:ext>
            </a:extLst>
          </p:cNvPr>
          <p:cNvCxnSpPr>
            <a:stCxn id="8" idx="6"/>
            <a:endCxn id="10" idx="0"/>
          </p:cNvCxnSpPr>
          <p:nvPr/>
        </p:nvCxnSpPr>
        <p:spPr bwMode="auto">
          <a:xfrm>
            <a:off x="6672064" y="2808393"/>
            <a:ext cx="2592288" cy="980647"/>
          </a:xfrm>
          <a:prstGeom prst="bentConnector2">
            <a:avLst/>
          </a:prstGeom>
          <a:solidFill>
            <a:schemeClr val="accent1"/>
          </a:solidFill>
          <a:ln w="76200"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Connector: Elbow 19">
            <a:extLst>
              <a:ext uri="{FF2B5EF4-FFF2-40B4-BE49-F238E27FC236}">
                <a16:creationId xmlns:a16="http://schemas.microsoft.com/office/drawing/2014/main" id="{9AB426F3-7717-7EEF-E842-768CF96CACB3}"/>
              </a:ext>
            </a:extLst>
          </p:cNvPr>
          <p:cNvCxnSpPr>
            <a:stCxn id="10" idx="6"/>
            <a:endCxn id="14" idx="0"/>
          </p:cNvCxnSpPr>
          <p:nvPr/>
        </p:nvCxnSpPr>
        <p:spPr bwMode="auto">
          <a:xfrm>
            <a:off x="10560496" y="4142983"/>
            <a:ext cx="330262" cy="931805"/>
          </a:xfrm>
          <a:prstGeom prst="bentConnector2">
            <a:avLst/>
          </a:prstGeom>
          <a:solidFill>
            <a:schemeClr val="accent1"/>
          </a:solidFill>
          <a:ln w="76200"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Connector: Elbow 21">
            <a:extLst>
              <a:ext uri="{FF2B5EF4-FFF2-40B4-BE49-F238E27FC236}">
                <a16:creationId xmlns:a16="http://schemas.microsoft.com/office/drawing/2014/main" id="{67E68432-3B15-BB12-EFCF-57B578643F09}"/>
              </a:ext>
            </a:extLst>
          </p:cNvPr>
          <p:cNvCxnSpPr>
            <a:stCxn id="10" idx="2"/>
            <a:endCxn id="13" idx="0"/>
          </p:cNvCxnSpPr>
          <p:nvPr/>
        </p:nvCxnSpPr>
        <p:spPr bwMode="auto">
          <a:xfrm rot="10800000" flipV="1">
            <a:off x="7591223" y="4142982"/>
            <a:ext cx="376987" cy="931805"/>
          </a:xfrm>
          <a:prstGeom prst="bentConnector2">
            <a:avLst/>
          </a:prstGeom>
          <a:solidFill>
            <a:schemeClr val="accent1"/>
          </a:solidFill>
          <a:ln w="76200"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Connector: Elbow 23">
            <a:extLst>
              <a:ext uri="{FF2B5EF4-FFF2-40B4-BE49-F238E27FC236}">
                <a16:creationId xmlns:a16="http://schemas.microsoft.com/office/drawing/2014/main" id="{D4D61437-B33D-1CE4-E09A-9C55AEE543CF}"/>
              </a:ext>
            </a:extLst>
          </p:cNvPr>
          <p:cNvCxnSpPr>
            <a:stCxn id="9" idx="6"/>
            <a:endCxn id="12" idx="0"/>
          </p:cNvCxnSpPr>
          <p:nvPr/>
        </p:nvCxnSpPr>
        <p:spPr bwMode="auto">
          <a:xfrm>
            <a:off x="4439817" y="4142984"/>
            <a:ext cx="347208" cy="942201"/>
          </a:xfrm>
          <a:prstGeom prst="bentConnector2">
            <a:avLst/>
          </a:prstGeom>
          <a:solidFill>
            <a:schemeClr val="accent1"/>
          </a:solidFill>
          <a:ln w="76200"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Connector: Elbow 25">
            <a:extLst>
              <a:ext uri="{FF2B5EF4-FFF2-40B4-BE49-F238E27FC236}">
                <a16:creationId xmlns:a16="http://schemas.microsoft.com/office/drawing/2014/main" id="{E2B07F6E-0C6D-674B-310C-0C367F0E2D62}"/>
              </a:ext>
            </a:extLst>
          </p:cNvPr>
          <p:cNvCxnSpPr>
            <a:stCxn id="9" idx="2"/>
            <a:endCxn id="11" idx="0"/>
          </p:cNvCxnSpPr>
          <p:nvPr/>
        </p:nvCxnSpPr>
        <p:spPr bwMode="auto">
          <a:xfrm rot="10800000" flipV="1">
            <a:off x="1487490" y="4142983"/>
            <a:ext cx="360041" cy="942201"/>
          </a:xfrm>
          <a:prstGeom prst="bentConnector2">
            <a:avLst/>
          </a:prstGeom>
          <a:solidFill>
            <a:schemeClr val="accent1"/>
          </a:solidFill>
          <a:ln w="76200"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176028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8</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1" y="1704975"/>
            <a:ext cx="9433047" cy="1754326"/>
          </a:xfrm>
          <a:prstGeom prst="rect">
            <a:avLst/>
          </a:prstGeom>
          <a:noFill/>
        </p:spPr>
        <p:txBody>
          <a:bodyPr wrap="square">
            <a:spAutoFit/>
          </a:bodyPr>
          <a:lstStyle/>
          <a:p>
            <a:r>
              <a:rPr lang="en-US" b="1" dirty="0"/>
              <a:t>Classes of machine learning:</a:t>
            </a:r>
            <a:endParaRPr lang="en-US" dirty="0"/>
          </a:p>
          <a:p>
            <a:pPr marL="285750" indent="-285750">
              <a:buFont typeface="Wingdings" panose="05000000000000000000" pitchFamily="2" charset="2"/>
              <a:buChar char="q"/>
            </a:pPr>
            <a:r>
              <a:rPr lang="en-US" b="1" dirty="0"/>
              <a:t>Supervised learning</a:t>
            </a:r>
            <a:r>
              <a:rPr lang="en-US" dirty="0"/>
              <a:t>: is a machine learning approach where labeled datasets are available. These datasets are used to train (or supervise) the algorithms for predicting an outcome. The labeled inputs and outputs are therefore used for the model to learn over time, and metrics can be calculated to estimate how accurate the model is. Supervised learning can be further divided into classification and regression tasks.</a:t>
            </a:r>
          </a:p>
        </p:txBody>
      </p:sp>
      <p:sp>
        <p:nvSpPr>
          <p:cNvPr id="31" name="TextBox 30">
            <a:extLst>
              <a:ext uri="{FF2B5EF4-FFF2-40B4-BE49-F238E27FC236}">
                <a16:creationId xmlns:a16="http://schemas.microsoft.com/office/drawing/2014/main" id="{670C1EDB-4A54-92B0-10A4-B009D5A540D7}"/>
              </a:ext>
            </a:extLst>
          </p:cNvPr>
          <p:cNvSpPr txBox="1"/>
          <p:nvPr/>
        </p:nvSpPr>
        <p:spPr>
          <a:xfrm>
            <a:off x="6791724" y="6267742"/>
            <a:ext cx="6097384" cy="215444"/>
          </a:xfrm>
          <a:prstGeom prst="rect">
            <a:avLst/>
          </a:prstGeom>
          <a:noFill/>
        </p:spPr>
        <p:txBody>
          <a:bodyPr wrap="square">
            <a:spAutoFit/>
          </a:bodyPr>
          <a:lstStyle/>
          <a:p>
            <a:r>
              <a:rPr lang="da-DK" sz="800" dirty="0"/>
              <a:t>https://medium.datadriveninvestor.com/exploring-the-basics-of-supervised-learning-bfc18fe5ce72</a:t>
            </a:r>
          </a:p>
        </p:txBody>
      </p:sp>
      <p:grpSp>
        <p:nvGrpSpPr>
          <p:cNvPr id="33" name="Group 32">
            <a:extLst>
              <a:ext uri="{FF2B5EF4-FFF2-40B4-BE49-F238E27FC236}">
                <a16:creationId xmlns:a16="http://schemas.microsoft.com/office/drawing/2014/main" id="{7051B9C8-AFF1-FC57-B2DE-CD43183D24EB}"/>
              </a:ext>
            </a:extLst>
          </p:cNvPr>
          <p:cNvGrpSpPr/>
          <p:nvPr/>
        </p:nvGrpSpPr>
        <p:grpSpPr>
          <a:xfrm>
            <a:off x="3215680" y="3443695"/>
            <a:ext cx="6624736" cy="2825545"/>
            <a:chOff x="3574926" y="3712144"/>
            <a:chExt cx="6264696" cy="2497584"/>
          </a:xfrm>
        </p:grpSpPr>
        <p:pic>
          <p:nvPicPr>
            <p:cNvPr id="1026" name="Picture 2" descr="Illustration of a Supervised Learning model">
              <a:extLst>
                <a:ext uri="{FF2B5EF4-FFF2-40B4-BE49-F238E27FC236}">
                  <a16:creationId xmlns:a16="http://schemas.microsoft.com/office/drawing/2014/main" id="{750A7A28-BA46-508F-2574-29EDF489A0C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1432"/>
            <a:stretch/>
          </p:blipFill>
          <p:spPr bwMode="auto">
            <a:xfrm>
              <a:off x="3574926" y="3712144"/>
              <a:ext cx="6264696" cy="2497584"/>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1">
              <a:extLst>
                <a:ext uri="{FF2B5EF4-FFF2-40B4-BE49-F238E27FC236}">
                  <a16:creationId xmlns:a16="http://schemas.microsoft.com/office/drawing/2014/main" id="{36808CF4-0116-745E-5ACD-F54489327F6F}"/>
                </a:ext>
              </a:extLst>
            </p:cNvPr>
            <p:cNvSpPr/>
            <p:nvPr/>
          </p:nvSpPr>
          <p:spPr bwMode="auto">
            <a:xfrm>
              <a:off x="5590800" y="5661248"/>
              <a:ext cx="216374" cy="548480"/>
            </a:xfrm>
            <a:prstGeom prst="rect">
              <a:avLst/>
            </a:prstGeom>
            <a:solidFill>
              <a:srgbClr val="FFFFFF"/>
            </a:solidFill>
            <a:ln w="9525" cap="flat" cmpd="sng" algn="ctr">
              <a:solidFill>
                <a:srgbClr val="FFFFFF"/>
              </a:solid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fontAlgn="base">
                <a:spcBef>
                  <a:spcPts val="432"/>
                </a:spcBef>
                <a:spcAft>
                  <a:spcPct val="0"/>
                </a:spcAft>
              </a:pPr>
              <a:endParaRPr lang="da-DK" sz="1600" dirty="0" err="1">
                <a:solidFill>
                  <a:srgbClr val="FFFFFF"/>
                </a:solidFill>
                <a:ea typeface="ＭＳ Ｐゴシック" pitchFamily="-80" charset="-128"/>
              </a:endParaRPr>
            </a:p>
          </p:txBody>
        </p:sp>
      </p:grpSp>
    </p:spTree>
    <p:extLst>
      <p:ext uri="{BB962C8B-B14F-4D97-AF65-F5344CB8AC3E}">
        <p14:creationId xmlns:p14="http://schemas.microsoft.com/office/powerpoint/2010/main" val="537513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9</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1" y="1721639"/>
            <a:ext cx="9312373" cy="1477328"/>
          </a:xfrm>
          <a:prstGeom prst="rect">
            <a:avLst/>
          </a:prstGeom>
          <a:noFill/>
        </p:spPr>
        <p:txBody>
          <a:bodyPr wrap="square">
            <a:spAutoFit/>
          </a:bodyPr>
          <a:lstStyle/>
          <a:p>
            <a:r>
              <a:rPr lang="en-US" b="1" dirty="0"/>
              <a:t>Classes of machine learning:</a:t>
            </a:r>
          </a:p>
          <a:p>
            <a:pPr marL="285750" indent="-285750">
              <a:buFont typeface="Wingdings" panose="05000000000000000000" pitchFamily="2" charset="2"/>
              <a:buChar char="q"/>
            </a:pPr>
            <a:r>
              <a:rPr lang="en-US" b="1" dirty="0"/>
              <a:t>Unsupervised learning</a:t>
            </a:r>
            <a:r>
              <a:rPr lang="en-US" dirty="0"/>
              <a:t>: is a machine learning approach that uses algorithms to analyze or cluster unlabeled data. The algorithms are used to discover patterns in the data, without the need for human labeling (and are therefore "unsupervised")</a:t>
            </a:r>
          </a:p>
          <a:p>
            <a:endParaRPr lang="en-US" dirty="0"/>
          </a:p>
        </p:txBody>
      </p:sp>
      <p:grpSp>
        <p:nvGrpSpPr>
          <p:cNvPr id="6" name="Group 5">
            <a:extLst>
              <a:ext uri="{FF2B5EF4-FFF2-40B4-BE49-F238E27FC236}">
                <a16:creationId xmlns:a16="http://schemas.microsoft.com/office/drawing/2014/main" id="{30011F5A-ABB8-B9DB-64C2-90B477EB3122}"/>
              </a:ext>
            </a:extLst>
          </p:cNvPr>
          <p:cNvGrpSpPr/>
          <p:nvPr/>
        </p:nvGrpSpPr>
        <p:grpSpPr>
          <a:xfrm>
            <a:off x="2207568" y="3717033"/>
            <a:ext cx="8352928" cy="1832711"/>
            <a:chOff x="2062758" y="4149080"/>
            <a:chExt cx="7582385" cy="1400663"/>
          </a:xfrm>
        </p:grpSpPr>
        <p:pic>
          <p:nvPicPr>
            <p:cNvPr id="1026" name="Picture 2" descr="Illustration of a Supervised Learning model">
              <a:extLst>
                <a:ext uri="{FF2B5EF4-FFF2-40B4-BE49-F238E27FC236}">
                  <a16:creationId xmlns:a16="http://schemas.microsoft.com/office/drawing/2014/main" id="{750A7A28-BA46-508F-2574-29EDF489A0C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1496"/>
            <a:stretch/>
          </p:blipFill>
          <p:spPr bwMode="auto">
            <a:xfrm>
              <a:off x="2062758" y="4293096"/>
              <a:ext cx="7582385" cy="125664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E467A21C-4A53-D2D1-2698-16B938AF985D}"/>
                </a:ext>
              </a:extLst>
            </p:cNvPr>
            <p:cNvSpPr/>
            <p:nvPr/>
          </p:nvSpPr>
          <p:spPr bwMode="auto">
            <a:xfrm>
              <a:off x="6167214" y="4149080"/>
              <a:ext cx="3477929" cy="216024"/>
            </a:xfrm>
            <a:prstGeom prst="rect">
              <a:avLst/>
            </a:prstGeom>
            <a:solidFill>
              <a:srgbClr val="FFFFFF"/>
            </a:solidFill>
            <a:ln w="9525" cap="flat" cmpd="sng" algn="ctr">
              <a:solidFill>
                <a:srgbClr val="FFFFFF"/>
              </a:solid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fontAlgn="base">
                <a:spcBef>
                  <a:spcPts val="432"/>
                </a:spcBef>
                <a:spcAft>
                  <a:spcPct val="0"/>
                </a:spcAft>
              </a:pPr>
              <a:endParaRPr lang="da-DK" sz="1600" dirty="0" err="1">
                <a:solidFill>
                  <a:srgbClr val="FFFFFF"/>
                </a:solidFill>
                <a:ea typeface="ＭＳ Ｐゴシック" pitchFamily="-80" charset="-128"/>
              </a:endParaRPr>
            </a:p>
          </p:txBody>
        </p:sp>
        <p:sp>
          <p:nvSpPr>
            <p:cNvPr id="5" name="Rectangle 4">
              <a:extLst>
                <a:ext uri="{FF2B5EF4-FFF2-40B4-BE49-F238E27FC236}">
                  <a16:creationId xmlns:a16="http://schemas.microsoft.com/office/drawing/2014/main" id="{8077700D-92B6-4242-C33A-4D19A0874094}"/>
                </a:ext>
              </a:extLst>
            </p:cNvPr>
            <p:cNvSpPr/>
            <p:nvPr/>
          </p:nvSpPr>
          <p:spPr bwMode="auto">
            <a:xfrm>
              <a:off x="4511030" y="4221088"/>
              <a:ext cx="216024" cy="288032"/>
            </a:xfrm>
            <a:prstGeom prst="rect">
              <a:avLst/>
            </a:prstGeom>
            <a:solidFill>
              <a:srgbClr val="FFFFFF"/>
            </a:solidFill>
            <a:ln w="9525" cap="flat" cmpd="sng" algn="ctr">
              <a:solidFill>
                <a:srgbClr val="FFFFFF"/>
              </a:solid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fontAlgn="base">
                <a:spcBef>
                  <a:spcPts val="432"/>
                </a:spcBef>
                <a:spcAft>
                  <a:spcPct val="0"/>
                </a:spcAft>
              </a:pPr>
              <a:endParaRPr lang="da-DK" sz="1600" dirty="0" err="1">
                <a:solidFill>
                  <a:srgbClr val="FFFFFF"/>
                </a:solidFill>
                <a:ea typeface="ＭＳ Ｐゴシック" pitchFamily="-80" charset="-128"/>
              </a:endParaRPr>
            </a:p>
          </p:txBody>
        </p:sp>
      </p:grpSp>
    </p:spTree>
    <p:extLst>
      <p:ext uri="{BB962C8B-B14F-4D97-AF65-F5344CB8AC3E}">
        <p14:creationId xmlns:p14="http://schemas.microsoft.com/office/powerpoint/2010/main" val="571814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10</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2" y="1700514"/>
            <a:ext cx="9312373" cy="369332"/>
          </a:xfrm>
          <a:prstGeom prst="rect">
            <a:avLst/>
          </a:prstGeom>
          <a:noFill/>
        </p:spPr>
        <p:txBody>
          <a:bodyPr wrap="square">
            <a:spAutoFit/>
          </a:bodyPr>
          <a:lstStyle/>
          <a:p>
            <a:r>
              <a:rPr lang="en-US" b="1" dirty="0"/>
              <a:t>Supervised learning: classification vs regression</a:t>
            </a:r>
            <a:endParaRPr lang="en-US" dirty="0"/>
          </a:p>
        </p:txBody>
      </p:sp>
      <p:sp>
        <p:nvSpPr>
          <p:cNvPr id="5" name="TextBox 4">
            <a:extLst>
              <a:ext uri="{FF2B5EF4-FFF2-40B4-BE49-F238E27FC236}">
                <a16:creationId xmlns:a16="http://schemas.microsoft.com/office/drawing/2014/main" id="{BD4CCD67-6CC7-3C07-8B85-4073C9679A52}"/>
              </a:ext>
            </a:extLst>
          </p:cNvPr>
          <p:cNvSpPr txBox="1"/>
          <p:nvPr/>
        </p:nvSpPr>
        <p:spPr>
          <a:xfrm>
            <a:off x="7883502" y="6192758"/>
            <a:ext cx="3623742" cy="215444"/>
          </a:xfrm>
          <a:prstGeom prst="rect">
            <a:avLst/>
          </a:prstGeom>
          <a:noFill/>
        </p:spPr>
        <p:txBody>
          <a:bodyPr wrap="square">
            <a:spAutoFit/>
          </a:bodyPr>
          <a:lstStyle/>
          <a:p>
            <a:r>
              <a:rPr lang="da-DK" sz="800" dirty="0"/>
              <a:t>https://www.javatpoint.com/regression-vs-classification-in-machine-learning</a:t>
            </a:r>
          </a:p>
        </p:txBody>
      </p:sp>
      <p:pic>
        <p:nvPicPr>
          <p:cNvPr id="9" name="Picture 8">
            <a:extLst>
              <a:ext uri="{FF2B5EF4-FFF2-40B4-BE49-F238E27FC236}">
                <a16:creationId xmlns:a16="http://schemas.microsoft.com/office/drawing/2014/main" id="{C9765777-818D-2FEF-F58D-692CA40F3879}"/>
              </a:ext>
            </a:extLst>
          </p:cNvPr>
          <p:cNvPicPr>
            <a:picLocks noChangeAspect="1"/>
          </p:cNvPicPr>
          <p:nvPr/>
        </p:nvPicPr>
        <p:blipFill rotWithShape="1">
          <a:blip r:embed="rId3"/>
          <a:srcRect r="52174"/>
          <a:stretch/>
        </p:blipFill>
        <p:spPr>
          <a:xfrm>
            <a:off x="7947335" y="1924974"/>
            <a:ext cx="3168352" cy="3793028"/>
          </a:xfrm>
          <a:prstGeom prst="rect">
            <a:avLst/>
          </a:prstGeom>
        </p:spPr>
      </p:pic>
      <p:sp>
        <p:nvSpPr>
          <p:cNvPr id="12" name="TextBox 11">
            <a:extLst>
              <a:ext uri="{FF2B5EF4-FFF2-40B4-BE49-F238E27FC236}">
                <a16:creationId xmlns:a16="http://schemas.microsoft.com/office/drawing/2014/main" id="{9DDD18D8-9F00-BD6C-ABA6-6F690C2DEDC3}"/>
              </a:ext>
            </a:extLst>
          </p:cNvPr>
          <p:cNvSpPr txBox="1"/>
          <p:nvPr/>
        </p:nvSpPr>
        <p:spPr>
          <a:xfrm>
            <a:off x="1775520" y="2132857"/>
            <a:ext cx="4824536" cy="2031325"/>
          </a:xfrm>
          <a:prstGeom prst="rect">
            <a:avLst/>
          </a:prstGeom>
          <a:noFill/>
        </p:spPr>
        <p:txBody>
          <a:bodyPr wrap="square">
            <a:spAutoFit/>
          </a:bodyPr>
          <a:lstStyle/>
          <a:p>
            <a:r>
              <a:rPr lang="en-US" b="1" dirty="0">
                <a:solidFill>
                  <a:srgbClr val="333333"/>
                </a:solidFill>
                <a:highlight>
                  <a:srgbClr val="FFFFFF"/>
                </a:highlight>
                <a:ea typeface="Verdana" panose="020B0604030504040204" pitchFamily="34" charset="0"/>
              </a:rPr>
              <a:t>Classification</a:t>
            </a:r>
            <a:r>
              <a:rPr lang="en-US" dirty="0">
                <a:solidFill>
                  <a:srgbClr val="333333"/>
                </a:solidFill>
                <a:highlight>
                  <a:srgbClr val="FFFFFF"/>
                </a:highlight>
                <a:ea typeface="Verdana" panose="020B0604030504040204" pitchFamily="34" charset="0"/>
              </a:rPr>
              <a:t> is a process of finding a function that helps in dividing the dataset into classes based on different parameters. </a:t>
            </a:r>
          </a:p>
          <a:p>
            <a:r>
              <a:rPr lang="en-US" dirty="0">
                <a:solidFill>
                  <a:srgbClr val="333333"/>
                </a:solidFill>
                <a:highlight>
                  <a:srgbClr val="FFFFFF"/>
                </a:highlight>
                <a:ea typeface="Verdana" panose="020B0604030504040204" pitchFamily="34" charset="0"/>
              </a:rPr>
              <a:t>In </a:t>
            </a:r>
            <a:r>
              <a:rPr lang="en-US" b="1" dirty="0">
                <a:solidFill>
                  <a:srgbClr val="333333"/>
                </a:solidFill>
                <a:highlight>
                  <a:srgbClr val="FFFFFF"/>
                </a:highlight>
                <a:ea typeface="Verdana" panose="020B0604030504040204" pitchFamily="34" charset="0"/>
              </a:rPr>
              <a:t>Classification</a:t>
            </a:r>
            <a:r>
              <a:rPr lang="en-US" dirty="0">
                <a:solidFill>
                  <a:srgbClr val="333333"/>
                </a:solidFill>
                <a:highlight>
                  <a:srgbClr val="FFFFFF"/>
                </a:highlight>
                <a:ea typeface="Verdana" panose="020B0604030504040204" pitchFamily="34" charset="0"/>
              </a:rPr>
              <a:t>, a computer program is trained on the training dataset and based on that training, it categorizes the data into different classes.</a:t>
            </a:r>
            <a:endParaRPr lang="da-DK" dirty="0">
              <a:ea typeface="Verdana" panose="020B0604030504040204" pitchFamily="34" charset="0"/>
            </a:endParaRPr>
          </a:p>
        </p:txBody>
      </p:sp>
    </p:spTree>
    <p:extLst>
      <p:ext uri="{BB962C8B-B14F-4D97-AF65-F5344CB8AC3E}">
        <p14:creationId xmlns:p14="http://schemas.microsoft.com/office/powerpoint/2010/main" val="2274891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11</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1" y="1715415"/>
            <a:ext cx="9312373" cy="369332"/>
          </a:xfrm>
          <a:prstGeom prst="rect">
            <a:avLst/>
          </a:prstGeom>
          <a:noFill/>
        </p:spPr>
        <p:txBody>
          <a:bodyPr wrap="square">
            <a:spAutoFit/>
          </a:bodyPr>
          <a:lstStyle/>
          <a:p>
            <a:r>
              <a:rPr lang="en-US" b="1" dirty="0"/>
              <a:t>Algorithms for classification</a:t>
            </a:r>
            <a:endParaRPr lang="en-US" dirty="0"/>
          </a:p>
        </p:txBody>
      </p:sp>
      <p:pic>
        <p:nvPicPr>
          <p:cNvPr id="10" name="Picture 9">
            <a:extLst>
              <a:ext uri="{FF2B5EF4-FFF2-40B4-BE49-F238E27FC236}">
                <a16:creationId xmlns:a16="http://schemas.microsoft.com/office/drawing/2014/main" id="{FF284236-F3DA-747C-3B79-EE8BADEA3BD9}"/>
              </a:ext>
            </a:extLst>
          </p:cNvPr>
          <p:cNvPicPr>
            <a:picLocks noChangeAspect="1"/>
          </p:cNvPicPr>
          <p:nvPr/>
        </p:nvPicPr>
        <p:blipFill rotWithShape="1">
          <a:blip r:embed="rId3"/>
          <a:srcRect l="49275"/>
          <a:stretch/>
        </p:blipFill>
        <p:spPr>
          <a:xfrm>
            <a:off x="11208568" y="260649"/>
            <a:ext cx="792088" cy="894071"/>
          </a:xfrm>
          <a:prstGeom prst="rect">
            <a:avLst/>
          </a:prstGeom>
        </p:spPr>
      </p:pic>
      <p:pic>
        <p:nvPicPr>
          <p:cNvPr id="3" name="Picture 2">
            <a:extLst>
              <a:ext uri="{FF2B5EF4-FFF2-40B4-BE49-F238E27FC236}">
                <a16:creationId xmlns:a16="http://schemas.microsoft.com/office/drawing/2014/main" id="{C3207B65-6D96-2CDB-8509-8B3DF52FD4FA}"/>
              </a:ext>
            </a:extLst>
          </p:cNvPr>
          <p:cNvPicPr>
            <a:picLocks noChangeAspect="1"/>
          </p:cNvPicPr>
          <p:nvPr/>
        </p:nvPicPr>
        <p:blipFill rotWithShape="1">
          <a:blip r:embed="rId3"/>
          <a:srcRect r="52174"/>
          <a:stretch/>
        </p:blipFill>
        <p:spPr>
          <a:xfrm>
            <a:off x="11185937" y="260649"/>
            <a:ext cx="792088" cy="948257"/>
          </a:xfrm>
          <a:prstGeom prst="rect">
            <a:avLst/>
          </a:prstGeom>
        </p:spPr>
      </p:pic>
      <p:pic>
        <p:nvPicPr>
          <p:cNvPr id="5" name="Picture 2" descr="A Friendly Introduction to [Deep] Neural Networks | KNIME">
            <a:extLst>
              <a:ext uri="{FF2B5EF4-FFF2-40B4-BE49-F238E27FC236}">
                <a16:creationId xmlns:a16="http://schemas.microsoft.com/office/drawing/2014/main" id="{EFBA273E-54E9-B242-6B53-D23EC400144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63620" y="2452055"/>
            <a:ext cx="3240360" cy="243873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2786F08-9C39-E8DF-F25F-452293A84854}"/>
              </a:ext>
            </a:extLst>
          </p:cNvPr>
          <p:cNvSpPr txBox="1"/>
          <p:nvPr/>
        </p:nvSpPr>
        <p:spPr>
          <a:xfrm>
            <a:off x="8256240" y="2067707"/>
            <a:ext cx="2123402" cy="276999"/>
          </a:xfrm>
          <a:prstGeom prst="rect">
            <a:avLst/>
          </a:prstGeom>
          <a:noFill/>
        </p:spPr>
        <p:txBody>
          <a:bodyPr wrap="none" lIns="0" tIns="0" rIns="0" bIns="0" rtlCol="0">
            <a:spAutoFit/>
          </a:bodyPr>
          <a:lstStyle/>
          <a:p>
            <a:pPr>
              <a:spcBef>
                <a:spcPts val="432"/>
              </a:spcBef>
            </a:pPr>
            <a:r>
              <a:rPr lang="da-DK" dirty="0">
                <a:effectLst>
                  <a:outerShdw blurRad="38100" dist="38100" dir="2700000" algn="tl">
                    <a:srgbClr val="000000">
                      <a:alpha val="43137"/>
                    </a:srgbClr>
                  </a:outerShdw>
                </a:effectLst>
              </a:rPr>
              <a:t>Deep Neural Networks</a:t>
            </a:r>
          </a:p>
        </p:txBody>
      </p:sp>
      <p:sp>
        <p:nvSpPr>
          <p:cNvPr id="8" name="TextBox 7">
            <a:extLst>
              <a:ext uri="{FF2B5EF4-FFF2-40B4-BE49-F238E27FC236}">
                <a16:creationId xmlns:a16="http://schemas.microsoft.com/office/drawing/2014/main" id="{A45740B5-6F67-A090-04C3-7528253A82EC}"/>
              </a:ext>
            </a:extLst>
          </p:cNvPr>
          <p:cNvSpPr txBox="1"/>
          <p:nvPr/>
        </p:nvSpPr>
        <p:spPr>
          <a:xfrm>
            <a:off x="7367116" y="5075502"/>
            <a:ext cx="3833371" cy="1077218"/>
          </a:xfrm>
          <a:prstGeom prst="rect">
            <a:avLst/>
          </a:prstGeom>
          <a:noFill/>
        </p:spPr>
        <p:txBody>
          <a:bodyPr wrap="square">
            <a:spAutoFit/>
          </a:bodyPr>
          <a:lstStyle/>
          <a:p>
            <a:r>
              <a:rPr lang="en-US" sz="1600" b="1" dirty="0">
                <a:solidFill>
                  <a:srgbClr val="000000"/>
                </a:solidFill>
              </a:rPr>
              <a:t>Principle</a:t>
            </a:r>
            <a:r>
              <a:rPr lang="en-US" sz="1600" dirty="0">
                <a:solidFill>
                  <a:srgbClr val="000000"/>
                </a:solidFill>
              </a:rPr>
              <a:t>: calculate the gradient of </a:t>
            </a:r>
            <a:r>
              <a:rPr lang="en-US" sz="1600" dirty="0">
                <a:solidFill>
                  <a:srgbClr val="C10000"/>
                </a:solidFill>
              </a:rPr>
              <a:t>loss function </a:t>
            </a:r>
            <a:r>
              <a:rPr lang="en-US" sz="1600" dirty="0">
                <a:solidFill>
                  <a:srgbClr val="000000"/>
                </a:solidFill>
              </a:rPr>
              <a:t>with respect to the </a:t>
            </a:r>
            <a:r>
              <a:rPr lang="en-US" sz="1600" i="1" dirty="0">
                <a:solidFill>
                  <a:srgbClr val="000000"/>
                </a:solidFill>
              </a:rPr>
              <a:t>weights </a:t>
            </a:r>
            <a:r>
              <a:rPr lang="en-US" sz="1600" dirty="0">
                <a:solidFill>
                  <a:srgbClr val="000000"/>
                </a:solidFill>
              </a:rPr>
              <a:t>and </a:t>
            </a:r>
            <a:r>
              <a:rPr lang="en-US" sz="1600" i="1" dirty="0">
                <a:solidFill>
                  <a:srgbClr val="000000"/>
                </a:solidFill>
              </a:rPr>
              <a:t>biases</a:t>
            </a:r>
            <a:r>
              <a:rPr lang="en-US" sz="1600" dirty="0">
                <a:solidFill>
                  <a:srgbClr val="000000"/>
                </a:solidFill>
              </a:rPr>
              <a:t>, and adjust the weights and biases accordingly by backpropagating the error.</a:t>
            </a:r>
            <a:endParaRPr lang="da-DK" dirty="0"/>
          </a:p>
        </p:txBody>
      </p:sp>
      <p:sp>
        <p:nvSpPr>
          <p:cNvPr id="9" name="TextBox 8">
            <a:extLst>
              <a:ext uri="{FF2B5EF4-FFF2-40B4-BE49-F238E27FC236}">
                <a16:creationId xmlns:a16="http://schemas.microsoft.com/office/drawing/2014/main" id="{6BB560D4-BD5B-9BD7-B3E1-8C7FB86592EA}"/>
              </a:ext>
            </a:extLst>
          </p:cNvPr>
          <p:cNvSpPr txBox="1"/>
          <p:nvPr/>
        </p:nvSpPr>
        <p:spPr>
          <a:xfrm>
            <a:off x="3359696" y="2067707"/>
            <a:ext cx="1232902" cy="276999"/>
          </a:xfrm>
          <a:prstGeom prst="rect">
            <a:avLst/>
          </a:prstGeom>
          <a:noFill/>
        </p:spPr>
        <p:txBody>
          <a:bodyPr wrap="none" lIns="0" tIns="0" rIns="0" bIns="0" rtlCol="0">
            <a:spAutoFit/>
          </a:bodyPr>
          <a:lstStyle/>
          <a:p>
            <a:pPr>
              <a:spcBef>
                <a:spcPts val="432"/>
              </a:spcBef>
            </a:pPr>
            <a:r>
              <a:rPr lang="da-DK" dirty="0">
                <a:effectLst>
                  <a:outerShdw blurRad="38100" dist="38100" dir="2700000" algn="tl">
                    <a:srgbClr val="000000">
                      <a:alpha val="43137"/>
                    </a:srgbClr>
                  </a:outerShdw>
                </a:effectLst>
              </a:rPr>
              <a:t>Decision </a:t>
            </a:r>
            <a:r>
              <a:rPr lang="da-DK" dirty="0" err="1">
                <a:effectLst>
                  <a:outerShdw blurRad="38100" dist="38100" dir="2700000" algn="tl">
                    <a:srgbClr val="000000">
                      <a:alpha val="43137"/>
                    </a:srgbClr>
                  </a:outerShdw>
                </a:effectLst>
              </a:rPr>
              <a:t>tree</a:t>
            </a:r>
            <a:endParaRPr lang="da-DK" dirty="0">
              <a:effectLst>
                <a:outerShdw blurRad="38100" dist="38100" dir="2700000" algn="tl">
                  <a:srgbClr val="000000">
                    <a:alpha val="43137"/>
                  </a:srgbClr>
                </a:outerShdw>
              </a:effectLst>
            </a:endParaRPr>
          </a:p>
        </p:txBody>
      </p:sp>
      <p:pic>
        <p:nvPicPr>
          <p:cNvPr id="3076" name="Picture 4" descr="1 Regression and Classification Trees | Machine Learning for Biostatistics">
            <a:extLst>
              <a:ext uri="{FF2B5EF4-FFF2-40B4-BE49-F238E27FC236}">
                <a16:creationId xmlns:a16="http://schemas.microsoft.com/office/drawing/2014/main" id="{84044B3D-D90D-A19C-5A10-7545EB2F6C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8585" y="2453750"/>
            <a:ext cx="2656401" cy="230425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042688C-7854-E89D-DAC7-A70192DF54F0}"/>
              </a:ext>
            </a:extLst>
          </p:cNvPr>
          <p:cNvSpPr txBox="1"/>
          <p:nvPr/>
        </p:nvSpPr>
        <p:spPr>
          <a:xfrm>
            <a:off x="1775902" y="4829281"/>
            <a:ext cx="5040178" cy="1569660"/>
          </a:xfrm>
          <a:prstGeom prst="rect">
            <a:avLst/>
          </a:prstGeom>
          <a:noFill/>
        </p:spPr>
        <p:txBody>
          <a:bodyPr wrap="square">
            <a:spAutoFit/>
          </a:bodyPr>
          <a:lstStyle/>
          <a:p>
            <a:r>
              <a:rPr lang="en-US" sz="1600" dirty="0">
                <a:solidFill>
                  <a:srgbClr val="000000"/>
                </a:solidFill>
              </a:rPr>
              <a:t>Trees (DTs) are a non-parametric supervised learning method used for classification and regression. The goal is to create a model that predicts the value of a target variable by learning simple decision rules inferred from the data features. A tree can be seen as a piecewise constant approximation.</a:t>
            </a:r>
            <a:endParaRPr lang="da-DK" dirty="0"/>
          </a:p>
        </p:txBody>
      </p:sp>
    </p:spTree>
    <p:extLst>
      <p:ext uri="{BB962C8B-B14F-4D97-AF65-F5344CB8AC3E}">
        <p14:creationId xmlns:p14="http://schemas.microsoft.com/office/powerpoint/2010/main" val="2128124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12</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2" y="1709136"/>
            <a:ext cx="9312373" cy="369332"/>
          </a:xfrm>
          <a:prstGeom prst="rect">
            <a:avLst/>
          </a:prstGeom>
          <a:noFill/>
        </p:spPr>
        <p:txBody>
          <a:bodyPr wrap="square">
            <a:spAutoFit/>
          </a:bodyPr>
          <a:lstStyle/>
          <a:p>
            <a:r>
              <a:rPr lang="en-US" b="1" dirty="0"/>
              <a:t>Algorithms for classification</a:t>
            </a:r>
            <a:endParaRPr lang="en-US" dirty="0"/>
          </a:p>
        </p:txBody>
      </p:sp>
      <p:pic>
        <p:nvPicPr>
          <p:cNvPr id="10" name="Picture 9">
            <a:extLst>
              <a:ext uri="{FF2B5EF4-FFF2-40B4-BE49-F238E27FC236}">
                <a16:creationId xmlns:a16="http://schemas.microsoft.com/office/drawing/2014/main" id="{FF284236-F3DA-747C-3B79-EE8BADEA3BD9}"/>
              </a:ext>
            </a:extLst>
          </p:cNvPr>
          <p:cNvPicPr>
            <a:picLocks noChangeAspect="1"/>
          </p:cNvPicPr>
          <p:nvPr/>
        </p:nvPicPr>
        <p:blipFill rotWithShape="1">
          <a:blip r:embed="rId3"/>
          <a:srcRect l="49275"/>
          <a:stretch/>
        </p:blipFill>
        <p:spPr>
          <a:xfrm>
            <a:off x="11208568" y="260649"/>
            <a:ext cx="792088" cy="894071"/>
          </a:xfrm>
          <a:prstGeom prst="rect">
            <a:avLst/>
          </a:prstGeom>
        </p:spPr>
      </p:pic>
      <p:pic>
        <p:nvPicPr>
          <p:cNvPr id="3" name="Picture 2">
            <a:extLst>
              <a:ext uri="{FF2B5EF4-FFF2-40B4-BE49-F238E27FC236}">
                <a16:creationId xmlns:a16="http://schemas.microsoft.com/office/drawing/2014/main" id="{C3207B65-6D96-2CDB-8509-8B3DF52FD4FA}"/>
              </a:ext>
            </a:extLst>
          </p:cNvPr>
          <p:cNvPicPr>
            <a:picLocks noChangeAspect="1"/>
          </p:cNvPicPr>
          <p:nvPr/>
        </p:nvPicPr>
        <p:blipFill rotWithShape="1">
          <a:blip r:embed="rId3"/>
          <a:srcRect r="52174"/>
          <a:stretch/>
        </p:blipFill>
        <p:spPr>
          <a:xfrm>
            <a:off x="11185937" y="260649"/>
            <a:ext cx="792088" cy="948257"/>
          </a:xfrm>
          <a:prstGeom prst="rect">
            <a:avLst/>
          </a:prstGeom>
        </p:spPr>
      </p:pic>
      <p:sp>
        <p:nvSpPr>
          <p:cNvPr id="6" name="TextBox 5">
            <a:extLst>
              <a:ext uri="{FF2B5EF4-FFF2-40B4-BE49-F238E27FC236}">
                <a16:creationId xmlns:a16="http://schemas.microsoft.com/office/drawing/2014/main" id="{E2786F08-9C39-E8DF-F25F-452293A84854}"/>
              </a:ext>
            </a:extLst>
          </p:cNvPr>
          <p:cNvSpPr txBox="1"/>
          <p:nvPr/>
        </p:nvSpPr>
        <p:spPr>
          <a:xfrm>
            <a:off x="2703910" y="2060849"/>
            <a:ext cx="2506071" cy="276999"/>
          </a:xfrm>
          <a:prstGeom prst="rect">
            <a:avLst/>
          </a:prstGeom>
          <a:noFill/>
        </p:spPr>
        <p:txBody>
          <a:bodyPr wrap="none" lIns="0" tIns="0" rIns="0" bIns="0" rtlCol="0">
            <a:spAutoFit/>
          </a:bodyPr>
          <a:lstStyle/>
          <a:p>
            <a:pPr>
              <a:spcBef>
                <a:spcPts val="432"/>
              </a:spcBef>
            </a:pPr>
            <a:r>
              <a:rPr lang="en-US" dirty="0">
                <a:effectLst>
                  <a:outerShdw blurRad="38100" dist="38100" dir="2700000" algn="tl">
                    <a:srgbClr val="000000">
                      <a:alpha val="43137"/>
                    </a:srgbClr>
                  </a:outerShdw>
                </a:effectLst>
              </a:rPr>
              <a:t>Logistic</a:t>
            </a:r>
            <a:r>
              <a:rPr lang="da-DK" dirty="0">
                <a:effectLst>
                  <a:outerShdw blurRad="38100" dist="38100" dir="2700000" algn="tl">
                    <a:srgbClr val="000000">
                      <a:alpha val="43137"/>
                    </a:srgbClr>
                  </a:outerShdw>
                </a:effectLst>
              </a:rPr>
              <a:t> regression (</a:t>
            </a:r>
            <a:r>
              <a:rPr lang="en-US" dirty="0">
                <a:effectLst>
                  <a:outerShdw blurRad="38100" dist="38100" dir="2700000" algn="tl">
                    <a:srgbClr val="000000">
                      <a:alpha val="43137"/>
                    </a:srgbClr>
                  </a:outerShdw>
                </a:effectLst>
              </a:rPr>
              <a:t>binary</a:t>
            </a:r>
            <a:r>
              <a:rPr lang="da-DK" dirty="0">
                <a:effectLst>
                  <a:outerShdw blurRad="38100" dist="38100" dir="2700000" algn="tl">
                    <a:srgbClr val="000000">
                      <a:alpha val="43137"/>
                    </a:srgbClr>
                  </a:outerShdw>
                </a:effectLst>
              </a:rPr>
              <a:t>)</a:t>
            </a:r>
          </a:p>
        </p:txBody>
      </p:sp>
      <p:sp>
        <p:nvSpPr>
          <p:cNvPr id="8" name="TextBox 7">
            <a:extLst>
              <a:ext uri="{FF2B5EF4-FFF2-40B4-BE49-F238E27FC236}">
                <a16:creationId xmlns:a16="http://schemas.microsoft.com/office/drawing/2014/main" id="{A45740B5-6F67-A090-04C3-7528253A82EC}"/>
              </a:ext>
            </a:extLst>
          </p:cNvPr>
          <p:cNvSpPr txBox="1"/>
          <p:nvPr/>
        </p:nvSpPr>
        <p:spPr>
          <a:xfrm>
            <a:off x="1774032" y="4493932"/>
            <a:ext cx="4321968" cy="1815882"/>
          </a:xfrm>
          <a:prstGeom prst="rect">
            <a:avLst/>
          </a:prstGeom>
          <a:noFill/>
        </p:spPr>
        <p:txBody>
          <a:bodyPr wrap="square">
            <a:spAutoFit/>
          </a:bodyPr>
          <a:lstStyle/>
          <a:p>
            <a:r>
              <a:rPr lang="en-US" sz="1600" dirty="0">
                <a:solidFill>
                  <a:srgbClr val="000000"/>
                </a:solidFill>
              </a:rPr>
              <a:t>A linear model for classification rather than regression. The logistic regression is also known in the literature as logit regression, maximum-entropy classification (</a:t>
            </a:r>
            <a:r>
              <a:rPr lang="en-US" sz="1600" dirty="0" err="1">
                <a:solidFill>
                  <a:srgbClr val="000000"/>
                </a:solidFill>
              </a:rPr>
              <a:t>MaxEnt</a:t>
            </a:r>
            <a:r>
              <a:rPr lang="en-US" sz="1600" dirty="0">
                <a:solidFill>
                  <a:srgbClr val="000000"/>
                </a:solidFill>
              </a:rPr>
              <a:t>) or the log-linear classifier. In this model, the probabilities describing the possible outcomes of a single trial are modeled using a logistic function.</a:t>
            </a:r>
            <a:endParaRPr lang="da-DK" dirty="0"/>
          </a:p>
        </p:txBody>
      </p:sp>
      <p:sp>
        <p:nvSpPr>
          <p:cNvPr id="9" name="TextBox 8">
            <a:extLst>
              <a:ext uri="{FF2B5EF4-FFF2-40B4-BE49-F238E27FC236}">
                <a16:creationId xmlns:a16="http://schemas.microsoft.com/office/drawing/2014/main" id="{6BB560D4-BD5B-9BD7-B3E1-8C7FB86592EA}"/>
              </a:ext>
            </a:extLst>
          </p:cNvPr>
          <p:cNvSpPr txBox="1"/>
          <p:nvPr/>
        </p:nvSpPr>
        <p:spPr>
          <a:xfrm>
            <a:off x="8159552" y="2060849"/>
            <a:ext cx="1878784" cy="276999"/>
          </a:xfrm>
          <a:prstGeom prst="rect">
            <a:avLst/>
          </a:prstGeom>
          <a:noFill/>
        </p:spPr>
        <p:txBody>
          <a:bodyPr wrap="none" lIns="0" tIns="0" rIns="0" bIns="0" rtlCol="0">
            <a:spAutoFit/>
          </a:bodyPr>
          <a:lstStyle/>
          <a:p>
            <a:pPr>
              <a:spcBef>
                <a:spcPts val="432"/>
              </a:spcBef>
            </a:pPr>
            <a:r>
              <a:rPr lang="da-DK" dirty="0">
                <a:effectLst>
                  <a:outerShdw blurRad="38100" dist="38100" dir="2700000" algn="tl">
                    <a:srgbClr val="000000">
                      <a:alpha val="43137"/>
                    </a:srgbClr>
                  </a:outerShdw>
                </a:effectLst>
              </a:rPr>
              <a:t>K-nearest </a:t>
            </a:r>
            <a:r>
              <a:rPr lang="en-US" dirty="0">
                <a:effectLst>
                  <a:outerShdw blurRad="38100" dist="38100" dir="2700000" algn="tl">
                    <a:srgbClr val="000000">
                      <a:alpha val="43137"/>
                    </a:srgbClr>
                  </a:outerShdw>
                </a:effectLst>
              </a:rPr>
              <a:t>neighbors</a:t>
            </a:r>
          </a:p>
        </p:txBody>
      </p:sp>
      <p:sp>
        <p:nvSpPr>
          <p:cNvPr id="11" name="TextBox 10">
            <a:extLst>
              <a:ext uri="{FF2B5EF4-FFF2-40B4-BE49-F238E27FC236}">
                <a16:creationId xmlns:a16="http://schemas.microsoft.com/office/drawing/2014/main" id="{C042688C-7854-E89D-DAC7-A70192DF54F0}"/>
              </a:ext>
            </a:extLst>
          </p:cNvPr>
          <p:cNvSpPr txBox="1"/>
          <p:nvPr/>
        </p:nvSpPr>
        <p:spPr>
          <a:xfrm>
            <a:off x="7080927" y="4508034"/>
            <a:ext cx="4010020" cy="1600438"/>
          </a:xfrm>
          <a:prstGeom prst="rect">
            <a:avLst/>
          </a:prstGeom>
          <a:noFill/>
        </p:spPr>
        <p:txBody>
          <a:bodyPr wrap="square">
            <a:spAutoFit/>
          </a:bodyPr>
          <a:lstStyle/>
          <a:p>
            <a:r>
              <a:rPr lang="en-US" dirty="0">
                <a:solidFill>
                  <a:srgbClr val="000000"/>
                </a:solidFill>
              </a:rPr>
              <a:t>A</a:t>
            </a:r>
            <a:r>
              <a:rPr lang="en-US" sz="1600" dirty="0">
                <a:solidFill>
                  <a:srgbClr val="000000"/>
                </a:solidFill>
              </a:rPr>
              <a:t> non-parametric, supervised learning classifier, which uses proximity to make classifications or predictions about the grouping of an individual data point. The KNN algorithm works based on the idea that similar things are closer to each other. </a:t>
            </a:r>
            <a:endParaRPr lang="da-DK" dirty="0"/>
          </a:p>
        </p:txBody>
      </p:sp>
      <p:pic>
        <p:nvPicPr>
          <p:cNvPr id="19458" name="Picture 2" descr="Logistic Regression">
            <a:extLst>
              <a:ext uri="{FF2B5EF4-FFF2-40B4-BE49-F238E27FC236}">
                <a16:creationId xmlns:a16="http://schemas.microsoft.com/office/drawing/2014/main" id="{774F6562-4257-74D1-6612-BEC1FDF49D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4032" y="2418223"/>
            <a:ext cx="3896314" cy="208804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DC31D96F-50C4-7D70-245B-AC8D59522FF6}"/>
              </a:ext>
            </a:extLst>
          </p:cNvPr>
          <p:cNvPicPr>
            <a:picLocks noChangeAspect="1"/>
          </p:cNvPicPr>
          <p:nvPr/>
        </p:nvPicPr>
        <p:blipFill rotWithShape="1">
          <a:blip r:embed="rId5"/>
          <a:srcRect t="16745"/>
          <a:stretch/>
        </p:blipFill>
        <p:spPr>
          <a:xfrm>
            <a:off x="7673273" y="2307069"/>
            <a:ext cx="2819221" cy="2058980"/>
          </a:xfrm>
          <a:prstGeom prst="rect">
            <a:avLst/>
          </a:prstGeom>
        </p:spPr>
      </p:pic>
    </p:spTree>
    <p:extLst>
      <p:ext uri="{BB962C8B-B14F-4D97-AF65-F5344CB8AC3E}">
        <p14:creationId xmlns:p14="http://schemas.microsoft.com/office/powerpoint/2010/main" val="1659257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13</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86491" y="1704976"/>
            <a:ext cx="9312373" cy="2585323"/>
          </a:xfrm>
          <a:prstGeom prst="rect">
            <a:avLst/>
          </a:prstGeom>
          <a:noFill/>
        </p:spPr>
        <p:txBody>
          <a:bodyPr wrap="square">
            <a:spAutoFit/>
          </a:bodyPr>
          <a:lstStyle/>
          <a:p>
            <a:r>
              <a:rPr lang="en-US" b="1" dirty="0"/>
              <a:t>Algorithms for classification – Python</a:t>
            </a:r>
          </a:p>
          <a:p>
            <a:pPr marL="285750" indent="-285750">
              <a:buFont typeface="Wingdings" panose="05000000000000000000" pitchFamily="2" charset="2"/>
              <a:buChar char="q"/>
            </a:pPr>
            <a:r>
              <a:rPr lang="en-US" dirty="0"/>
              <a:t>There are many tools developed in Python that allow for ML generic modeling</a:t>
            </a:r>
          </a:p>
          <a:p>
            <a:pPr marL="742950" lvl="1" indent="-285750">
              <a:buFont typeface="Wingdings" panose="05000000000000000000" pitchFamily="2" charset="2"/>
              <a:buChar char="q"/>
            </a:pPr>
            <a:r>
              <a:rPr lang="en-US" dirty="0"/>
              <a:t>Scikit-learn: </a:t>
            </a:r>
            <a:r>
              <a:rPr lang="en-US" dirty="0">
                <a:hlinkClick r:id="rId3"/>
              </a:rPr>
              <a:t>https://scikit-learn.org/stable/</a:t>
            </a:r>
            <a:r>
              <a:rPr lang="en-US" dirty="0"/>
              <a:t> </a:t>
            </a:r>
          </a:p>
          <a:p>
            <a:pPr marL="742950" lvl="1" indent="-285750">
              <a:buFont typeface="Wingdings" panose="05000000000000000000" pitchFamily="2" charset="2"/>
              <a:buChar char="q"/>
            </a:pPr>
            <a:r>
              <a:rPr lang="en-US" dirty="0"/>
              <a:t>Pytorch: </a:t>
            </a:r>
            <a:r>
              <a:rPr lang="en-US" dirty="0">
                <a:hlinkClick r:id="rId4"/>
              </a:rPr>
              <a:t>https://pytorch.org/</a:t>
            </a:r>
            <a:r>
              <a:rPr lang="en-US" dirty="0"/>
              <a:t> </a:t>
            </a:r>
          </a:p>
          <a:p>
            <a:pPr marL="742950" lvl="1" indent="-285750">
              <a:buFont typeface="Wingdings" panose="05000000000000000000" pitchFamily="2" charset="2"/>
              <a:buChar char="q"/>
            </a:pPr>
            <a:r>
              <a:rPr lang="en-US" dirty="0"/>
              <a:t>TensorFlow: </a:t>
            </a:r>
            <a:r>
              <a:rPr lang="en-US" dirty="0">
                <a:hlinkClick r:id="rId5"/>
              </a:rPr>
              <a:t>https://www.tensorflow.org/</a:t>
            </a:r>
            <a:r>
              <a:rPr lang="en-US" dirty="0"/>
              <a:t> </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Some packages are very specialized</a:t>
            </a:r>
          </a:p>
          <a:p>
            <a:pPr marL="742950" lvl="1" indent="-285750">
              <a:buFont typeface="Wingdings" panose="05000000000000000000" pitchFamily="2" charset="2"/>
              <a:buChar char="q"/>
            </a:pPr>
            <a:r>
              <a:rPr lang="en-US" dirty="0"/>
              <a:t>Pyro (probabilistic ML): </a:t>
            </a:r>
            <a:r>
              <a:rPr lang="en-US" dirty="0">
                <a:hlinkClick r:id="rId6"/>
              </a:rPr>
              <a:t>https://pyro.ai/</a:t>
            </a:r>
            <a:r>
              <a:rPr lang="en-US" dirty="0"/>
              <a:t> </a:t>
            </a:r>
          </a:p>
          <a:p>
            <a:pPr marL="742950" lvl="1" indent="-285750">
              <a:buFont typeface="Wingdings" panose="05000000000000000000" pitchFamily="2" charset="2"/>
              <a:buChar char="q"/>
            </a:pPr>
            <a:r>
              <a:rPr lang="en-US" dirty="0" err="1"/>
              <a:t>GPyTorch</a:t>
            </a:r>
            <a:r>
              <a:rPr lang="en-US" dirty="0"/>
              <a:t> (Gaussian processes): </a:t>
            </a:r>
            <a:r>
              <a:rPr lang="en-US" dirty="0">
                <a:hlinkClick r:id="rId7"/>
              </a:rPr>
              <a:t>https://gpytorch.ai/</a:t>
            </a:r>
            <a:r>
              <a:rPr lang="en-US" dirty="0"/>
              <a:t> </a:t>
            </a:r>
          </a:p>
        </p:txBody>
      </p:sp>
      <p:pic>
        <p:nvPicPr>
          <p:cNvPr id="2052" name="Picture 4">
            <a:extLst>
              <a:ext uri="{FF2B5EF4-FFF2-40B4-BE49-F238E27FC236}">
                <a16:creationId xmlns:a16="http://schemas.microsoft.com/office/drawing/2014/main" id="{95F64B57-2E40-080F-C290-FAE214AFAE4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456457" y="2390441"/>
            <a:ext cx="1258317" cy="67725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B8EB0354-89E5-3476-4794-B449F4F00BC4}"/>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268666" y="4045012"/>
            <a:ext cx="1718404" cy="4263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TensorFlow">
            <a:extLst>
              <a:ext uri="{FF2B5EF4-FFF2-40B4-BE49-F238E27FC236}">
                <a16:creationId xmlns:a16="http://schemas.microsoft.com/office/drawing/2014/main" id="{FD61CCBE-49ED-A154-EAE4-967EADBEEBA0}"/>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639" t="21888" r="19977" b="21609"/>
          <a:stretch/>
        </p:blipFill>
        <p:spPr bwMode="auto">
          <a:xfrm>
            <a:off x="9502263" y="5229200"/>
            <a:ext cx="1585631" cy="848634"/>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Modeling Censored Time-to-Event Data Using Pyro, an Open ...">
            <a:extLst>
              <a:ext uri="{FF2B5EF4-FFF2-40B4-BE49-F238E27FC236}">
                <a16:creationId xmlns:a16="http://schemas.microsoft.com/office/drawing/2014/main" id="{DB020E56-C23D-A7DE-22F3-21F7D8AD3750}"/>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30075" t="12997" r="31535" b="11938"/>
          <a:stretch/>
        </p:blipFill>
        <p:spPr bwMode="auto">
          <a:xfrm>
            <a:off x="3359697" y="5040892"/>
            <a:ext cx="1284187" cy="1412445"/>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GPyTorch">
            <a:extLst>
              <a:ext uri="{FF2B5EF4-FFF2-40B4-BE49-F238E27FC236}">
                <a16:creationId xmlns:a16="http://schemas.microsoft.com/office/drawing/2014/main" id="{1F12979D-6297-4E0E-494F-503F7B2F513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91594" y="4952578"/>
            <a:ext cx="1428750" cy="142875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8D969EA-987B-97E0-44C6-24814BA33D85}"/>
              </a:ext>
            </a:extLst>
          </p:cNvPr>
          <p:cNvPicPr>
            <a:picLocks noChangeAspect="1"/>
          </p:cNvPicPr>
          <p:nvPr/>
        </p:nvPicPr>
        <p:blipFill rotWithShape="1">
          <a:blip r:embed="rId13"/>
          <a:srcRect r="52174"/>
          <a:stretch/>
        </p:blipFill>
        <p:spPr>
          <a:xfrm>
            <a:off x="11185937" y="260649"/>
            <a:ext cx="792088" cy="948257"/>
          </a:xfrm>
          <a:prstGeom prst="rect">
            <a:avLst/>
          </a:prstGeom>
        </p:spPr>
      </p:pic>
    </p:spTree>
    <p:extLst>
      <p:ext uri="{BB962C8B-B14F-4D97-AF65-F5344CB8AC3E}">
        <p14:creationId xmlns:p14="http://schemas.microsoft.com/office/powerpoint/2010/main" val="1254848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475D2B7-77C0-571A-4944-707DAD017646}"/>
              </a:ext>
            </a:extLst>
          </p:cNvPr>
          <p:cNvPicPr>
            <a:picLocks noChangeAspect="1"/>
          </p:cNvPicPr>
          <p:nvPr/>
        </p:nvPicPr>
        <p:blipFill>
          <a:blip r:embed="rId3"/>
          <a:stretch>
            <a:fillRect/>
          </a:stretch>
        </p:blipFill>
        <p:spPr>
          <a:xfrm>
            <a:off x="8643124" y="1721275"/>
            <a:ext cx="2443469" cy="4293096"/>
          </a:xfrm>
          <a:prstGeom prst="rect">
            <a:avLst/>
          </a:prstGeom>
        </p:spPr>
      </p:pic>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14</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3306" y="1704975"/>
            <a:ext cx="5474823" cy="3970318"/>
          </a:xfrm>
          <a:prstGeom prst="rect">
            <a:avLst/>
          </a:prstGeom>
          <a:noFill/>
        </p:spPr>
        <p:txBody>
          <a:bodyPr wrap="square">
            <a:spAutoFit/>
          </a:bodyPr>
          <a:lstStyle/>
          <a:p>
            <a:r>
              <a:rPr lang="en-US" b="1" dirty="0"/>
              <a:t>Algorithms for classification – Python – Scikit-learn</a:t>
            </a:r>
          </a:p>
          <a:p>
            <a:pPr marL="285750" indent="-285750">
              <a:buFont typeface="Wingdings" panose="05000000000000000000" pitchFamily="2" charset="2"/>
              <a:buChar char="q"/>
            </a:pPr>
            <a:r>
              <a:rPr lang="en-US" dirty="0"/>
              <a:t>One of the most versatile toolboxes available in Python and offers a wide range of pre-implemented algorithms.</a:t>
            </a:r>
          </a:p>
          <a:p>
            <a:pPr marL="742950" lvl="1" indent="-285750">
              <a:buFont typeface="Wingdings" panose="05000000000000000000" pitchFamily="2" charset="2"/>
              <a:buChar char="q"/>
            </a:pPr>
            <a:r>
              <a:rPr lang="en-US" dirty="0"/>
              <a:t>Gradient boosting</a:t>
            </a:r>
          </a:p>
          <a:p>
            <a:pPr marL="742950" lvl="1" indent="-285750">
              <a:buFont typeface="Wingdings" panose="05000000000000000000" pitchFamily="2" charset="2"/>
              <a:buChar char="q"/>
            </a:pPr>
            <a:r>
              <a:rPr lang="en-US" dirty="0"/>
              <a:t>Linear and Quadratic Discriminant Analysis</a:t>
            </a:r>
          </a:p>
          <a:p>
            <a:pPr marL="742950" lvl="1" indent="-285750">
              <a:buFont typeface="Wingdings" panose="05000000000000000000" pitchFamily="2" charset="2"/>
              <a:buChar char="q"/>
            </a:pPr>
            <a:r>
              <a:rPr lang="en-US" dirty="0"/>
              <a:t>Support vector machine</a:t>
            </a:r>
          </a:p>
          <a:p>
            <a:pPr marL="742950" lvl="1" indent="-285750">
              <a:buFont typeface="Wingdings" panose="05000000000000000000" pitchFamily="2" charset="2"/>
              <a:buChar char="q"/>
            </a:pPr>
            <a:r>
              <a:rPr lang="en-US" dirty="0"/>
              <a:t>Bayesian ridge classification</a:t>
            </a:r>
          </a:p>
          <a:p>
            <a:pPr marL="742950" lvl="1" indent="-285750">
              <a:buFont typeface="Wingdings" panose="05000000000000000000" pitchFamily="2" charset="2"/>
              <a:buChar char="q"/>
            </a:pPr>
            <a:r>
              <a:rPr lang="en-US" dirty="0"/>
              <a:t>Logistic regression - classifier</a:t>
            </a:r>
          </a:p>
          <a:p>
            <a:pPr marL="742950" lvl="1" indent="-285750">
              <a:buFont typeface="Wingdings" panose="05000000000000000000" pitchFamily="2" charset="2"/>
              <a:buChar char="q"/>
            </a:pPr>
            <a:r>
              <a:rPr lang="en-US" dirty="0"/>
              <a:t>Nearest </a:t>
            </a:r>
            <a:r>
              <a:rPr lang="en-US" dirty="0" err="1"/>
              <a:t>neighbours</a:t>
            </a:r>
            <a:endParaRPr lang="en-US" dirty="0"/>
          </a:p>
          <a:p>
            <a:pPr marL="742950" lvl="1" indent="-285750">
              <a:buFont typeface="Wingdings" panose="05000000000000000000" pitchFamily="2" charset="2"/>
              <a:buChar char="q"/>
            </a:pPr>
            <a:r>
              <a:rPr lang="en-US" dirty="0"/>
              <a:t>Gaussian processes</a:t>
            </a:r>
          </a:p>
          <a:p>
            <a:pPr marL="742950" lvl="1" indent="-285750">
              <a:buFont typeface="Wingdings" panose="05000000000000000000" pitchFamily="2" charset="2"/>
              <a:buChar char="q"/>
            </a:pPr>
            <a:r>
              <a:rPr lang="en-US" dirty="0"/>
              <a:t>Decision trees</a:t>
            </a:r>
          </a:p>
          <a:p>
            <a:pPr marL="742950" lvl="1" indent="-285750">
              <a:buFont typeface="Wingdings" panose="05000000000000000000" pitchFamily="2" charset="2"/>
              <a:buChar char="q"/>
            </a:pPr>
            <a:r>
              <a:rPr lang="en-US" dirty="0"/>
              <a:t>Neural Networks</a:t>
            </a:r>
          </a:p>
          <a:p>
            <a:pPr marL="742950" lvl="1" indent="-285750">
              <a:buFont typeface="Wingdings" panose="05000000000000000000" pitchFamily="2" charset="2"/>
              <a:buChar char="q"/>
            </a:pPr>
            <a:r>
              <a:rPr lang="en-US" dirty="0" err="1"/>
              <a:t>Etc</a:t>
            </a:r>
            <a:r>
              <a:rPr lang="en-US" dirty="0"/>
              <a:t>,</a:t>
            </a:r>
          </a:p>
        </p:txBody>
      </p:sp>
      <p:pic>
        <p:nvPicPr>
          <p:cNvPr id="2052" name="Picture 4">
            <a:extLst>
              <a:ext uri="{FF2B5EF4-FFF2-40B4-BE49-F238E27FC236}">
                <a16:creationId xmlns:a16="http://schemas.microsoft.com/office/drawing/2014/main" id="{95F64B57-2E40-080F-C290-FAE214AFAE4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3529" y="5063873"/>
            <a:ext cx="1661159" cy="8940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FD38450-16BF-595B-CD40-BAE68829552E}"/>
              </a:ext>
            </a:extLst>
          </p:cNvPr>
          <p:cNvSpPr txBox="1"/>
          <p:nvPr/>
        </p:nvSpPr>
        <p:spPr>
          <a:xfrm>
            <a:off x="9145561" y="6307879"/>
            <a:ext cx="2832465" cy="215444"/>
          </a:xfrm>
          <a:prstGeom prst="rect">
            <a:avLst/>
          </a:prstGeom>
          <a:noFill/>
        </p:spPr>
        <p:txBody>
          <a:bodyPr wrap="square">
            <a:spAutoFit/>
          </a:bodyPr>
          <a:lstStyle/>
          <a:p>
            <a:r>
              <a:rPr lang="da-DK" sz="800" dirty="0"/>
              <a:t>https://scikit-learn.org/stable/supervised_learning.html</a:t>
            </a:r>
          </a:p>
        </p:txBody>
      </p:sp>
      <p:pic>
        <p:nvPicPr>
          <p:cNvPr id="3" name="Picture 2">
            <a:extLst>
              <a:ext uri="{FF2B5EF4-FFF2-40B4-BE49-F238E27FC236}">
                <a16:creationId xmlns:a16="http://schemas.microsoft.com/office/drawing/2014/main" id="{B8317478-5CF3-E563-2147-50E6F6F6B284}"/>
              </a:ext>
            </a:extLst>
          </p:cNvPr>
          <p:cNvPicPr>
            <a:picLocks noChangeAspect="1"/>
          </p:cNvPicPr>
          <p:nvPr/>
        </p:nvPicPr>
        <p:blipFill rotWithShape="1">
          <a:blip r:embed="rId5"/>
          <a:srcRect r="52174"/>
          <a:stretch/>
        </p:blipFill>
        <p:spPr>
          <a:xfrm>
            <a:off x="11185937" y="260649"/>
            <a:ext cx="792088" cy="948257"/>
          </a:xfrm>
          <a:prstGeom prst="rect">
            <a:avLst/>
          </a:prstGeom>
        </p:spPr>
      </p:pic>
    </p:spTree>
    <p:extLst>
      <p:ext uri="{BB962C8B-B14F-4D97-AF65-F5344CB8AC3E}">
        <p14:creationId xmlns:p14="http://schemas.microsoft.com/office/powerpoint/2010/main" val="1480148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15</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2" y="1729956"/>
            <a:ext cx="9312373" cy="369332"/>
          </a:xfrm>
          <a:prstGeom prst="rect">
            <a:avLst/>
          </a:prstGeom>
          <a:noFill/>
        </p:spPr>
        <p:txBody>
          <a:bodyPr wrap="square">
            <a:spAutoFit/>
          </a:bodyPr>
          <a:lstStyle/>
          <a:p>
            <a:r>
              <a:rPr lang="en-US" b="1" dirty="0"/>
              <a:t>Supervised learning: classification vs regression</a:t>
            </a:r>
            <a:endParaRPr lang="en-US" dirty="0"/>
          </a:p>
        </p:txBody>
      </p:sp>
      <p:sp>
        <p:nvSpPr>
          <p:cNvPr id="5" name="TextBox 4">
            <a:extLst>
              <a:ext uri="{FF2B5EF4-FFF2-40B4-BE49-F238E27FC236}">
                <a16:creationId xmlns:a16="http://schemas.microsoft.com/office/drawing/2014/main" id="{BD4CCD67-6CC7-3C07-8B85-4073C9679A52}"/>
              </a:ext>
            </a:extLst>
          </p:cNvPr>
          <p:cNvSpPr txBox="1"/>
          <p:nvPr/>
        </p:nvSpPr>
        <p:spPr>
          <a:xfrm>
            <a:off x="7883504" y="5937661"/>
            <a:ext cx="3623741" cy="215444"/>
          </a:xfrm>
          <a:prstGeom prst="rect">
            <a:avLst/>
          </a:prstGeom>
          <a:noFill/>
        </p:spPr>
        <p:txBody>
          <a:bodyPr wrap="square">
            <a:spAutoFit/>
          </a:bodyPr>
          <a:lstStyle/>
          <a:p>
            <a:r>
              <a:rPr lang="da-DK" sz="800" dirty="0"/>
              <a:t>https://www.javatpoint.com/regression-vs-classification-in-machine-learning</a:t>
            </a:r>
          </a:p>
        </p:txBody>
      </p:sp>
      <p:pic>
        <p:nvPicPr>
          <p:cNvPr id="10" name="Picture 9">
            <a:extLst>
              <a:ext uri="{FF2B5EF4-FFF2-40B4-BE49-F238E27FC236}">
                <a16:creationId xmlns:a16="http://schemas.microsoft.com/office/drawing/2014/main" id="{FF284236-F3DA-747C-3B79-EE8BADEA3BD9}"/>
              </a:ext>
            </a:extLst>
          </p:cNvPr>
          <p:cNvPicPr>
            <a:picLocks noChangeAspect="1"/>
          </p:cNvPicPr>
          <p:nvPr/>
        </p:nvPicPr>
        <p:blipFill rotWithShape="1">
          <a:blip r:embed="rId3"/>
          <a:srcRect l="49275"/>
          <a:stretch/>
        </p:blipFill>
        <p:spPr>
          <a:xfrm>
            <a:off x="7752184" y="1954573"/>
            <a:ext cx="3456384" cy="3901401"/>
          </a:xfrm>
          <a:prstGeom prst="rect">
            <a:avLst/>
          </a:prstGeom>
        </p:spPr>
      </p:pic>
      <p:sp>
        <p:nvSpPr>
          <p:cNvPr id="12" name="TextBox 11">
            <a:extLst>
              <a:ext uri="{FF2B5EF4-FFF2-40B4-BE49-F238E27FC236}">
                <a16:creationId xmlns:a16="http://schemas.microsoft.com/office/drawing/2014/main" id="{9DDD18D8-9F00-BD6C-ABA6-6F690C2DEDC3}"/>
              </a:ext>
            </a:extLst>
          </p:cNvPr>
          <p:cNvSpPr txBox="1"/>
          <p:nvPr/>
        </p:nvSpPr>
        <p:spPr>
          <a:xfrm>
            <a:off x="1774033" y="2116890"/>
            <a:ext cx="4826024" cy="2585323"/>
          </a:xfrm>
          <a:prstGeom prst="rect">
            <a:avLst/>
          </a:prstGeom>
          <a:noFill/>
        </p:spPr>
        <p:txBody>
          <a:bodyPr wrap="square">
            <a:spAutoFit/>
          </a:bodyPr>
          <a:lstStyle/>
          <a:p>
            <a:r>
              <a:rPr lang="en-US" b="1" dirty="0">
                <a:solidFill>
                  <a:srgbClr val="333333"/>
                </a:solidFill>
                <a:highlight>
                  <a:srgbClr val="FFFFFF"/>
                </a:highlight>
                <a:ea typeface="Verdana" panose="020B0604030504040204" pitchFamily="34" charset="0"/>
              </a:rPr>
              <a:t>Regression</a:t>
            </a:r>
            <a:r>
              <a:rPr lang="en-US" dirty="0">
                <a:solidFill>
                  <a:srgbClr val="333333"/>
                </a:solidFill>
                <a:highlight>
                  <a:srgbClr val="FFFFFF"/>
                </a:highlight>
                <a:ea typeface="Verdana" panose="020B0604030504040204" pitchFamily="34" charset="0"/>
              </a:rPr>
              <a:t> is a process of finding the correlations between dependent and independent variables. It helps in predicting continuous variables such as prediction of </a:t>
            </a:r>
            <a:r>
              <a:rPr lang="en-US" b="1" dirty="0">
                <a:solidFill>
                  <a:srgbClr val="333333"/>
                </a:solidFill>
                <a:highlight>
                  <a:srgbClr val="FFFFFF"/>
                </a:highlight>
                <a:ea typeface="Verdana" panose="020B0604030504040204" pitchFamily="34" charset="0"/>
              </a:rPr>
              <a:t>Market Trends</a:t>
            </a:r>
            <a:r>
              <a:rPr lang="en-US" dirty="0">
                <a:solidFill>
                  <a:srgbClr val="333333"/>
                </a:solidFill>
                <a:highlight>
                  <a:srgbClr val="FFFFFF"/>
                </a:highlight>
                <a:ea typeface="Verdana" panose="020B0604030504040204" pitchFamily="34" charset="0"/>
              </a:rPr>
              <a:t>, prediction of House prices, process yields, etc.</a:t>
            </a:r>
          </a:p>
          <a:p>
            <a:r>
              <a:rPr lang="en-US" dirty="0">
                <a:solidFill>
                  <a:srgbClr val="333333"/>
                </a:solidFill>
                <a:highlight>
                  <a:srgbClr val="FFFFFF"/>
                </a:highlight>
                <a:ea typeface="Verdana" panose="020B0604030504040204" pitchFamily="34" charset="0"/>
              </a:rPr>
              <a:t>In </a:t>
            </a:r>
            <a:r>
              <a:rPr lang="en-US" b="1" dirty="0">
                <a:solidFill>
                  <a:srgbClr val="333333"/>
                </a:solidFill>
                <a:highlight>
                  <a:srgbClr val="FFFFFF"/>
                </a:highlight>
                <a:ea typeface="Verdana" panose="020B0604030504040204" pitchFamily="34" charset="0"/>
              </a:rPr>
              <a:t>regression</a:t>
            </a:r>
            <a:r>
              <a:rPr lang="en-US" dirty="0">
                <a:solidFill>
                  <a:srgbClr val="333333"/>
                </a:solidFill>
                <a:highlight>
                  <a:srgbClr val="FFFFFF"/>
                </a:highlight>
                <a:ea typeface="Verdana" panose="020B0604030504040204" pitchFamily="34" charset="0"/>
              </a:rPr>
              <a:t>, a computer program is trained on the training dataset and based on that training, it aims to extrapolate to unseen events present in the validation or test data</a:t>
            </a:r>
            <a:endParaRPr lang="da-DK" dirty="0">
              <a:ea typeface="Verdana" panose="020B0604030504040204" pitchFamily="34" charset="0"/>
            </a:endParaRPr>
          </a:p>
        </p:txBody>
      </p:sp>
    </p:spTree>
    <p:extLst>
      <p:ext uri="{BB962C8B-B14F-4D97-AF65-F5344CB8AC3E}">
        <p14:creationId xmlns:p14="http://schemas.microsoft.com/office/powerpoint/2010/main" val="2714627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16</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1" y="1721073"/>
            <a:ext cx="9312373" cy="646331"/>
          </a:xfrm>
          <a:prstGeom prst="rect">
            <a:avLst/>
          </a:prstGeom>
          <a:noFill/>
        </p:spPr>
        <p:txBody>
          <a:bodyPr wrap="square">
            <a:spAutoFit/>
          </a:bodyPr>
          <a:lstStyle/>
          <a:p>
            <a:r>
              <a:rPr lang="en-US" b="1" dirty="0"/>
              <a:t>Algorithms for regression: examples</a:t>
            </a:r>
          </a:p>
          <a:p>
            <a:pPr marL="285750" indent="-285750">
              <a:buFont typeface="Wingdings" panose="05000000000000000000" pitchFamily="2" charset="2"/>
              <a:buChar char="q"/>
            </a:pPr>
            <a:endParaRPr lang="en-US" dirty="0"/>
          </a:p>
        </p:txBody>
      </p:sp>
      <p:pic>
        <p:nvPicPr>
          <p:cNvPr id="10" name="Picture 9">
            <a:extLst>
              <a:ext uri="{FF2B5EF4-FFF2-40B4-BE49-F238E27FC236}">
                <a16:creationId xmlns:a16="http://schemas.microsoft.com/office/drawing/2014/main" id="{FF284236-F3DA-747C-3B79-EE8BADEA3BD9}"/>
              </a:ext>
            </a:extLst>
          </p:cNvPr>
          <p:cNvPicPr>
            <a:picLocks noChangeAspect="1"/>
          </p:cNvPicPr>
          <p:nvPr/>
        </p:nvPicPr>
        <p:blipFill rotWithShape="1">
          <a:blip r:embed="rId3"/>
          <a:srcRect l="49275"/>
          <a:stretch/>
        </p:blipFill>
        <p:spPr>
          <a:xfrm>
            <a:off x="11208568" y="260649"/>
            <a:ext cx="792088" cy="894071"/>
          </a:xfrm>
          <a:prstGeom prst="rect">
            <a:avLst/>
          </a:prstGeom>
        </p:spPr>
      </p:pic>
      <p:pic>
        <p:nvPicPr>
          <p:cNvPr id="4098" name="Picture 2" descr="A Friendly Introduction to [Deep] Neural Networks | KNIME">
            <a:extLst>
              <a:ext uri="{FF2B5EF4-FFF2-40B4-BE49-F238E27FC236}">
                <a16:creationId xmlns:a16="http://schemas.microsoft.com/office/drawing/2014/main" id="{105CA925-0E6F-68D2-A299-F2F7F47BADA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83949" y="2492419"/>
            <a:ext cx="3240360" cy="243873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3B988A4-A1E9-9038-0FC3-E5F466173E9E}"/>
              </a:ext>
            </a:extLst>
          </p:cNvPr>
          <p:cNvSpPr txBox="1"/>
          <p:nvPr/>
        </p:nvSpPr>
        <p:spPr>
          <a:xfrm>
            <a:off x="7305651" y="6287887"/>
            <a:ext cx="6098874" cy="215444"/>
          </a:xfrm>
          <a:prstGeom prst="rect">
            <a:avLst/>
          </a:prstGeom>
          <a:noFill/>
        </p:spPr>
        <p:txBody>
          <a:bodyPr wrap="square">
            <a:spAutoFit/>
          </a:bodyPr>
          <a:lstStyle/>
          <a:p>
            <a:r>
              <a:rPr lang="da-DK" sz="800" dirty="0"/>
              <a:t>https://www.knime.com/blog/a-friendly-introduction-to-deep-neural-networks</a:t>
            </a:r>
          </a:p>
        </p:txBody>
      </p:sp>
      <p:sp>
        <p:nvSpPr>
          <p:cNvPr id="8" name="TextBox 7">
            <a:extLst>
              <a:ext uri="{FF2B5EF4-FFF2-40B4-BE49-F238E27FC236}">
                <a16:creationId xmlns:a16="http://schemas.microsoft.com/office/drawing/2014/main" id="{AE3A35C6-0B8F-6989-CBC0-5D73F2B9158D}"/>
              </a:ext>
            </a:extLst>
          </p:cNvPr>
          <p:cNvSpPr txBox="1"/>
          <p:nvPr/>
        </p:nvSpPr>
        <p:spPr>
          <a:xfrm>
            <a:off x="8112224" y="2119277"/>
            <a:ext cx="2123402" cy="276999"/>
          </a:xfrm>
          <a:prstGeom prst="rect">
            <a:avLst/>
          </a:prstGeom>
          <a:noFill/>
        </p:spPr>
        <p:txBody>
          <a:bodyPr wrap="none" lIns="0" tIns="0" rIns="0" bIns="0" rtlCol="0">
            <a:spAutoFit/>
          </a:bodyPr>
          <a:lstStyle/>
          <a:p>
            <a:pPr>
              <a:spcBef>
                <a:spcPts val="432"/>
              </a:spcBef>
            </a:pPr>
            <a:r>
              <a:rPr lang="da-DK" dirty="0">
                <a:effectLst>
                  <a:outerShdw blurRad="38100" dist="38100" dir="2700000" algn="tl">
                    <a:srgbClr val="000000">
                      <a:alpha val="43137"/>
                    </a:srgbClr>
                  </a:outerShdw>
                </a:effectLst>
              </a:rPr>
              <a:t>Deep Neural Networks</a:t>
            </a:r>
          </a:p>
        </p:txBody>
      </p:sp>
      <p:sp>
        <p:nvSpPr>
          <p:cNvPr id="11" name="TextBox 10">
            <a:extLst>
              <a:ext uri="{FF2B5EF4-FFF2-40B4-BE49-F238E27FC236}">
                <a16:creationId xmlns:a16="http://schemas.microsoft.com/office/drawing/2014/main" id="{E46F2064-4A7F-C86F-5397-4DCC2D810630}"/>
              </a:ext>
            </a:extLst>
          </p:cNvPr>
          <p:cNvSpPr txBox="1"/>
          <p:nvPr/>
        </p:nvSpPr>
        <p:spPr>
          <a:xfrm>
            <a:off x="7305652" y="5124774"/>
            <a:ext cx="3996955" cy="1077218"/>
          </a:xfrm>
          <a:prstGeom prst="rect">
            <a:avLst/>
          </a:prstGeom>
          <a:noFill/>
        </p:spPr>
        <p:txBody>
          <a:bodyPr wrap="square">
            <a:spAutoFit/>
          </a:bodyPr>
          <a:lstStyle/>
          <a:p>
            <a:r>
              <a:rPr lang="en-US" sz="1600" b="1" dirty="0">
                <a:solidFill>
                  <a:srgbClr val="000000"/>
                </a:solidFill>
              </a:rPr>
              <a:t>Principle</a:t>
            </a:r>
            <a:r>
              <a:rPr lang="en-US" sz="1600" dirty="0">
                <a:solidFill>
                  <a:srgbClr val="000000"/>
                </a:solidFill>
              </a:rPr>
              <a:t>: calculate the gradient of </a:t>
            </a:r>
            <a:r>
              <a:rPr lang="en-US" sz="1600" dirty="0">
                <a:solidFill>
                  <a:srgbClr val="C10000"/>
                </a:solidFill>
              </a:rPr>
              <a:t>loss function </a:t>
            </a:r>
            <a:r>
              <a:rPr lang="en-US" sz="1600" dirty="0">
                <a:solidFill>
                  <a:srgbClr val="000000"/>
                </a:solidFill>
              </a:rPr>
              <a:t>with respect to the </a:t>
            </a:r>
            <a:r>
              <a:rPr lang="en-US" sz="1600" i="1" dirty="0">
                <a:solidFill>
                  <a:srgbClr val="000000"/>
                </a:solidFill>
              </a:rPr>
              <a:t>weights </a:t>
            </a:r>
            <a:r>
              <a:rPr lang="en-US" sz="1600" dirty="0">
                <a:solidFill>
                  <a:srgbClr val="000000"/>
                </a:solidFill>
              </a:rPr>
              <a:t>and </a:t>
            </a:r>
            <a:r>
              <a:rPr lang="en-US" sz="1600" i="1" dirty="0">
                <a:solidFill>
                  <a:srgbClr val="000000"/>
                </a:solidFill>
              </a:rPr>
              <a:t>biases</a:t>
            </a:r>
            <a:r>
              <a:rPr lang="en-US" sz="1600" dirty="0">
                <a:solidFill>
                  <a:srgbClr val="000000"/>
                </a:solidFill>
              </a:rPr>
              <a:t>, and adjust the weights and biases accordingly by backpropagating the error</a:t>
            </a:r>
            <a:endParaRPr lang="da-DK" dirty="0"/>
          </a:p>
        </p:txBody>
      </p:sp>
      <p:pic>
        <p:nvPicPr>
          <p:cNvPr id="4100" name="Picture 4">
            <a:extLst>
              <a:ext uri="{FF2B5EF4-FFF2-40B4-BE49-F238E27FC236}">
                <a16:creationId xmlns:a16="http://schemas.microsoft.com/office/drawing/2014/main" id="{0861E056-2E8A-22F0-CFFB-A5DC8A39766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4978"/>
          <a:stretch/>
        </p:blipFill>
        <p:spPr bwMode="auto">
          <a:xfrm>
            <a:off x="1559497" y="2364857"/>
            <a:ext cx="3816085" cy="271958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A810D66F-3BE1-DE62-CCAF-80F20CDB628E}"/>
              </a:ext>
            </a:extLst>
          </p:cNvPr>
          <p:cNvSpPr txBox="1"/>
          <p:nvPr/>
        </p:nvSpPr>
        <p:spPr>
          <a:xfrm>
            <a:off x="2646800" y="2058959"/>
            <a:ext cx="1608902" cy="276999"/>
          </a:xfrm>
          <a:prstGeom prst="rect">
            <a:avLst/>
          </a:prstGeom>
          <a:noFill/>
        </p:spPr>
        <p:txBody>
          <a:bodyPr wrap="none" lIns="0" tIns="0" rIns="0" bIns="0" rtlCol="0">
            <a:spAutoFit/>
          </a:bodyPr>
          <a:lstStyle/>
          <a:p>
            <a:pPr>
              <a:spcBef>
                <a:spcPts val="432"/>
              </a:spcBef>
            </a:pPr>
            <a:r>
              <a:rPr lang="en-US" dirty="0">
                <a:effectLst>
                  <a:outerShdw blurRad="38100" dist="38100" dir="2700000" algn="tl">
                    <a:srgbClr val="000000">
                      <a:alpha val="43137"/>
                    </a:srgbClr>
                  </a:outerShdw>
                </a:effectLst>
              </a:rPr>
              <a:t>Gaussian</a:t>
            </a:r>
            <a:r>
              <a:rPr lang="da-DK" dirty="0">
                <a:effectLst>
                  <a:outerShdw blurRad="38100" dist="38100" dir="2700000" algn="tl">
                    <a:srgbClr val="000000">
                      <a:alpha val="43137"/>
                    </a:srgbClr>
                  </a:outerShdw>
                </a:effectLst>
              </a:rPr>
              <a:t> </a:t>
            </a:r>
            <a:r>
              <a:rPr lang="en-US" dirty="0">
                <a:effectLst>
                  <a:outerShdw blurRad="38100" dist="38100" dir="2700000" algn="tl">
                    <a:srgbClr val="000000">
                      <a:alpha val="43137"/>
                    </a:srgbClr>
                  </a:outerShdw>
                </a:effectLst>
              </a:rPr>
              <a:t>process</a:t>
            </a:r>
          </a:p>
        </p:txBody>
      </p:sp>
      <p:sp>
        <p:nvSpPr>
          <p:cNvPr id="16" name="TextBox 15">
            <a:extLst>
              <a:ext uri="{FF2B5EF4-FFF2-40B4-BE49-F238E27FC236}">
                <a16:creationId xmlns:a16="http://schemas.microsoft.com/office/drawing/2014/main" id="{37F3CF98-4DAE-A940-EE77-4F85E9E121A7}"/>
              </a:ext>
            </a:extLst>
          </p:cNvPr>
          <p:cNvSpPr txBox="1"/>
          <p:nvPr/>
        </p:nvSpPr>
        <p:spPr>
          <a:xfrm>
            <a:off x="1775520" y="5015261"/>
            <a:ext cx="4392489" cy="1569660"/>
          </a:xfrm>
          <a:prstGeom prst="rect">
            <a:avLst/>
          </a:prstGeom>
          <a:noFill/>
        </p:spPr>
        <p:txBody>
          <a:bodyPr wrap="square">
            <a:spAutoFit/>
          </a:bodyPr>
          <a:lstStyle/>
          <a:p>
            <a:r>
              <a:rPr lang="en-US" sz="1600" dirty="0">
                <a:solidFill>
                  <a:srgbClr val="000000"/>
                </a:solidFill>
              </a:rPr>
              <a:t>For this, </a:t>
            </a:r>
            <a:r>
              <a:rPr lang="en-US" sz="1600" dirty="0">
                <a:solidFill>
                  <a:srgbClr val="FF0000"/>
                </a:solidFill>
              </a:rPr>
              <a:t>the prior </a:t>
            </a:r>
            <a:r>
              <a:rPr lang="en-US" sz="1600" dirty="0">
                <a:solidFill>
                  <a:srgbClr val="000000"/>
                </a:solidFill>
              </a:rPr>
              <a:t>of the GP needs to be specified. GP will combine this </a:t>
            </a:r>
            <a:r>
              <a:rPr lang="en-US" sz="1600" dirty="0">
                <a:solidFill>
                  <a:srgbClr val="FF0000"/>
                </a:solidFill>
              </a:rPr>
              <a:t>prior</a:t>
            </a:r>
            <a:r>
              <a:rPr lang="en-US" sz="1600" dirty="0">
                <a:solidFill>
                  <a:srgbClr val="000000"/>
                </a:solidFill>
              </a:rPr>
              <a:t> and the </a:t>
            </a:r>
            <a:r>
              <a:rPr lang="en-US" sz="1600" dirty="0">
                <a:solidFill>
                  <a:srgbClr val="FF0000"/>
                </a:solidFill>
              </a:rPr>
              <a:t>likelihood function </a:t>
            </a:r>
            <a:r>
              <a:rPr lang="en-US" sz="1600" dirty="0">
                <a:solidFill>
                  <a:srgbClr val="000000"/>
                </a:solidFill>
              </a:rPr>
              <a:t>based on training samples. It allows to give </a:t>
            </a:r>
            <a:r>
              <a:rPr lang="en-US" sz="1600" dirty="0">
                <a:solidFill>
                  <a:srgbClr val="FF0000"/>
                </a:solidFill>
              </a:rPr>
              <a:t>a probabilistic </a:t>
            </a:r>
            <a:r>
              <a:rPr lang="en-US" sz="1600" dirty="0">
                <a:solidFill>
                  <a:srgbClr val="000000"/>
                </a:solidFill>
              </a:rPr>
              <a:t>approach to prediction by giving the mean and standard deviation as output when predicting</a:t>
            </a:r>
          </a:p>
        </p:txBody>
      </p:sp>
    </p:spTree>
    <p:extLst>
      <p:ext uri="{BB962C8B-B14F-4D97-AF65-F5344CB8AC3E}">
        <p14:creationId xmlns:p14="http://schemas.microsoft.com/office/powerpoint/2010/main" val="4246888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17</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4033" y="1704976"/>
            <a:ext cx="9312373" cy="2585323"/>
          </a:xfrm>
          <a:prstGeom prst="rect">
            <a:avLst/>
          </a:prstGeom>
          <a:noFill/>
        </p:spPr>
        <p:txBody>
          <a:bodyPr wrap="square">
            <a:spAutoFit/>
          </a:bodyPr>
          <a:lstStyle/>
          <a:p>
            <a:r>
              <a:rPr lang="en-US" b="1" dirty="0"/>
              <a:t>Algorithms for regression – Python</a:t>
            </a:r>
          </a:p>
          <a:p>
            <a:pPr marL="285750" indent="-285750">
              <a:buFont typeface="Wingdings" panose="05000000000000000000" pitchFamily="2" charset="2"/>
              <a:buChar char="q"/>
            </a:pPr>
            <a:r>
              <a:rPr lang="en-US" dirty="0"/>
              <a:t>There are many tools developed in Python that allow for ML generic modeling</a:t>
            </a:r>
          </a:p>
          <a:p>
            <a:pPr marL="742950" lvl="1" indent="-285750">
              <a:buFont typeface="Wingdings" panose="05000000000000000000" pitchFamily="2" charset="2"/>
              <a:buChar char="q"/>
            </a:pPr>
            <a:r>
              <a:rPr lang="en-US" dirty="0"/>
              <a:t>Scikit-learn: </a:t>
            </a:r>
            <a:r>
              <a:rPr lang="en-US" dirty="0">
                <a:hlinkClick r:id="rId3"/>
              </a:rPr>
              <a:t>https://scikit-learn.org/stable/</a:t>
            </a:r>
            <a:r>
              <a:rPr lang="en-US" dirty="0"/>
              <a:t> </a:t>
            </a:r>
          </a:p>
          <a:p>
            <a:pPr marL="742950" lvl="1" indent="-285750">
              <a:buFont typeface="Wingdings" panose="05000000000000000000" pitchFamily="2" charset="2"/>
              <a:buChar char="q"/>
            </a:pPr>
            <a:r>
              <a:rPr lang="en-US" dirty="0"/>
              <a:t>Pytorch: </a:t>
            </a:r>
            <a:r>
              <a:rPr lang="en-US" dirty="0">
                <a:hlinkClick r:id="rId4"/>
              </a:rPr>
              <a:t>https://pytorch.org/</a:t>
            </a:r>
            <a:r>
              <a:rPr lang="en-US" dirty="0"/>
              <a:t> </a:t>
            </a:r>
          </a:p>
          <a:p>
            <a:pPr marL="742950" lvl="1" indent="-285750">
              <a:buFont typeface="Wingdings" panose="05000000000000000000" pitchFamily="2" charset="2"/>
              <a:buChar char="q"/>
            </a:pPr>
            <a:r>
              <a:rPr lang="en-US" dirty="0"/>
              <a:t>TensorFlow: </a:t>
            </a:r>
            <a:r>
              <a:rPr lang="en-US" dirty="0">
                <a:hlinkClick r:id="rId5"/>
              </a:rPr>
              <a:t>https://www.tensorflow.org/</a:t>
            </a:r>
            <a:r>
              <a:rPr lang="en-US" dirty="0"/>
              <a:t> </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Some packages are very specialized</a:t>
            </a:r>
          </a:p>
          <a:p>
            <a:pPr marL="742950" lvl="1" indent="-285750">
              <a:buFont typeface="Wingdings" panose="05000000000000000000" pitchFamily="2" charset="2"/>
              <a:buChar char="q"/>
            </a:pPr>
            <a:r>
              <a:rPr lang="en-US" dirty="0"/>
              <a:t>Pyro (probabilistic ML): </a:t>
            </a:r>
            <a:r>
              <a:rPr lang="en-US" dirty="0">
                <a:hlinkClick r:id="rId6"/>
              </a:rPr>
              <a:t>https://pyro.ai/</a:t>
            </a:r>
            <a:r>
              <a:rPr lang="en-US" dirty="0"/>
              <a:t> </a:t>
            </a:r>
          </a:p>
          <a:p>
            <a:pPr marL="742950" lvl="1" indent="-285750">
              <a:buFont typeface="Wingdings" panose="05000000000000000000" pitchFamily="2" charset="2"/>
              <a:buChar char="q"/>
            </a:pPr>
            <a:r>
              <a:rPr lang="en-US" dirty="0" err="1"/>
              <a:t>GPyTorch</a:t>
            </a:r>
            <a:r>
              <a:rPr lang="en-US" dirty="0"/>
              <a:t> (Gaussian processes): </a:t>
            </a:r>
            <a:r>
              <a:rPr lang="en-US" dirty="0">
                <a:hlinkClick r:id="rId7"/>
              </a:rPr>
              <a:t>https://gpytorch.ai/</a:t>
            </a:r>
            <a:r>
              <a:rPr lang="en-US" dirty="0"/>
              <a:t> </a:t>
            </a:r>
          </a:p>
        </p:txBody>
      </p:sp>
      <p:pic>
        <p:nvPicPr>
          <p:cNvPr id="10" name="Picture 9">
            <a:extLst>
              <a:ext uri="{FF2B5EF4-FFF2-40B4-BE49-F238E27FC236}">
                <a16:creationId xmlns:a16="http://schemas.microsoft.com/office/drawing/2014/main" id="{FF284236-F3DA-747C-3B79-EE8BADEA3BD9}"/>
              </a:ext>
            </a:extLst>
          </p:cNvPr>
          <p:cNvPicPr>
            <a:picLocks noChangeAspect="1"/>
          </p:cNvPicPr>
          <p:nvPr/>
        </p:nvPicPr>
        <p:blipFill rotWithShape="1">
          <a:blip r:embed="rId8"/>
          <a:srcRect l="49275"/>
          <a:stretch/>
        </p:blipFill>
        <p:spPr>
          <a:xfrm>
            <a:off x="11208568" y="260649"/>
            <a:ext cx="792088" cy="894071"/>
          </a:xfrm>
          <a:prstGeom prst="rect">
            <a:avLst/>
          </a:prstGeom>
        </p:spPr>
      </p:pic>
      <p:pic>
        <p:nvPicPr>
          <p:cNvPr id="2052" name="Picture 4">
            <a:extLst>
              <a:ext uri="{FF2B5EF4-FFF2-40B4-BE49-F238E27FC236}">
                <a16:creationId xmlns:a16="http://schemas.microsoft.com/office/drawing/2014/main" id="{95F64B57-2E40-080F-C290-FAE214AFAE4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456457" y="2318433"/>
            <a:ext cx="1258317" cy="67725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B8EB0354-89E5-3476-4794-B449F4F00BC4}"/>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9268666" y="3973004"/>
            <a:ext cx="1718404" cy="4263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TensorFlow">
            <a:extLst>
              <a:ext uri="{FF2B5EF4-FFF2-40B4-BE49-F238E27FC236}">
                <a16:creationId xmlns:a16="http://schemas.microsoft.com/office/drawing/2014/main" id="{FD61CCBE-49ED-A154-EAE4-967EADBEEBA0}"/>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20639" t="21888" r="19977" b="21609"/>
          <a:stretch/>
        </p:blipFill>
        <p:spPr bwMode="auto">
          <a:xfrm>
            <a:off x="9502263" y="5157192"/>
            <a:ext cx="1585631" cy="848634"/>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Modeling Censored Time-to-Event Data Using Pyro, an Open ...">
            <a:extLst>
              <a:ext uri="{FF2B5EF4-FFF2-40B4-BE49-F238E27FC236}">
                <a16:creationId xmlns:a16="http://schemas.microsoft.com/office/drawing/2014/main" id="{DB020E56-C23D-A7DE-22F3-21F7D8AD3750}"/>
              </a:ext>
            </a:extLst>
          </p:cNvPr>
          <p:cNvPicPr>
            <a:picLocks noChangeAspect="1" noChangeArrowheads="1"/>
          </p:cNvPicPr>
          <p:nvPr/>
        </p:nvPicPr>
        <p:blipFill rotWithShape="1">
          <a:blip r:embed="rId12" cstate="print">
            <a:extLst>
              <a:ext uri="{28A0092B-C50C-407E-A947-70E740481C1C}">
                <a14:useLocalDpi xmlns:a14="http://schemas.microsoft.com/office/drawing/2010/main" val="0"/>
              </a:ext>
            </a:extLst>
          </a:blip>
          <a:srcRect l="30075" t="12997" r="31535" b="11938"/>
          <a:stretch/>
        </p:blipFill>
        <p:spPr bwMode="auto">
          <a:xfrm>
            <a:off x="3359697" y="5040892"/>
            <a:ext cx="1284187" cy="1412445"/>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GPyTorch">
            <a:extLst>
              <a:ext uri="{FF2B5EF4-FFF2-40B4-BE49-F238E27FC236}">
                <a16:creationId xmlns:a16="http://schemas.microsoft.com/office/drawing/2014/main" id="{1F12979D-6297-4E0E-494F-503F7B2F513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591594" y="4952578"/>
            <a:ext cx="1428750" cy="142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6400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18</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1" y="1704975"/>
            <a:ext cx="5904655" cy="3970318"/>
          </a:xfrm>
          <a:prstGeom prst="rect">
            <a:avLst/>
          </a:prstGeom>
          <a:noFill/>
        </p:spPr>
        <p:txBody>
          <a:bodyPr wrap="square">
            <a:spAutoFit/>
          </a:bodyPr>
          <a:lstStyle/>
          <a:p>
            <a:r>
              <a:rPr lang="en-US" b="1" dirty="0"/>
              <a:t>Algorithms for regression – Python – Scikit-learn</a:t>
            </a:r>
          </a:p>
          <a:p>
            <a:pPr marL="285750" indent="-285750">
              <a:buFont typeface="Wingdings" panose="05000000000000000000" pitchFamily="2" charset="2"/>
              <a:buChar char="q"/>
            </a:pPr>
            <a:r>
              <a:rPr lang="en-US" dirty="0"/>
              <a:t>One of the most versatile toolboxes available in Python and offers a wide range of pre-implemented algorithms.</a:t>
            </a:r>
          </a:p>
          <a:p>
            <a:pPr marL="742950" lvl="1" indent="-285750">
              <a:buFont typeface="Wingdings" panose="05000000000000000000" pitchFamily="2" charset="2"/>
              <a:buChar char="q"/>
            </a:pPr>
            <a:r>
              <a:rPr lang="en-US" dirty="0"/>
              <a:t>Gradient boosting</a:t>
            </a:r>
          </a:p>
          <a:p>
            <a:pPr marL="742950" lvl="1" indent="-285750">
              <a:buFont typeface="Wingdings" panose="05000000000000000000" pitchFamily="2" charset="2"/>
              <a:buChar char="q"/>
            </a:pPr>
            <a:r>
              <a:rPr lang="en-US" dirty="0"/>
              <a:t>Elastic net regression</a:t>
            </a:r>
          </a:p>
          <a:p>
            <a:pPr marL="742950" lvl="1" indent="-285750">
              <a:buFont typeface="Wingdings" panose="05000000000000000000" pitchFamily="2" charset="2"/>
              <a:buChar char="q"/>
            </a:pPr>
            <a:r>
              <a:rPr lang="en-US" dirty="0"/>
              <a:t>Support vector machine</a:t>
            </a:r>
          </a:p>
          <a:p>
            <a:pPr marL="742950" lvl="1" indent="-285750">
              <a:buFont typeface="Wingdings" panose="05000000000000000000" pitchFamily="2" charset="2"/>
              <a:buChar char="q"/>
            </a:pPr>
            <a:r>
              <a:rPr lang="en-US" dirty="0"/>
              <a:t>Bayesian ridge regression</a:t>
            </a:r>
          </a:p>
          <a:p>
            <a:pPr marL="742950" lvl="1" indent="-285750">
              <a:buFont typeface="Wingdings" panose="05000000000000000000" pitchFamily="2" charset="2"/>
              <a:buChar char="q"/>
            </a:pPr>
            <a:r>
              <a:rPr lang="en-US" dirty="0" err="1"/>
              <a:t>CatBoost</a:t>
            </a:r>
            <a:r>
              <a:rPr lang="en-US" dirty="0"/>
              <a:t> regression</a:t>
            </a:r>
          </a:p>
          <a:p>
            <a:pPr marL="742950" lvl="1" indent="-285750">
              <a:buFont typeface="Wingdings" panose="05000000000000000000" pitchFamily="2" charset="2"/>
              <a:buChar char="q"/>
            </a:pPr>
            <a:r>
              <a:rPr lang="en-US" dirty="0"/>
              <a:t>Kernel ridge regression</a:t>
            </a:r>
          </a:p>
          <a:p>
            <a:pPr marL="742950" lvl="1" indent="-285750">
              <a:buFont typeface="Wingdings" panose="05000000000000000000" pitchFamily="2" charset="2"/>
              <a:buChar char="q"/>
            </a:pPr>
            <a:r>
              <a:rPr lang="en-US" dirty="0" err="1"/>
              <a:t>XGBoost</a:t>
            </a:r>
            <a:r>
              <a:rPr lang="en-US" dirty="0"/>
              <a:t> regression</a:t>
            </a:r>
          </a:p>
          <a:p>
            <a:pPr marL="742950" lvl="1" indent="-285750">
              <a:buFont typeface="Wingdings" panose="05000000000000000000" pitchFamily="2" charset="2"/>
              <a:buChar char="q"/>
            </a:pPr>
            <a:r>
              <a:rPr lang="en-US" dirty="0"/>
              <a:t>Gaussian processes</a:t>
            </a:r>
          </a:p>
          <a:p>
            <a:pPr marL="742950" lvl="1" indent="-285750">
              <a:buFont typeface="Wingdings" panose="05000000000000000000" pitchFamily="2" charset="2"/>
              <a:buChar char="q"/>
            </a:pPr>
            <a:r>
              <a:rPr lang="en-US" dirty="0"/>
              <a:t>Decision trees</a:t>
            </a:r>
          </a:p>
          <a:p>
            <a:pPr marL="742950" lvl="1" indent="-285750">
              <a:buFont typeface="Wingdings" panose="05000000000000000000" pitchFamily="2" charset="2"/>
              <a:buChar char="q"/>
            </a:pPr>
            <a:r>
              <a:rPr lang="en-US" dirty="0"/>
              <a:t>Neural Networks</a:t>
            </a:r>
          </a:p>
          <a:p>
            <a:pPr marL="742950" lvl="1" indent="-285750">
              <a:buFont typeface="Wingdings" panose="05000000000000000000" pitchFamily="2" charset="2"/>
              <a:buChar char="q"/>
            </a:pPr>
            <a:r>
              <a:rPr lang="en-US" dirty="0" err="1"/>
              <a:t>Etc</a:t>
            </a:r>
            <a:r>
              <a:rPr lang="en-US" dirty="0"/>
              <a:t>,</a:t>
            </a:r>
          </a:p>
        </p:txBody>
      </p:sp>
      <p:pic>
        <p:nvPicPr>
          <p:cNvPr id="10" name="Picture 9">
            <a:extLst>
              <a:ext uri="{FF2B5EF4-FFF2-40B4-BE49-F238E27FC236}">
                <a16:creationId xmlns:a16="http://schemas.microsoft.com/office/drawing/2014/main" id="{FF284236-F3DA-747C-3B79-EE8BADEA3BD9}"/>
              </a:ext>
            </a:extLst>
          </p:cNvPr>
          <p:cNvPicPr>
            <a:picLocks noChangeAspect="1"/>
          </p:cNvPicPr>
          <p:nvPr/>
        </p:nvPicPr>
        <p:blipFill rotWithShape="1">
          <a:blip r:embed="rId3"/>
          <a:srcRect l="49275"/>
          <a:stretch/>
        </p:blipFill>
        <p:spPr>
          <a:xfrm>
            <a:off x="11208568" y="260649"/>
            <a:ext cx="792088" cy="894071"/>
          </a:xfrm>
          <a:prstGeom prst="rect">
            <a:avLst/>
          </a:prstGeom>
        </p:spPr>
      </p:pic>
      <p:pic>
        <p:nvPicPr>
          <p:cNvPr id="2052" name="Picture 4">
            <a:extLst>
              <a:ext uri="{FF2B5EF4-FFF2-40B4-BE49-F238E27FC236}">
                <a16:creationId xmlns:a16="http://schemas.microsoft.com/office/drawing/2014/main" id="{95F64B57-2E40-080F-C290-FAE214AFAE4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3529" y="5063873"/>
            <a:ext cx="1661159" cy="8940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FD38450-16BF-595B-CD40-BAE68829552E}"/>
              </a:ext>
            </a:extLst>
          </p:cNvPr>
          <p:cNvSpPr txBox="1"/>
          <p:nvPr/>
        </p:nvSpPr>
        <p:spPr>
          <a:xfrm>
            <a:off x="8832304" y="6270904"/>
            <a:ext cx="6097384" cy="215444"/>
          </a:xfrm>
          <a:prstGeom prst="rect">
            <a:avLst/>
          </a:prstGeom>
          <a:noFill/>
        </p:spPr>
        <p:txBody>
          <a:bodyPr wrap="square">
            <a:spAutoFit/>
          </a:bodyPr>
          <a:lstStyle/>
          <a:p>
            <a:r>
              <a:rPr lang="da-DK" sz="800" dirty="0"/>
              <a:t>https://scikit-learn.org/stable/supervised_learning.html</a:t>
            </a:r>
          </a:p>
        </p:txBody>
      </p:sp>
      <p:pic>
        <p:nvPicPr>
          <p:cNvPr id="8" name="Picture 7">
            <a:extLst>
              <a:ext uri="{FF2B5EF4-FFF2-40B4-BE49-F238E27FC236}">
                <a16:creationId xmlns:a16="http://schemas.microsoft.com/office/drawing/2014/main" id="{6475D2B7-77C0-571A-4944-707DAD017646}"/>
              </a:ext>
            </a:extLst>
          </p:cNvPr>
          <p:cNvPicPr>
            <a:picLocks noChangeAspect="1"/>
          </p:cNvPicPr>
          <p:nvPr/>
        </p:nvPicPr>
        <p:blipFill>
          <a:blip r:embed="rId5"/>
          <a:stretch>
            <a:fillRect/>
          </a:stretch>
        </p:blipFill>
        <p:spPr>
          <a:xfrm>
            <a:off x="8651206" y="1712666"/>
            <a:ext cx="2443469" cy="4293096"/>
          </a:xfrm>
          <a:prstGeom prst="rect">
            <a:avLst/>
          </a:prstGeom>
        </p:spPr>
      </p:pic>
    </p:spTree>
    <p:extLst>
      <p:ext uri="{BB962C8B-B14F-4D97-AF65-F5344CB8AC3E}">
        <p14:creationId xmlns:p14="http://schemas.microsoft.com/office/powerpoint/2010/main" val="11347140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19</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2" y="1707106"/>
            <a:ext cx="9312373" cy="646331"/>
          </a:xfrm>
          <a:prstGeom prst="rect">
            <a:avLst/>
          </a:prstGeom>
          <a:noFill/>
        </p:spPr>
        <p:txBody>
          <a:bodyPr wrap="square">
            <a:spAutoFit/>
          </a:bodyPr>
          <a:lstStyle/>
          <a:p>
            <a:r>
              <a:rPr lang="en-US" b="1" dirty="0"/>
              <a:t>Algorithms for ensembles: wisdom of the crowd</a:t>
            </a:r>
          </a:p>
          <a:p>
            <a:pPr marL="285750" indent="-285750">
              <a:buFont typeface="Wingdings" panose="05000000000000000000" pitchFamily="2" charset="2"/>
              <a:buChar char="q"/>
            </a:pPr>
            <a:endParaRPr lang="en-US" dirty="0"/>
          </a:p>
        </p:txBody>
      </p:sp>
      <p:pic>
        <p:nvPicPr>
          <p:cNvPr id="3" name="Picture 2">
            <a:extLst>
              <a:ext uri="{FF2B5EF4-FFF2-40B4-BE49-F238E27FC236}">
                <a16:creationId xmlns:a16="http://schemas.microsoft.com/office/drawing/2014/main" id="{B8317478-5CF3-E563-2147-50E6F6F6B284}"/>
              </a:ext>
            </a:extLst>
          </p:cNvPr>
          <p:cNvPicPr>
            <a:picLocks noChangeAspect="1"/>
          </p:cNvPicPr>
          <p:nvPr/>
        </p:nvPicPr>
        <p:blipFill rotWithShape="1">
          <a:blip r:embed="rId3"/>
          <a:srcRect r="52174"/>
          <a:stretch/>
        </p:blipFill>
        <p:spPr>
          <a:xfrm>
            <a:off x="10278796" y="273967"/>
            <a:ext cx="792088" cy="948257"/>
          </a:xfrm>
          <a:prstGeom prst="rect">
            <a:avLst/>
          </a:prstGeom>
        </p:spPr>
      </p:pic>
      <p:pic>
        <p:nvPicPr>
          <p:cNvPr id="6" name="Picture 5">
            <a:extLst>
              <a:ext uri="{FF2B5EF4-FFF2-40B4-BE49-F238E27FC236}">
                <a16:creationId xmlns:a16="http://schemas.microsoft.com/office/drawing/2014/main" id="{5CD8ECF5-6C89-B2E5-F4AD-F667E8E34732}"/>
              </a:ext>
            </a:extLst>
          </p:cNvPr>
          <p:cNvPicPr>
            <a:picLocks noChangeAspect="1"/>
          </p:cNvPicPr>
          <p:nvPr/>
        </p:nvPicPr>
        <p:blipFill rotWithShape="1">
          <a:blip r:embed="rId3"/>
          <a:srcRect l="49275"/>
          <a:stretch/>
        </p:blipFill>
        <p:spPr>
          <a:xfrm>
            <a:off x="11147756" y="328153"/>
            <a:ext cx="792088" cy="894071"/>
          </a:xfrm>
          <a:prstGeom prst="rect">
            <a:avLst/>
          </a:prstGeom>
        </p:spPr>
      </p:pic>
      <p:pic>
        <p:nvPicPr>
          <p:cNvPr id="17410" name="Picture 2" descr="Random Forest. Random Forest is an ensemble machine… | by Deniz Gunay |  Medium">
            <a:extLst>
              <a:ext uri="{FF2B5EF4-FFF2-40B4-BE49-F238E27FC236}">
                <a16:creationId xmlns:a16="http://schemas.microsoft.com/office/drawing/2014/main" id="{EE65468C-A10E-D373-71A2-DB1B7C8DAA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5439" y="2682070"/>
            <a:ext cx="4809332" cy="340938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9EC6D55-CB9C-E0AD-CD73-A51C3C1CC0F3}"/>
              </a:ext>
            </a:extLst>
          </p:cNvPr>
          <p:cNvSpPr txBox="1"/>
          <p:nvPr/>
        </p:nvSpPr>
        <p:spPr>
          <a:xfrm>
            <a:off x="2753181" y="2211551"/>
            <a:ext cx="1419556" cy="276999"/>
          </a:xfrm>
          <a:prstGeom prst="rect">
            <a:avLst/>
          </a:prstGeom>
          <a:noFill/>
        </p:spPr>
        <p:txBody>
          <a:bodyPr wrap="none" lIns="0" tIns="0" rIns="0" bIns="0" rtlCol="0">
            <a:spAutoFit/>
          </a:bodyPr>
          <a:lstStyle/>
          <a:p>
            <a:pPr>
              <a:spcBef>
                <a:spcPts val="432"/>
              </a:spcBef>
            </a:pPr>
            <a:r>
              <a:rPr lang="da-DK" dirty="0" err="1">
                <a:effectLst>
                  <a:outerShdw blurRad="38100" dist="38100" dir="2700000" algn="tl">
                    <a:srgbClr val="000000">
                      <a:alpha val="43137"/>
                    </a:srgbClr>
                  </a:outerShdw>
                </a:effectLst>
              </a:rPr>
              <a:t>Random</a:t>
            </a:r>
            <a:r>
              <a:rPr lang="da-DK" dirty="0">
                <a:effectLst>
                  <a:outerShdw blurRad="38100" dist="38100" dir="2700000" algn="tl">
                    <a:srgbClr val="000000">
                      <a:alpha val="43137"/>
                    </a:srgbClr>
                  </a:outerShdw>
                </a:effectLst>
              </a:rPr>
              <a:t> Forest</a:t>
            </a:r>
          </a:p>
        </p:txBody>
      </p:sp>
      <p:pic>
        <p:nvPicPr>
          <p:cNvPr id="17412" name="Picture 4" descr="Gradient Boosting in ML - GeeksforGeeks">
            <a:extLst>
              <a:ext uri="{FF2B5EF4-FFF2-40B4-BE49-F238E27FC236}">
                <a16:creationId xmlns:a16="http://schemas.microsoft.com/office/drawing/2014/main" id="{943CD978-7D74-D67C-C78F-052405A229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23993" y="2682071"/>
            <a:ext cx="5876925" cy="320992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EEE7BF6-B721-9381-AC24-BFEC69572685}"/>
              </a:ext>
            </a:extLst>
          </p:cNvPr>
          <p:cNvSpPr txBox="1"/>
          <p:nvPr/>
        </p:nvSpPr>
        <p:spPr>
          <a:xfrm>
            <a:off x="8472264" y="2211551"/>
            <a:ext cx="1688154" cy="276999"/>
          </a:xfrm>
          <a:prstGeom prst="rect">
            <a:avLst/>
          </a:prstGeom>
          <a:noFill/>
        </p:spPr>
        <p:txBody>
          <a:bodyPr wrap="none" lIns="0" tIns="0" rIns="0" bIns="0" rtlCol="0">
            <a:spAutoFit/>
          </a:bodyPr>
          <a:lstStyle/>
          <a:p>
            <a:pPr>
              <a:spcBef>
                <a:spcPts val="432"/>
              </a:spcBef>
            </a:pPr>
            <a:r>
              <a:rPr lang="da-DK" dirty="0">
                <a:effectLst>
                  <a:outerShdw blurRad="38100" dist="38100" dir="2700000" algn="tl">
                    <a:srgbClr val="000000">
                      <a:alpha val="43137"/>
                    </a:srgbClr>
                  </a:outerShdw>
                </a:effectLst>
              </a:rPr>
              <a:t>Gradient </a:t>
            </a:r>
            <a:r>
              <a:rPr lang="da-DK" dirty="0" err="1">
                <a:effectLst>
                  <a:outerShdw blurRad="38100" dist="38100" dir="2700000" algn="tl">
                    <a:srgbClr val="000000">
                      <a:alpha val="43137"/>
                    </a:srgbClr>
                  </a:outerShdw>
                </a:effectLst>
              </a:rPr>
              <a:t>Boosting</a:t>
            </a:r>
            <a:endParaRPr lang="da-DK"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810639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20</a:t>
            </a:fld>
            <a:endParaRPr lang="en-GB" dirty="0"/>
          </a:p>
        </p:txBody>
      </p:sp>
      <p:pic>
        <p:nvPicPr>
          <p:cNvPr id="6" name="Picture 5">
            <a:extLst>
              <a:ext uri="{FF2B5EF4-FFF2-40B4-BE49-F238E27FC236}">
                <a16:creationId xmlns:a16="http://schemas.microsoft.com/office/drawing/2014/main" id="{A16872B8-D081-6A14-1DBC-3F824535C20B}"/>
              </a:ext>
            </a:extLst>
          </p:cNvPr>
          <p:cNvPicPr>
            <a:picLocks noChangeAspect="1"/>
          </p:cNvPicPr>
          <p:nvPr/>
        </p:nvPicPr>
        <p:blipFill>
          <a:blip r:embed="rId3"/>
          <a:stretch>
            <a:fillRect/>
          </a:stretch>
        </p:blipFill>
        <p:spPr>
          <a:xfrm>
            <a:off x="2207568" y="2141048"/>
            <a:ext cx="8340192" cy="3664216"/>
          </a:xfrm>
          <a:prstGeom prst="rect">
            <a:avLst/>
          </a:prstGeom>
        </p:spPr>
      </p:pic>
      <p:sp>
        <p:nvSpPr>
          <p:cNvPr id="3" name="Rectangle 2"/>
          <p:cNvSpPr/>
          <p:nvPr/>
        </p:nvSpPr>
        <p:spPr bwMode="auto">
          <a:xfrm>
            <a:off x="4400265" y="1910687"/>
            <a:ext cx="1944216" cy="2232248"/>
          </a:xfrm>
          <a:prstGeom prst="rect">
            <a:avLst/>
          </a:prstGeom>
          <a:solidFill>
            <a:schemeClr val="bg1"/>
          </a:solidFill>
          <a:ln w="9525" cap="flat" cmpd="sng" algn="ctr">
            <a:noFill/>
            <a:prstDash val="solid"/>
            <a:miter lim="800000"/>
            <a:headEnd type="none" w="med" len="med"/>
            <a:tailEnd type="none" w="med" len="med"/>
          </a:ln>
          <a:effectLst/>
        </p:spPr>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fontAlgn="base">
              <a:spcBef>
                <a:spcPts val="432"/>
              </a:spcBef>
              <a:spcAft>
                <a:spcPct val="0"/>
              </a:spcAft>
            </a:pPr>
            <a:endParaRPr lang="en-GB" sz="1600" dirty="0" err="1">
              <a:solidFill>
                <a:srgbClr val="FFFFFF"/>
              </a:solidFill>
              <a:ea typeface="ＭＳ Ｐゴシック" pitchFamily="-80" charset="-128"/>
            </a:endParaRPr>
          </a:p>
        </p:txBody>
      </p:sp>
      <p:pic>
        <p:nvPicPr>
          <p:cNvPr id="8" name="Picture 7" descr="A robot head with a brain&#10;&#10;Description automatically generated">
            <a:extLst>
              <a:ext uri="{FF2B5EF4-FFF2-40B4-BE49-F238E27FC236}">
                <a16:creationId xmlns:a16="http://schemas.microsoft.com/office/drawing/2014/main" id="{B8D7209A-DDF0-9C7E-302F-62406E89924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55840" y="2961491"/>
            <a:ext cx="1152128" cy="1152128"/>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B8317478-5CF3-E563-2147-50E6F6F6B284}"/>
              </a:ext>
            </a:extLst>
          </p:cNvPr>
          <p:cNvPicPr>
            <a:picLocks noChangeAspect="1"/>
          </p:cNvPicPr>
          <p:nvPr/>
        </p:nvPicPr>
        <p:blipFill rotWithShape="1">
          <a:blip r:embed="rId5"/>
          <a:srcRect r="52174"/>
          <a:stretch/>
        </p:blipFill>
        <p:spPr>
          <a:xfrm>
            <a:off x="10278796" y="273967"/>
            <a:ext cx="792088" cy="948257"/>
          </a:xfrm>
          <a:prstGeom prst="rect">
            <a:avLst/>
          </a:prstGeom>
        </p:spPr>
      </p:pic>
      <p:pic>
        <p:nvPicPr>
          <p:cNvPr id="10" name="Picture 9">
            <a:extLst>
              <a:ext uri="{FF2B5EF4-FFF2-40B4-BE49-F238E27FC236}">
                <a16:creationId xmlns:a16="http://schemas.microsoft.com/office/drawing/2014/main" id="{5CD8ECF5-6C89-B2E5-F4AD-F667E8E34732}"/>
              </a:ext>
            </a:extLst>
          </p:cNvPr>
          <p:cNvPicPr>
            <a:picLocks noChangeAspect="1"/>
          </p:cNvPicPr>
          <p:nvPr/>
        </p:nvPicPr>
        <p:blipFill rotWithShape="1">
          <a:blip r:embed="rId5"/>
          <a:srcRect l="49275"/>
          <a:stretch/>
        </p:blipFill>
        <p:spPr>
          <a:xfrm>
            <a:off x="11147756" y="328153"/>
            <a:ext cx="792088" cy="894071"/>
          </a:xfrm>
          <a:prstGeom prst="rect">
            <a:avLst/>
          </a:prstGeom>
        </p:spPr>
      </p:pic>
      <p:sp>
        <p:nvSpPr>
          <p:cNvPr id="11" name="TextBox 10">
            <a:extLst>
              <a:ext uri="{FF2B5EF4-FFF2-40B4-BE49-F238E27FC236}">
                <a16:creationId xmlns:a16="http://schemas.microsoft.com/office/drawing/2014/main" id="{298BAA80-0FBF-5EBE-B1EA-29B9FFCF9745}"/>
              </a:ext>
            </a:extLst>
          </p:cNvPr>
          <p:cNvSpPr txBox="1"/>
          <p:nvPr/>
        </p:nvSpPr>
        <p:spPr>
          <a:xfrm>
            <a:off x="1775522" y="1722207"/>
            <a:ext cx="9312373" cy="369332"/>
          </a:xfrm>
          <a:prstGeom prst="rect">
            <a:avLst/>
          </a:prstGeom>
          <a:noFill/>
        </p:spPr>
        <p:txBody>
          <a:bodyPr wrap="square">
            <a:spAutoFit/>
          </a:bodyPr>
          <a:lstStyle/>
          <a:p>
            <a:r>
              <a:rPr lang="en-US" b="1" dirty="0"/>
              <a:t>How to train your </a:t>
            </a:r>
            <a:r>
              <a:rPr lang="en-US" b="1" strike="sngStrike" dirty="0"/>
              <a:t>dragon</a:t>
            </a:r>
            <a:r>
              <a:rPr lang="en-US" b="1" dirty="0"/>
              <a:t> ML model</a:t>
            </a:r>
            <a:endParaRPr lang="en-US" dirty="0"/>
          </a:p>
        </p:txBody>
      </p:sp>
    </p:spTree>
    <p:extLst>
      <p:ext uri="{BB962C8B-B14F-4D97-AF65-F5344CB8AC3E}">
        <p14:creationId xmlns:p14="http://schemas.microsoft.com/office/powerpoint/2010/main" val="40474028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21</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82016" y="1704976"/>
            <a:ext cx="9312373" cy="646331"/>
          </a:xfrm>
          <a:prstGeom prst="rect">
            <a:avLst/>
          </a:prstGeom>
          <a:noFill/>
        </p:spPr>
        <p:txBody>
          <a:bodyPr wrap="square">
            <a:spAutoFit/>
          </a:bodyPr>
          <a:lstStyle/>
          <a:p>
            <a:r>
              <a:rPr lang="en-US" b="1" dirty="0"/>
              <a:t>How to train your ML model</a:t>
            </a:r>
          </a:p>
          <a:p>
            <a:pPr marL="285750" indent="-285750">
              <a:buFont typeface="Wingdings" panose="05000000000000000000" pitchFamily="2" charset="2"/>
              <a:buChar char="q"/>
            </a:pPr>
            <a:r>
              <a:rPr lang="en-US" dirty="0"/>
              <a:t>As for any other model, the ML models usually are at risk for either overfitting and underfitting</a:t>
            </a:r>
          </a:p>
        </p:txBody>
      </p:sp>
      <p:pic>
        <p:nvPicPr>
          <p:cNvPr id="10" name="Picture 9">
            <a:extLst>
              <a:ext uri="{FF2B5EF4-FFF2-40B4-BE49-F238E27FC236}">
                <a16:creationId xmlns:a16="http://schemas.microsoft.com/office/drawing/2014/main" id="{8AC5A0E0-5D6E-3ED1-5370-D24AAD9F0797}"/>
              </a:ext>
            </a:extLst>
          </p:cNvPr>
          <p:cNvPicPr>
            <a:picLocks noChangeAspect="1"/>
          </p:cNvPicPr>
          <p:nvPr/>
        </p:nvPicPr>
        <p:blipFill>
          <a:blip r:embed="rId3"/>
          <a:stretch>
            <a:fillRect/>
          </a:stretch>
        </p:blipFill>
        <p:spPr>
          <a:xfrm>
            <a:off x="2135561" y="2604149"/>
            <a:ext cx="7535367" cy="3599295"/>
          </a:xfrm>
          <a:prstGeom prst="rect">
            <a:avLst/>
          </a:prstGeom>
        </p:spPr>
      </p:pic>
      <p:pic>
        <p:nvPicPr>
          <p:cNvPr id="11" name="Picture 10">
            <a:extLst>
              <a:ext uri="{FF2B5EF4-FFF2-40B4-BE49-F238E27FC236}">
                <a16:creationId xmlns:a16="http://schemas.microsoft.com/office/drawing/2014/main" id="{B8317478-5CF3-E563-2147-50E6F6F6B284}"/>
              </a:ext>
            </a:extLst>
          </p:cNvPr>
          <p:cNvPicPr>
            <a:picLocks noChangeAspect="1"/>
          </p:cNvPicPr>
          <p:nvPr/>
        </p:nvPicPr>
        <p:blipFill rotWithShape="1">
          <a:blip r:embed="rId4"/>
          <a:srcRect r="52174"/>
          <a:stretch/>
        </p:blipFill>
        <p:spPr>
          <a:xfrm>
            <a:off x="10278796" y="273967"/>
            <a:ext cx="792088" cy="948257"/>
          </a:xfrm>
          <a:prstGeom prst="rect">
            <a:avLst/>
          </a:prstGeom>
        </p:spPr>
      </p:pic>
      <p:pic>
        <p:nvPicPr>
          <p:cNvPr id="12" name="Picture 11">
            <a:extLst>
              <a:ext uri="{FF2B5EF4-FFF2-40B4-BE49-F238E27FC236}">
                <a16:creationId xmlns:a16="http://schemas.microsoft.com/office/drawing/2014/main" id="{5CD8ECF5-6C89-B2E5-F4AD-F667E8E34732}"/>
              </a:ext>
            </a:extLst>
          </p:cNvPr>
          <p:cNvPicPr>
            <a:picLocks noChangeAspect="1"/>
          </p:cNvPicPr>
          <p:nvPr/>
        </p:nvPicPr>
        <p:blipFill rotWithShape="1">
          <a:blip r:embed="rId4"/>
          <a:srcRect l="49275"/>
          <a:stretch/>
        </p:blipFill>
        <p:spPr>
          <a:xfrm>
            <a:off x="11147756" y="328153"/>
            <a:ext cx="792088" cy="894071"/>
          </a:xfrm>
          <a:prstGeom prst="rect">
            <a:avLst/>
          </a:prstGeom>
        </p:spPr>
      </p:pic>
    </p:spTree>
    <p:extLst>
      <p:ext uri="{BB962C8B-B14F-4D97-AF65-F5344CB8AC3E}">
        <p14:creationId xmlns:p14="http://schemas.microsoft.com/office/powerpoint/2010/main" val="35000283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22</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2" y="1719548"/>
            <a:ext cx="9312373" cy="646331"/>
          </a:xfrm>
          <a:prstGeom prst="rect">
            <a:avLst/>
          </a:prstGeom>
          <a:noFill/>
        </p:spPr>
        <p:txBody>
          <a:bodyPr wrap="square">
            <a:spAutoFit/>
          </a:bodyPr>
          <a:lstStyle/>
          <a:p>
            <a:r>
              <a:rPr lang="en-US" b="1" dirty="0"/>
              <a:t>How to train your ML model</a:t>
            </a:r>
          </a:p>
          <a:p>
            <a:pPr marL="285750" indent="-285750">
              <a:buFont typeface="Wingdings" panose="05000000000000000000" pitchFamily="2" charset="2"/>
              <a:buChar char="q"/>
            </a:pPr>
            <a:r>
              <a:rPr lang="en-US" dirty="0"/>
              <a:t>As for any other model, the ML models usually are at risk for either overfitting and underfitting</a:t>
            </a:r>
          </a:p>
        </p:txBody>
      </p:sp>
      <p:pic>
        <p:nvPicPr>
          <p:cNvPr id="8" name="Picture 7">
            <a:extLst>
              <a:ext uri="{FF2B5EF4-FFF2-40B4-BE49-F238E27FC236}">
                <a16:creationId xmlns:a16="http://schemas.microsoft.com/office/drawing/2014/main" id="{A9295FF7-7C3E-C3B5-1599-24A2AE44C7B0}"/>
              </a:ext>
            </a:extLst>
          </p:cNvPr>
          <p:cNvPicPr>
            <a:picLocks noChangeAspect="1"/>
          </p:cNvPicPr>
          <p:nvPr/>
        </p:nvPicPr>
        <p:blipFill>
          <a:blip r:embed="rId3"/>
          <a:stretch>
            <a:fillRect/>
          </a:stretch>
        </p:blipFill>
        <p:spPr>
          <a:xfrm>
            <a:off x="5807969" y="2551867"/>
            <a:ext cx="5015063" cy="3699709"/>
          </a:xfrm>
          <a:prstGeom prst="rect">
            <a:avLst/>
          </a:prstGeom>
        </p:spPr>
      </p:pic>
      <p:pic>
        <p:nvPicPr>
          <p:cNvPr id="9" name="Picture 8">
            <a:extLst>
              <a:ext uri="{FF2B5EF4-FFF2-40B4-BE49-F238E27FC236}">
                <a16:creationId xmlns:a16="http://schemas.microsoft.com/office/drawing/2014/main" id="{B8317478-5CF3-E563-2147-50E6F6F6B284}"/>
              </a:ext>
            </a:extLst>
          </p:cNvPr>
          <p:cNvPicPr>
            <a:picLocks noChangeAspect="1"/>
          </p:cNvPicPr>
          <p:nvPr/>
        </p:nvPicPr>
        <p:blipFill rotWithShape="1">
          <a:blip r:embed="rId4"/>
          <a:srcRect r="52174"/>
          <a:stretch/>
        </p:blipFill>
        <p:spPr>
          <a:xfrm>
            <a:off x="10278796" y="273967"/>
            <a:ext cx="792088" cy="948257"/>
          </a:xfrm>
          <a:prstGeom prst="rect">
            <a:avLst/>
          </a:prstGeom>
        </p:spPr>
      </p:pic>
      <p:pic>
        <p:nvPicPr>
          <p:cNvPr id="10" name="Picture 9">
            <a:extLst>
              <a:ext uri="{FF2B5EF4-FFF2-40B4-BE49-F238E27FC236}">
                <a16:creationId xmlns:a16="http://schemas.microsoft.com/office/drawing/2014/main" id="{5CD8ECF5-6C89-B2E5-F4AD-F667E8E34732}"/>
              </a:ext>
            </a:extLst>
          </p:cNvPr>
          <p:cNvPicPr>
            <a:picLocks noChangeAspect="1"/>
          </p:cNvPicPr>
          <p:nvPr/>
        </p:nvPicPr>
        <p:blipFill rotWithShape="1">
          <a:blip r:embed="rId4"/>
          <a:srcRect l="49275"/>
          <a:stretch/>
        </p:blipFill>
        <p:spPr>
          <a:xfrm>
            <a:off x="11147756" y="328153"/>
            <a:ext cx="792088" cy="894071"/>
          </a:xfrm>
          <a:prstGeom prst="rect">
            <a:avLst/>
          </a:prstGeom>
        </p:spPr>
      </p:pic>
    </p:spTree>
    <p:extLst>
      <p:ext uri="{BB962C8B-B14F-4D97-AF65-F5344CB8AC3E}">
        <p14:creationId xmlns:p14="http://schemas.microsoft.com/office/powerpoint/2010/main" val="3804585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23</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8662" y="1704976"/>
            <a:ext cx="9312373" cy="3139321"/>
          </a:xfrm>
          <a:prstGeom prst="rect">
            <a:avLst/>
          </a:prstGeom>
          <a:noFill/>
        </p:spPr>
        <p:txBody>
          <a:bodyPr wrap="square">
            <a:spAutoFit/>
          </a:bodyPr>
          <a:lstStyle/>
          <a:p>
            <a:r>
              <a:rPr lang="en-US" b="1" dirty="0"/>
              <a:t>How to train your ML model</a:t>
            </a:r>
          </a:p>
          <a:p>
            <a:pPr marL="285750" indent="-285750">
              <a:buFont typeface="Wingdings" panose="05000000000000000000" pitchFamily="2" charset="2"/>
              <a:buChar char="q"/>
            </a:pPr>
            <a:r>
              <a:rPr lang="en-US" dirty="0"/>
              <a:t>Training an ML model usually goes through the following steps:</a:t>
            </a:r>
          </a:p>
          <a:p>
            <a:pPr marL="742950" lvl="1" indent="-285750">
              <a:buFont typeface="Wingdings" panose="05000000000000000000" pitchFamily="2" charset="2"/>
              <a:buChar char="q"/>
            </a:pPr>
            <a:r>
              <a:rPr lang="en-US" dirty="0"/>
              <a:t>Data preprocessing:</a:t>
            </a:r>
          </a:p>
          <a:p>
            <a:pPr marL="1200150" lvl="2" indent="-285750">
              <a:buFont typeface="Wingdings" panose="05000000000000000000" pitchFamily="2" charset="2"/>
              <a:buChar char="q"/>
            </a:pPr>
            <a:r>
              <a:rPr lang="en-US" dirty="0"/>
              <a:t>Scaling</a:t>
            </a:r>
          </a:p>
          <a:p>
            <a:pPr marL="1200150" lvl="2" indent="-285750">
              <a:buFont typeface="Wingdings" panose="05000000000000000000" pitchFamily="2" charset="2"/>
              <a:buChar char="q"/>
            </a:pPr>
            <a:r>
              <a:rPr lang="en-US" dirty="0"/>
              <a:t>Data spilling</a:t>
            </a:r>
          </a:p>
          <a:p>
            <a:pPr marL="742950" lvl="1" indent="-285750">
              <a:buFont typeface="Wingdings" panose="05000000000000000000" pitchFamily="2" charset="2"/>
              <a:buChar char="q"/>
            </a:pPr>
            <a:r>
              <a:rPr lang="en-US" dirty="0"/>
              <a:t>Model training</a:t>
            </a:r>
          </a:p>
          <a:p>
            <a:pPr marL="1200150" lvl="2" indent="-285750">
              <a:buFont typeface="Wingdings" panose="05000000000000000000" pitchFamily="2" charset="2"/>
              <a:buChar char="q"/>
            </a:pPr>
            <a:r>
              <a:rPr lang="en-US" dirty="0"/>
              <a:t>Adjust the weights to achieve the best outcome</a:t>
            </a:r>
          </a:p>
          <a:p>
            <a:pPr marL="1200150" lvl="2" indent="-285750">
              <a:buFont typeface="Wingdings" panose="05000000000000000000" pitchFamily="2" charset="2"/>
              <a:buChar char="q"/>
            </a:pPr>
            <a:r>
              <a:rPr lang="en-US" dirty="0"/>
              <a:t>Hyperparameter tuning</a:t>
            </a:r>
          </a:p>
          <a:p>
            <a:pPr marL="742950" lvl="1" indent="-285750">
              <a:buFont typeface="Wingdings" panose="05000000000000000000" pitchFamily="2" charset="2"/>
              <a:buChar char="q"/>
            </a:pPr>
            <a:r>
              <a:rPr lang="en-US" dirty="0"/>
              <a:t>Model testing</a:t>
            </a:r>
          </a:p>
          <a:p>
            <a:pPr marL="1200150" lvl="2" indent="-285750">
              <a:buFont typeface="Wingdings" panose="05000000000000000000" pitchFamily="2" charset="2"/>
              <a:buChar char="q"/>
            </a:pPr>
            <a:r>
              <a:rPr lang="en-US" dirty="0"/>
              <a:t>Test the model on a holdout dataset</a:t>
            </a:r>
          </a:p>
          <a:p>
            <a:pPr marL="742950" lvl="1" indent="-285750">
              <a:buFont typeface="Wingdings" panose="05000000000000000000" pitchFamily="2" charset="2"/>
              <a:buChar char="q"/>
            </a:pPr>
            <a:r>
              <a:rPr lang="en-US" dirty="0"/>
              <a:t>Model deployment</a:t>
            </a:r>
          </a:p>
        </p:txBody>
      </p:sp>
      <p:graphicFrame>
        <p:nvGraphicFramePr>
          <p:cNvPr id="10" name="Diagram 9">
            <a:extLst>
              <a:ext uri="{FF2B5EF4-FFF2-40B4-BE49-F238E27FC236}">
                <a16:creationId xmlns:a16="http://schemas.microsoft.com/office/drawing/2014/main" id="{454C50E2-77C6-1343-EF6D-6B4728644E83}"/>
              </a:ext>
            </a:extLst>
          </p:cNvPr>
          <p:cNvGraphicFramePr/>
          <p:nvPr/>
        </p:nvGraphicFramePr>
        <p:xfrm>
          <a:off x="2368235" y="5805265"/>
          <a:ext cx="8126942" cy="6490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a:extLst>
              <a:ext uri="{FF2B5EF4-FFF2-40B4-BE49-F238E27FC236}">
                <a16:creationId xmlns:a16="http://schemas.microsoft.com/office/drawing/2014/main" id="{B8317478-5CF3-E563-2147-50E6F6F6B284}"/>
              </a:ext>
            </a:extLst>
          </p:cNvPr>
          <p:cNvPicPr>
            <a:picLocks noChangeAspect="1"/>
          </p:cNvPicPr>
          <p:nvPr/>
        </p:nvPicPr>
        <p:blipFill rotWithShape="1">
          <a:blip r:embed="rId8"/>
          <a:srcRect r="52174"/>
          <a:stretch/>
        </p:blipFill>
        <p:spPr>
          <a:xfrm>
            <a:off x="10278796" y="273967"/>
            <a:ext cx="792088" cy="948257"/>
          </a:xfrm>
          <a:prstGeom prst="rect">
            <a:avLst/>
          </a:prstGeom>
        </p:spPr>
      </p:pic>
      <p:pic>
        <p:nvPicPr>
          <p:cNvPr id="9" name="Picture 8">
            <a:extLst>
              <a:ext uri="{FF2B5EF4-FFF2-40B4-BE49-F238E27FC236}">
                <a16:creationId xmlns:a16="http://schemas.microsoft.com/office/drawing/2014/main" id="{5CD8ECF5-6C89-B2E5-F4AD-F667E8E34732}"/>
              </a:ext>
            </a:extLst>
          </p:cNvPr>
          <p:cNvPicPr>
            <a:picLocks noChangeAspect="1"/>
          </p:cNvPicPr>
          <p:nvPr/>
        </p:nvPicPr>
        <p:blipFill rotWithShape="1">
          <a:blip r:embed="rId8"/>
          <a:srcRect l="49275"/>
          <a:stretch/>
        </p:blipFill>
        <p:spPr>
          <a:xfrm>
            <a:off x="11147756" y="328153"/>
            <a:ext cx="792088" cy="894071"/>
          </a:xfrm>
          <a:prstGeom prst="rect">
            <a:avLst/>
          </a:prstGeom>
        </p:spPr>
      </p:pic>
    </p:spTree>
    <p:extLst>
      <p:ext uri="{BB962C8B-B14F-4D97-AF65-F5344CB8AC3E}">
        <p14:creationId xmlns:p14="http://schemas.microsoft.com/office/powerpoint/2010/main" val="9347607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24</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2" y="1704976"/>
            <a:ext cx="9312373" cy="646331"/>
          </a:xfrm>
          <a:prstGeom prst="rect">
            <a:avLst/>
          </a:prstGeom>
          <a:noFill/>
        </p:spPr>
        <p:txBody>
          <a:bodyPr wrap="square">
            <a:spAutoFit/>
          </a:bodyPr>
          <a:lstStyle/>
          <a:p>
            <a:r>
              <a:rPr lang="en-US" b="1" dirty="0"/>
              <a:t>How to train your ML model</a:t>
            </a:r>
          </a:p>
          <a:p>
            <a:pPr marL="285750" indent="-285750">
              <a:buFont typeface="Wingdings" panose="05000000000000000000" pitchFamily="2" charset="2"/>
              <a:buChar char="q"/>
            </a:pPr>
            <a:r>
              <a:rPr lang="en-US" dirty="0"/>
              <a:t>Scaling the model input and output</a:t>
            </a:r>
          </a:p>
        </p:txBody>
      </p:sp>
      <p:pic>
        <p:nvPicPr>
          <p:cNvPr id="20482" name="Picture 2" descr="All about Feature Scaling. Scale data for better performance of… | by  Baijayanta Roy | Towards Data Science">
            <a:extLst>
              <a:ext uri="{FF2B5EF4-FFF2-40B4-BE49-F238E27FC236}">
                <a16:creationId xmlns:a16="http://schemas.microsoft.com/office/drawing/2014/main" id="{60F345F3-DE2D-DFDA-72A6-6FAB0046D8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1091" y="2357928"/>
            <a:ext cx="5715000" cy="37433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50069137-7086-29E1-E4AB-6A753AFC9261}"/>
              </a:ext>
            </a:extLst>
          </p:cNvPr>
          <p:cNvPicPr>
            <a:picLocks noChangeAspect="1"/>
          </p:cNvPicPr>
          <p:nvPr/>
        </p:nvPicPr>
        <p:blipFill rotWithShape="1">
          <a:blip r:embed="rId4"/>
          <a:srcRect l="41749"/>
          <a:stretch/>
        </p:blipFill>
        <p:spPr>
          <a:xfrm>
            <a:off x="772793" y="2501556"/>
            <a:ext cx="5112568" cy="3764512"/>
          </a:xfrm>
          <a:prstGeom prst="rect">
            <a:avLst/>
          </a:prstGeom>
        </p:spPr>
      </p:pic>
      <p:pic>
        <p:nvPicPr>
          <p:cNvPr id="9" name="Picture 8">
            <a:extLst>
              <a:ext uri="{FF2B5EF4-FFF2-40B4-BE49-F238E27FC236}">
                <a16:creationId xmlns:a16="http://schemas.microsoft.com/office/drawing/2014/main" id="{B8317478-5CF3-E563-2147-50E6F6F6B284}"/>
              </a:ext>
            </a:extLst>
          </p:cNvPr>
          <p:cNvPicPr>
            <a:picLocks noChangeAspect="1"/>
          </p:cNvPicPr>
          <p:nvPr/>
        </p:nvPicPr>
        <p:blipFill rotWithShape="1">
          <a:blip r:embed="rId5"/>
          <a:srcRect r="52174"/>
          <a:stretch/>
        </p:blipFill>
        <p:spPr>
          <a:xfrm>
            <a:off x="10278796" y="273967"/>
            <a:ext cx="792088" cy="948257"/>
          </a:xfrm>
          <a:prstGeom prst="rect">
            <a:avLst/>
          </a:prstGeom>
        </p:spPr>
      </p:pic>
      <p:pic>
        <p:nvPicPr>
          <p:cNvPr id="10" name="Picture 9">
            <a:extLst>
              <a:ext uri="{FF2B5EF4-FFF2-40B4-BE49-F238E27FC236}">
                <a16:creationId xmlns:a16="http://schemas.microsoft.com/office/drawing/2014/main" id="{5CD8ECF5-6C89-B2E5-F4AD-F667E8E34732}"/>
              </a:ext>
            </a:extLst>
          </p:cNvPr>
          <p:cNvPicPr>
            <a:picLocks noChangeAspect="1"/>
          </p:cNvPicPr>
          <p:nvPr/>
        </p:nvPicPr>
        <p:blipFill rotWithShape="1">
          <a:blip r:embed="rId5"/>
          <a:srcRect l="49275"/>
          <a:stretch/>
        </p:blipFill>
        <p:spPr>
          <a:xfrm>
            <a:off x="11147756" y="328153"/>
            <a:ext cx="792088" cy="894071"/>
          </a:xfrm>
          <a:prstGeom prst="rect">
            <a:avLst/>
          </a:prstGeom>
        </p:spPr>
      </p:pic>
    </p:spTree>
    <p:extLst>
      <p:ext uri="{BB962C8B-B14F-4D97-AF65-F5344CB8AC3E}">
        <p14:creationId xmlns:p14="http://schemas.microsoft.com/office/powerpoint/2010/main" val="3702439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25</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2" y="1704976"/>
            <a:ext cx="9312373" cy="954107"/>
          </a:xfrm>
          <a:prstGeom prst="rect">
            <a:avLst/>
          </a:prstGeom>
          <a:noFill/>
        </p:spPr>
        <p:txBody>
          <a:bodyPr wrap="square">
            <a:spAutoFit/>
          </a:bodyPr>
          <a:lstStyle/>
          <a:p>
            <a:r>
              <a:rPr lang="en-US" b="1" dirty="0"/>
              <a:t>How to train your ML model</a:t>
            </a:r>
          </a:p>
          <a:p>
            <a:pPr marL="285750" indent="-285750">
              <a:buFont typeface="Wingdings" panose="05000000000000000000" pitchFamily="2" charset="2"/>
              <a:buChar char="q"/>
            </a:pPr>
            <a:r>
              <a:rPr lang="en-US" dirty="0"/>
              <a:t>Data splitting is important to prevent data leakage (information from the test set going into the model training)</a:t>
            </a:r>
          </a:p>
        </p:txBody>
      </p:sp>
      <p:pic>
        <p:nvPicPr>
          <p:cNvPr id="9" name="Picture 8">
            <a:extLst>
              <a:ext uri="{FF2B5EF4-FFF2-40B4-BE49-F238E27FC236}">
                <a16:creationId xmlns:a16="http://schemas.microsoft.com/office/drawing/2014/main" id="{D09EA949-3D16-EB3E-0026-08BEBDE4F1FE}"/>
              </a:ext>
            </a:extLst>
          </p:cNvPr>
          <p:cNvPicPr>
            <a:picLocks noChangeAspect="1"/>
          </p:cNvPicPr>
          <p:nvPr/>
        </p:nvPicPr>
        <p:blipFill>
          <a:blip r:embed="rId3"/>
          <a:stretch>
            <a:fillRect/>
          </a:stretch>
        </p:blipFill>
        <p:spPr>
          <a:xfrm>
            <a:off x="623392" y="2632799"/>
            <a:ext cx="5278056" cy="2534856"/>
          </a:xfrm>
          <a:prstGeom prst="rect">
            <a:avLst/>
          </a:prstGeom>
        </p:spPr>
      </p:pic>
      <p:pic>
        <p:nvPicPr>
          <p:cNvPr id="11" name="Picture 10">
            <a:extLst>
              <a:ext uri="{FF2B5EF4-FFF2-40B4-BE49-F238E27FC236}">
                <a16:creationId xmlns:a16="http://schemas.microsoft.com/office/drawing/2014/main" id="{0FD20EEC-CB1C-D98D-2E93-E06114E12B4A}"/>
              </a:ext>
            </a:extLst>
          </p:cNvPr>
          <p:cNvPicPr>
            <a:picLocks noChangeAspect="1"/>
          </p:cNvPicPr>
          <p:nvPr/>
        </p:nvPicPr>
        <p:blipFill>
          <a:blip r:embed="rId4"/>
          <a:stretch>
            <a:fillRect/>
          </a:stretch>
        </p:blipFill>
        <p:spPr>
          <a:xfrm>
            <a:off x="6648862" y="2632799"/>
            <a:ext cx="4439032" cy="3618776"/>
          </a:xfrm>
          <a:prstGeom prst="rect">
            <a:avLst/>
          </a:prstGeom>
        </p:spPr>
      </p:pic>
      <p:sp>
        <p:nvSpPr>
          <p:cNvPr id="13" name="TextBox 12">
            <a:extLst>
              <a:ext uri="{FF2B5EF4-FFF2-40B4-BE49-F238E27FC236}">
                <a16:creationId xmlns:a16="http://schemas.microsoft.com/office/drawing/2014/main" id="{61096759-1AA6-66EC-A2D3-7CBF917E0421}"/>
              </a:ext>
            </a:extLst>
          </p:cNvPr>
          <p:cNvSpPr txBox="1"/>
          <p:nvPr/>
        </p:nvSpPr>
        <p:spPr>
          <a:xfrm>
            <a:off x="7252615" y="6324151"/>
            <a:ext cx="6096000" cy="215444"/>
          </a:xfrm>
          <a:prstGeom prst="rect">
            <a:avLst/>
          </a:prstGeom>
          <a:noFill/>
        </p:spPr>
        <p:txBody>
          <a:bodyPr wrap="square">
            <a:spAutoFit/>
          </a:bodyPr>
          <a:lstStyle/>
          <a:p>
            <a:r>
              <a:rPr lang="da-DK" sz="800" dirty="0"/>
              <a:t>https://scikit-learn.org/stable/modules/classes.html#module-sklearn.model_selection</a:t>
            </a:r>
          </a:p>
        </p:txBody>
      </p:sp>
      <p:pic>
        <p:nvPicPr>
          <p:cNvPr id="10" name="Picture 9">
            <a:extLst>
              <a:ext uri="{FF2B5EF4-FFF2-40B4-BE49-F238E27FC236}">
                <a16:creationId xmlns:a16="http://schemas.microsoft.com/office/drawing/2014/main" id="{B8317478-5CF3-E563-2147-50E6F6F6B284}"/>
              </a:ext>
            </a:extLst>
          </p:cNvPr>
          <p:cNvPicPr>
            <a:picLocks noChangeAspect="1"/>
          </p:cNvPicPr>
          <p:nvPr/>
        </p:nvPicPr>
        <p:blipFill rotWithShape="1">
          <a:blip r:embed="rId5"/>
          <a:srcRect r="52174"/>
          <a:stretch/>
        </p:blipFill>
        <p:spPr>
          <a:xfrm>
            <a:off x="10278796" y="273967"/>
            <a:ext cx="792088" cy="948257"/>
          </a:xfrm>
          <a:prstGeom prst="rect">
            <a:avLst/>
          </a:prstGeom>
        </p:spPr>
      </p:pic>
      <p:pic>
        <p:nvPicPr>
          <p:cNvPr id="12" name="Picture 11">
            <a:extLst>
              <a:ext uri="{FF2B5EF4-FFF2-40B4-BE49-F238E27FC236}">
                <a16:creationId xmlns:a16="http://schemas.microsoft.com/office/drawing/2014/main" id="{5CD8ECF5-6C89-B2E5-F4AD-F667E8E34732}"/>
              </a:ext>
            </a:extLst>
          </p:cNvPr>
          <p:cNvPicPr>
            <a:picLocks noChangeAspect="1"/>
          </p:cNvPicPr>
          <p:nvPr/>
        </p:nvPicPr>
        <p:blipFill rotWithShape="1">
          <a:blip r:embed="rId5"/>
          <a:srcRect l="49275"/>
          <a:stretch/>
        </p:blipFill>
        <p:spPr>
          <a:xfrm>
            <a:off x="11147756" y="328153"/>
            <a:ext cx="792088" cy="894071"/>
          </a:xfrm>
          <a:prstGeom prst="rect">
            <a:avLst/>
          </a:prstGeom>
        </p:spPr>
      </p:pic>
    </p:spTree>
    <p:extLst>
      <p:ext uri="{BB962C8B-B14F-4D97-AF65-F5344CB8AC3E}">
        <p14:creationId xmlns:p14="http://schemas.microsoft.com/office/powerpoint/2010/main" val="27357209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26</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2" y="1704975"/>
            <a:ext cx="9312373" cy="1477328"/>
          </a:xfrm>
          <a:prstGeom prst="rect">
            <a:avLst/>
          </a:prstGeom>
          <a:noFill/>
        </p:spPr>
        <p:txBody>
          <a:bodyPr wrap="square">
            <a:spAutoFit/>
          </a:bodyPr>
          <a:lstStyle/>
          <a:p>
            <a:r>
              <a:rPr lang="en-US" b="1" dirty="0"/>
              <a:t>How to train your ML model</a:t>
            </a:r>
          </a:p>
          <a:p>
            <a:pPr marL="285750" indent="-285750">
              <a:buFont typeface="Wingdings" panose="05000000000000000000" pitchFamily="2" charset="2"/>
              <a:buChar char="q"/>
            </a:pPr>
            <a:r>
              <a:rPr lang="en-US" dirty="0"/>
              <a:t>Systematically adjust the hyperparameters in order to achieve good performance.</a:t>
            </a:r>
          </a:p>
          <a:p>
            <a:pPr marL="742950" lvl="1" indent="-285750">
              <a:buFont typeface="Wingdings" panose="05000000000000000000" pitchFamily="2" charset="2"/>
              <a:buChar char="q"/>
            </a:pPr>
            <a:r>
              <a:rPr lang="en-US" dirty="0"/>
              <a:t>Bayesian optimization</a:t>
            </a:r>
          </a:p>
          <a:p>
            <a:pPr marL="742950" lvl="1" indent="-285750">
              <a:buFont typeface="Wingdings" panose="05000000000000000000" pitchFamily="2" charset="2"/>
              <a:buChar char="q"/>
            </a:pPr>
            <a:r>
              <a:rPr lang="en-US" dirty="0"/>
              <a:t>Grid search</a:t>
            </a:r>
          </a:p>
          <a:p>
            <a:pPr marL="742950" lvl="1" indent="-285750">
              <a:buFont typeface="Wingdings" panose="05000000000000000000" pitchFamily="2" charset="2"/>
              <a:buChar char="q"/>
            </a:pPr>
            <a:r>
              <a:rPr lang="en-US" dirty="0"/>
              <a:t>Random search</a:t>
            </a:r>
          </a:p>
        </p:txBody>
      </p:sp>
      <p:pic>
        <p:nvPicPr>
          <p:cNvPr id="22530" name="Picture 2" descr="Guide to Hyperparameter tuning">
            <a:extLst>
              <a:ext uri="{FF2B5EF4-FFF2-40B4-BE49-F238E27FC236}">
                <a16:creationId xmlns:a16="http://schemas.microsoft.com/office/drawing/2014/main" id="{A45A22A6-5707-7320-7C2F-A58E320124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6431" y="2762139"/>
            <a:ext cx="6984776" cy="368199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B8317478-5CF3-E563-2147-50E6F6F6B284}"/>
              </a:ext>
            </a:extLst>
          </p:cNvPr>
          <p:cNvPicPr>
            <a:picLocks noChangeAspect="1"/>
          </p:cNvPicPr>
          <p:nvPr/>
        </p:nvPicPr>
        <p:blipFill rotWithShape="1">
          <a:blip r:embed="rId4"/>
          <a:srcRect r="52174"/>
          <a:stretch/>
        </p:blipFill>
        <p:spPr>
          <a:xfrm>
            <a:off x="10278796" y="273967"/>
            <a:ext cx="792088" cy="948257"/>
          </a:xfrm>
          <a:prstGeom prst="rect">
            <a:avLst/>
          </a:prstGeom>
        </p:spPr>
      </p:pic>
      <p:pic>
        <p:nvPicPr>
          <p:cNvPr id="9" name="Picture 8">
            <a:extLst>
              <a:ext uri="{FF2B5EF4-FFF2-40B4-BE49-F238E27FC236}">
                <a16:creationId xmlns:a16="http://schemas.microsoft.com/office/drawing/2014/main" id="{5CD8ECF5-6C89-B2E5-F4AD-F667E8E34732}"/>
              </a:ext>
            </a:extLst>
          </p:cNvPr>
          <p:cNvPicPr>
            <a:picLocks noChangeAspect="1"/>
          </p:cNvPicPr>
          <p:nvPr/>
        </p:nvPicPr>
        <p:blipFill rotWithShape="1">
          <a:blip r:embed="rId4"/>
          <a:srcRect l="49275"/>
          <a:stretch/>
        </p:blipFill>
        <p:spPr>
          <a:xfrm>
            <a:off x="11147756" y="328153"/>
            <a:ext cx="792088" cy="894071"/>
          </a:xfrm>
          <a:prstGeom prst="rect">
            <a:avLst/>
          </a:prstGeom>
        </p:spPr>
      </p:pic>
    </p:spTree>
    <p:extLst>
      <p:ext uri="{BB962C8B-B14F-4D97-AF65-F5344CB8AC3E}">
        <p14:creationId xmlns:p14="http://schemas.microsoft.com/office/powerpoint/2010/main" val="35599461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Key concepts in Machine learning (ML) </a:t>
            </a:r>
          </a:p>
        </p:txBody>
      </p:sp>
      <p:sp>
        <p:nvSpPr>
          <p:cNvPr id="4" name="Slide Number Placeholder 3"/>
          <p:cNvSpPr>
            <a:spLocks noGrp="1"/>
          </p:cNvSpPr>
          <p:nvPr>
            <p:ph type="sldNum" sz="quarter" idx="11"/>
          </p:nvPr>
        </p:nvSpPr>
        <p:spPr/>
        <p:txBody>
          <a:bodyPr/>
          <a:lstStyle/>
          <a:p>
            <a:fld id="{103EA872-A674-449B-A120-B97244F8E91D}" type="slidenum">
              <a:rPr lang="en-GB" smtClean="0"/>
              <a:pPr/>
              <a:t>27</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1" y="1699100"/>
            <a:ext cx="9312373" cy="646331"/>
          </a:xfrm>
          <a:prstGeom prst="rect">
            <a:avLst/>
          </a:prstGeom>
          <a:noFill/>
        </p:spPr>
        <p:txBody>
          <a:bodyPr wrap="square">
            <a:spAutoFit/>
          </a:bodyPr>
          <a:lstStyle/>
          <a:p>
            <a:r>
              <a:rPr lang="en-US" b="1" dirty="0"/>
              <a:t>How to train your ML model</a:t>
            </a:r>
          </a:p>
          <a:p>
            <a:pPr marL="285750" indent="-285750">
              <a:buFont typeface="Wingdings" panose="05000000000000000000" pitchFamily="2" charset="2"/>
              <a:buChar char="q"/>
            </a:pPr>
            <a:r>
              <a:rPr lang="en-US" dirty="0"/>
              <a:t>Model evaluation</a:t>
            </a:r>
          </a:p>
        </p:txBody>
      </p:sp>
      <p:pic>
        <p:nvPicPr>
          <p:cNvPr id="5" name="Picture 2" descr="Precision versus accuracy. The bullseye represents the true value,... |  Download Scientific Diagram">
            <a:extLst>
              <a:ext uri="{FF2B5EF4-FFF2-40B4-BE49-F238E27FC236}">
                <a16:creationId xmlns:a16="http://schemas.microsoft.com/office/drawing/2014/main" id="{58DFF276-0081-DED4-2ECA-AA3ED687E337}"/>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146" t="2301" r="5561" b="48113"/>
          <a:stretch/>
        </p:blipFill>
        <p:spPr bwMode="auto">
          <a:xfrm>
            <a:off x="6672064" y="5297291"/>
            <a:ext cx="3096344" cy="111167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Precision versus accuracy. The bullseye represents the true value,... |  Download Scientific Diagram">
            <a:extLst>
              <a:ext uri="{FF2B5EF4-FFF2-40B4-BE49-F238E27FC236}">
                <a16:creationId xmlns:a16="http://schemas.microsoft.com/office/drawing/2014/main" id="{06750DFC-875C-385A-2207-2BA0209A9209}"/>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582" t="50190" r="3979" b="819"/>
          <a:stretch/>
        </p:blipFill>
        <p:spPr bwMode="auto">
          <a:xfrm>
            <a:off x="2279576" y="5278120"/>
            <a:ext cx="3168352" cy="1098315"/>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AB6191CB-3C2D-09E2-1040-CFA8B72A01DC}"/>
              </a:ext>
            </a:extLst>
          </p:cNvPr>
          <p:cNvCxnSpPr/>
          <p:nvPr/>
        </p:nvCxnSpPr>
        <p:spPr bwMode="auto">
          <a:xfrm>
            <a:off x="2279576" y="5085184"/>
            <a:ext cx="7704856" cy="0"/>
          </a:xfrm>
          <a:prstGeom prst="line">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Straight Connector 10">
            <a:extLst>
              <a:ext uri="{FF2B5EF4-FFF2-40B4-BE49-F238E27FC236}">
                <a16:creationId xmlns:a16="http://schemas.microsoft.com/office/drawing/2014/main" id="{A05F77BF-1A3F-DB6F-B13A-902AC254806E}"/>
              </a:ext>
            </a:extLst>
          </p:cNvPr>
          <p:cNvCxnSpPr/>
          <p:nvPr/>
        </p:nvCxnSpPr>
        <p:spPr bwMode="auto">
          <a:xfrm flipV="1">
            <a:off x="5879976" y="2348880"/>
            <a:ext cx="0" cy="2736304"/>
          </a:xfrm>
          <a:prstGeom prst="line">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TextBox 13">
            <a:extLst>
              <a:ext uri="{FF2B5EF4-FFF2-40B4-BE49-F238E27FC236}">
                <a16:creationId xmlns:a16="http://schemas.microsoft.com/office/drawing/2014/main" id="{57D655A6-46E7-43C8-87E2-601AC88E9C49}"/>
              </a:ext>
            </a:extLst>
          </p:cNvPr>
          <p:cNvSpPr txBox="1"/>
          <p:nvPr/>
        </p:nvSpPr>
        <p:spPr>
          <a:xfrm>
            <a:off x="8130786" y="4882532"/>
            <a:ext cx="691728" cy="184666"/>
          </a:xfrm>
          <a:prstGeom prst="rect">
            <a:avLst/>
          </a:prstGeom>
          <a:noFill/>
        </p:spPr>
        <p:txBody>
          <a:bodyPr wrap="none" lIns="0" tIns="0" rIns="0" bIns="0" rtlCol="0">
            <a:spAutoFit/>
          </a:bodyPr>
          <a:lstStyle/>
          <a:p>
            <a:pPr algn="r">
              <a:spcBef>
                <a:spcPts val="432"/>
              </a:spcBef>
            </a:pPr>
            <a:r>
              <a:rPr lang="da-DK" sz="1200" b="1" dirty="0">
                <a:effectLst>
                  <a:outerShdw blurRad="38100" dist="38100" dir="2700000" algn="tl">
                    <a:srgbClr val="000000">
                      <a:alpha val="43137"/>
                    </a:srgbClr>
                  </a:outerShdw>
                </a:effectLst>
              </a:rPr>
              <a:t>Regression</a:t>
            </a:r>
          </a:p>
        </p:txBody>
      </p:sp>
      <p:sp>
        <p:nvSpPr>
          <p:cNvPr id="15" name="TextBox 14">
            <a:extLst>
              <a:ext uri="{FF2B5EF4-FFF2-40B4-BE49-F238E27FC236}">
                <a16:creationId xmlns:a16="http://schemas.microsoft.com/office/drawing/2014/main" id="{042341BB-82DE-FA74-CA42-F5DA5B6FE88F}"/>
              </a:ext>
            </a:extLst>
          </p:cNvPr>
          <p:cNvSpPr txBox="1"/>
          <p:nvPr/>
        </p:nvSpPr>
        <p:spPr>
          <a:xfrm>
            <a:off x="3451305" y="4879748"/>
            <a:ext cx="837665" cy="184666"/>
          </a:xfrm>
          <a:prstGeom prst="rect">
            <a:avLst/>
          </a:prstGeom>
          <a:noFill/>
        </p:spPr>
        <p:txBody>
          <a:bodyPr wrap="none" lIns="0" tIns="0" rIns="0" bIns="0" rtlCol="0">
            <a:spAutoFit/>
          </a:bodyPr>
          <a:lstStyle/>
          <a:p>
            <a:pPr algn="r">
              <a:spcBef>
                <a:spcPts val="432"/>
              </a:spcBef>
            </a:pPr>
            <a:r>
              <a:rPr lang="da-DK" sz="1200" b="1" dirty="0" err="1">
                <a:effectLst>
                  <a:outerShdw blurRad="38100" dist="38100" dir="2700000" algn="tl">
                    <a:srgbClr val="000000">
                      <a:alpha val="43137"/>
                    </a:srgbClr>
                  </a:outerShdw>
                </a:effectLst>
              </a:rPr>
              <a:t>Classification</a:t>
            </a:r>
            <a:endParaRPr lang="da-DK" sz="1200" b="1" dirty="0">
              <a:effectLst>
                <a:outerShdw blurRad="38100" dist="38100" dir="2700000" algn="tl">
                  <a:srgbClr val="000000">
                    <a:alpha val="43137"/>
                  </a:srgbClr>
                </a:outerShdw>
              </a:effectLst>
            </a:endParaRPr>
          </a:p>
        </p:txBody>
      </p:sp>
      <p:pic>
        <p:nvPicPr>
          <p:cNvPr id="17" name="Picture 16">
            <a:extLst>
              <a:ext uri="{FF2B5EF4-FFF2-40B4-BE49-F238E27FC236}">
                <a16:creationId xmlns:a16="http://schemas.microsoft.com/office/drawing/2014/main" id="{83EAC406-742C-CCEB-0B7F-83360E96A3E4}"/>
              </a:ext>
            </a:extLst>
          </p:cNvPr>
          <p:cNvPicPr>
            <a:picLocks noChangeAspect="1"/>
          </p:cNvPicPr>
          <p:nvPr/>
        </p:nvPicPr>
        <p:blipFill>
          <a:blip r:embed="rId4"/>
          <a:stretch>
            <a:fillRect/>
          </a:stretch>
        </p:blipFill>
        <p:spPr>
          <a:xfrm>
            <a:off x="1798359" y="2490505"/>
            <a:ext cx="3986769" cy="2324425"/>
          </a:xfrm>
          <a:prstGeom prst="rect">
            <a:avLst/>
          </a:prstGeom>
        </p:spPr>
      </p:pic>
      <p:pic>
        <p:nvPicPr>
          <p:cNvPr id="19" name="Picture 18">
            <a:extLst>
              <a:ext uri="{FF2B5EF4-FFF2-40B4-BE49-F238E27FC236}">
                <a16:creationId xmlns:a16="http://schemas.microsoft.com/office/drawing/2014/main" id="{29231B58-F2DA-7792-EB80-4FDA9302427E}"/>
              </a:ext>
            </a:extLst>
          </p:cNvPr>
          <p:cNvPicPr>
            <a:picLocks noChangeAspect="1"/>
          </p:cNvPicPr>
          <p:nvPr/>
        </p:nvPicPr>
        <p:blipFill rotWithShape="1">
          <a:blip r:embed="rId5"/>
          <a:srcRect r="28241"/>
          <a:stretch/>
        </p:blipFill>
        <p:spPr>
          <a:xfrm>
            <a:off x="6551575" y="2490505"/>
            <a:ext cx="3705110" cy="2303807"/>
          </a:xfrm>
          <a:prstGeom prst="rect">
            <a:avLst/>
          </a:prstGeom>
        </p:spPr>
      </p:pic>
      <p:sp>
        <p:nvSpPr>
          <p:cNvPr id="21" name="TextBox 20">
            <a:extLst>
              <a:ext uri="{FF2B5EF4-FFF2-40B4-BE49-F238E27FC236}">
                <a16:creationId xmlns:a16="http://schemas.microsoft.com/office/drawing/2014/main" id="{3E3B603A-8B03-B8DE-5027-E191E5FAF8E7}"/>
              </a:ext>
            </a:extLst>
          </p:cNvPr>
          <p:cNvSpPr txBox="1"/>
          <p:nvPr/>
        </p:nvSpPr>
        <p:spPr>
          <a:xfrm>
            <a:off x="8760296" y="6376434"/>
            <a:ext cx="6094476" cy="215444"/>
          </a:xfrm>
          <a:prstGeom prst="rect">
            <a:avLst/>
          </a:prstGeom>
          <a:noFill/>
        </p:spPr>
        <p:txBody>
          <a:bodyPr wrap="square">
            <a:spAutoFit/>
          </a:bodyPr>
          <a:lstStyle/>
          <a:p>
            <a:r>
              <a:rPr lang="da-DK" sz="800" dirty="0"/>
              <a:t>https://scikit-learn.org/stable/modules/model_evaluation.html</a:t>
            </a:r>
          </a:p>
        </p:txBody>
      </p:sp>
      <p:pic>
        <p:nvPicPr>
          <p:cNvPr id="16" name="Picture 15">
            <a:extLst>
              <a:ext uri="{FF2B5EF4-FFF2-40B4-BE49-F238E27FC236}">
                <a16:creationId xmlns:a16="http://schemas.microsoft.com/office/drawing/2014/main" id="{B8317478-5CF3-E563-2147-50E6F6F6B284}"/>
              </a:ext>
            </a:extLst>
          </p:cNvPr>
          <p:cNvPicPr>
            <a:picLocks noChangeAspect="1"/>
          </p:cNvPicPr>
          <p:nvPr/>
        </p:nvPicPr>
        <p:blipFill rotWithShape="1">
          <a:blip r:embed="rId6"/>
          <a:srcRect r="52174"/>
          <a:stretch/>
        </p:blipFill>
        <p:spPr>
          <a:xfrm>
            <a:off x="10278796" y="273967"/>
            <a:ext cx="792088" cy="948257"/>
          </a:xfrm>
          <a:prstGeom prst="rect">
            <a:avLst/>
          </a:prstGeom>
        </p:spPr>
      </p:pic>
      <p:pic>
        <p:nvPicPr>
          <p:cNvPr id="18" name="Picture 17">
            <a:extLst>
              <a:ext uri="{FF2B5EF4-FFF2-40B4-BE49-F238E27FC236}">
                <a16:creationId xmlns:a16="http://schemas.microsoft.com/office/drawing/2014/main" id="{5CD8ECF5-6C89-B2E5-F4AD-F667E8E34732}"/>
              </a:ext>
            </a:extLst>
          </p:cNvPr>
          <p:cNvPicPr>
            <a:picLocks noChangeAspect="1"/>
          </p:cNvPicPr>
          <p:nvPr/>
        </p:nvPicPr>
        <p:blipFill rotWithShape="1">
          <a:blip r:embed="rId6"/>
          <a:srcRect l="49275"/>
          <a:stretch/>
        </p:blipFill>
        <p:spPr>
          <a:xfrm>
            <a:off x="11147756" y="328153"/>
            <a:ext cx="792088" cy="894071"/>
          </a:xfrm>
          <a:prstGeom prst="rect">
            <a:avLst/>
          </a:prstGeom>
        </p:spPr>
      </p:pic>
    </p:spTree>
    <p:extLst>
      <p:ext uri="{BB962C8B-B14F-4D97-AF65-F5344CB8AC3E}">
        <p14:creationId xmlns:p14="http://schemas.microsoft.com/office/powerpoint/2010/main" val="31770529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ea typeface="Verdana" panose="020B0604030504040204" pitchFamily="34" charset="0"/>
              </a:rPr>
              <a:t>Want to get started on Python and ML</a:t>
            </a:r>
          </a:p>
        </p:txBody>
      </p:sp>
      <p:sp>
        <p:nvSpPr>
          <p:cNvPr id="4" name="Slide Number Placeholder 3"/>
          <p:cNvSpPr>
            <a:spLocks noGrp="1"/>
          </p:cNvSpPr>
          <p:nvPr>
            <p:ph type="sldNum" sz="quarter" idx="11"/>
          </p:nvPr>
        </p:nvSpPr>
        <p:spPr/>
        <p:txBody>
          <a:bodyPr/>
          <a:lstStyle/>
          <a:p>
            <a:fld id="{103EA872-A674-449B-A120-B97244F8E91D}" type="slidenum">
              <a:rPr lang="en-GB" smtClean="0"/>
              <a:pPr/>
              <a:t>28</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0" y="1722890"/>
            <a:ext cx="3672408" cy="954107"/>
          </a:xfrm>
          <a:prstGeom prst="rect">
            <a:avLst/>
          </a:prstGeom>
          <a:noFill/>
        </p:spPr>
        <p:txBody>
          <a:bodyPr wrap="square">
            <a:spAutoFit/>
          </a:bodyPr>
          <a:lstStyle/>
          <a:p>
            <a:r>
              <a:rPr lang="en-US" b="1" dirty="0"/>
              <a:t>Open-source course in Python</a:t>
            </a:r>
          </a:p>
          <a:p>
            <a:r>
              <a:rPr lang="en-US" dirty="0"/>
              <a:t>Tailor-made course for chemical engineering</a:t>
            </a:r>
          </a:p>
        </p:txBody>
      </p:sp>
      <p:pic>
        <p:nvPicPr>
          <p:cNvPr id="23554" name="Picture 2">
            <a:extLst>
              <a:ext uri="{FF2B5EF4-FFF2-40B4-BE49-F238E27FC236}">
                <a16:creationId xmlns:a16="http://schemas.microsoft.com/office/drawing/2014/main" id="{36347908-CA83-E65B-875E-924349C730A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73288" y="3235335"/>
            <a:ext cx="2276872" cy="227687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0E87AC7-7A5A-8364-99E9-DBDE36923169}"/>
              </a:ext>
            </a:extLst>
          </p:cNvPr>
          <p:cNvPicPr>
            <a:picLocks noChangeAspect="1"/>
          </p:cNvPicPr>
          <p:nvPr/>
        </p:nvPicPr>
        <p:blipFill>
          <a:blip r:embed="rId4"/>
          <a:stretch>
            <a:fillRect/>
          </a:stretch>
        </p:blipFill>
        <p:spPr>
          <a:xfrm>
            <a:off x="5663953" y="1704976"/>
            <a:ext cx="5423941" cy="4375865"/>
          </a:xfrm>
          <a:prstGeom prst="rect">
            <a:avLst/>
          </a:prstGeom>
        </p:spPr>
      </p:pic>
      <p:sp>
        <p:nvSpPr>
          <p:cNvPr id="8" name="TextBox 7">
            <a:extLst>
              <a:ext uri="{FF2B5EF4-FFF2-40B4-BE49-F238E27FC236}">
                <a16:creationId xmlns:a16="http://schemas.microsoft.com/office/drawing/2014/main" id="{1FB06DF2-C0C2-1F1B-A399-5B18D4456474}"/>
              </a:ext>
            </a:extLst>
          </p:cNvPr>
          <p:cNvSpPr txBox="1"/>
          <p:nvPr/>
        </p:nvSpPr>
        <p:spPr>
          <a:xfrm>
            <a:off x="2999656" y="5512207"/>
            <a:ext cx="6096000" cy="369332"/>
          </a:xfrm>
          <a:prstGeom prst="rect">
            <a:avLst/>
          </a:prstGeom>
          <a:noFill/>
        </p:spPr>
        <p:txBody>
          <a:bodyPr wrap="square">
            <a:spAutoFit/>
          </a:bodyPr>
          <a:lstStyle/>
          <a:p>
            <a:r>
              <a:rPr lang="en-US" dirty="0"/>
              <a:t>Scan me</a:t>
            </a:r>
          </a:p>
        </p:txBody>
      </p:sp>
    </p:spTree>
    <p:extLst>
      <p:ext uri="{BB962C8B-B14F-4D97-AF65-F5344CB8AC3E}">
        <p14:creationId xmlns:p14="http://schemas.microsoft.com/office/powerpoint/2010/main" val="35741489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latin typeface="Verdana" panose="020B0604030504040204" pitchFamily="34" charset="0"/>
                <a:ea typeface="Verdana" panose="020B0604030504040204" pitchFamily="34" charset="0"/>
              </a:rPr>
              <a:t>Tutorials</a:t>
            </a:r>
            <a:endParaRPr lang="en-US" sz="2400" b="1" dirty="0">
              <a:latin typeface="Verdana" panose="020B0604030504040204" pitchFamily="34" charset="0"/>
              <a:ea typeface="Verdana" panose="020B0604030504040204" pitchFamily="34" charset="0"/>
            </a:endParaRPr>
          </a:p>
        </p:txBody>
      </p:sp>
      <p:sp>
        <p:nvSpPr>
          <p:cNvPr id="4" name="Slide Number Placeholder 3"/>
          <p:cNvSpPr>
            <a:spLocks noGrp="1"/>
          </p:cNvSpPr>
          <p:nvPr>
            <p:ph type="sldNum" sz="quarter" idx="11"/>
          </p:nvPr>
        </p:nvSpPr>
        <p:spPr/>
        <p:txBody>
          <a:bodyPr/>
          <a:lstStyle/>
          <a:p>
            <a:fld id="{103EA872-A674-449B-A120-B97244F8E91D}" type="slidenum">
              <a:rPr lang="en-GB" smtClean="0"/>
              <a:pPr/>
              <a:t>29</a:t>
            </a:fld>
            <a:endParaRPr lang="en-GB" dirty="0"/>
          </a:p>
        </p:txBody>
      </p:sp>
      <p:sp>
        <p:nvSpPr>
          <p:cNvPr id="7" name="TextBox 6">
            <a:extLst>
              <a:ext uri="{FF2B5EF4-FFF2-40B4-BE49-F238E27FC236}">
                <a16:creationId xmlns:a16="http://schemas.microsoft.com/office/drawing/2014/main" id="{298BAA80-0FBF-5EBE-B1EA-29B9FFCF9745}"/>
              </a:ext>
            </a:extLst>
          </p:cNvPr>
          <p:cNvSpPr txBox="1"/>
          <p:nvPr/>
        </p:nvSpPr>
        <p:spPr>
          <a:xfrm>
            <a:off x="1775521" y="1737767"/>
            <a:ext cx="9312373" cy="923330"/>
          </a:xfrm>
          <a:prstGeom prst="rect">
            <a:avLst/>
          </a:prstGeom>
          <a:noFill/>
        </p:spPr>
        <p:txBody>
          <a:bodyPr wrap="square">
            <a:spAutoFit/>
          </a:bodyPr>
          <a:lstStyle/>
          <a:p>
            <a:pPr marL="285750" indent="-285750">
              <a:buFont typeface="Wingdings" panose="05000000000000000000" pitchFamily="2" charset="2"/>
              <a:buChar char="Ø"/>
            </a:pPr>
            <a:r>
              <a:rPr lang="en-US" dirty="0"/>
              <a:t>Classification and regression materials and exercises at:</a:t>
            </a:r>
          </a:p>
          <a:p>
            <a:r>
              <a:rPr lang="en-US" dirty="0">
                <a:hlinkClick r:id="rId3"/>
              </a:rPr>
              <a:t>AI-for-Chemical-Engineers/week03 at main · </a:t>
            </a:r>
            <a:r>
              <a:rPr lang="en-US" dirty="0" err="1">
                <a:hlinkClick r:id="rId3"/>
              </a:rPr>
              <a:t>FiammettaC</a:t>
            </a:r>
            <a:r>
              <a:rPr lang="en-US" dirty="0">
                <a:hlinkClick r:id="rId3"/>
              </a:rPr>
              <a:t>/AI-for-Chemical-Engineers · GitHub</a:t>
            </a:r>
            <a:endParaRPr lang="en-US" dirty="0"/>
          </a:p>
          <a:p>
            <a:endParaRPr lang="en-US" dirty="0"/>
          </a:p>
        </p:txBody>
      </p:sp>
    </p:spTree>
    <p:extLst>
      <p:ext uri="{BB962C8B-B14F-4D97-AF65-F5344CB8AC3E}">
        <p14:creationId xmlns:p14="http://schemas.microsoft.com/office/powerpoint/2010/main" val="24035655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45661" y="2256644"/>
            <a:ext cx="10841439" cy="2706458"/>
          </a:xfrm>
        </p:spPr>
        <p:txBody>
          <a:bodyPr>
            <a:noAutofit/>
          </a:bodyPr>
          <a:lstStyle/>
          <a:p>
            <a:r>
              <a:rPr lang="en-GB" sz="3600" dirty="0"/>
              <a:t>If you have questions, feel free to write Fiammetta Caccavale at fiacac@dtu.dk</a:t>
            </a:r>
          </a:p>
        </p:txBody>
      </p:sp>
      <p:sp>
        <p:nvSpPr>
          <p:cNvPr id="5" name="Subtitle 4"/>
          <p:cNvSpPr>
            <a:spLocks noGrp="1"/>
          </p:cNvSpPr>
          <p:nvPr>
            <p:ph type="subTitle" idx="1"/>
          </p:nvPr>
        </p:nvSpPr>
        <p:spPr>
          <a:xfrm>
            <a:off x="249892" y="4569114"/>
            <a:ext cx="10841439" cy="1660654"/>
          </a:xfrm>
        </p:spPr>
        <p:txBody>
          <a:bodyPr/>
          <a:lstStyle/>
          <a:p>
            <a:r>
              <a:rPr lang="en-GB" dirty="0"/>
              <a:t>Slides credits: Fiammetta Caccavale, Sebastian Topalian, Adem R. N. Aouichaoui</a:t>
            </a:r>
          </a:p>
        </p:txBody>
      </p:sp>
    </p:spTree>
    <p:extLst>
      <p:ext uri="{BB962C8B-B14F-4D97-AF65-F5344CB8AC3E}">
        <p14:creationId xmlns:p14="http://schemas.microsoft.com/office/powerpoint/2010/main" val="22305483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HAPE_LOCKS" val="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0DACC57ABFE653469BA3B15402645F43" ma:contentTypeVersion="17" ma:contentTypeDescription="Opret et nyt dokument." ma:contentTypeScope="" ma:versionID="06e25b2e61fc6fb0b173a103436a0000">
  <xsd:schema xmlns:xsd="http://www.w3.org/2001/XMLSchema" xmlns:xs="http://www.w3.org/2001/XMLSchema" xmlns:p="http://schemas.microsoft.com/office/2006/metadata/properties" xmlns:ns3="0b372038-bdb2-4525-a385-84df920501c9" xmlns:ns4="b1ececa1-0584-4110-b801-ec06cae49910" targetNamespace="http://schemas.microsoft.com/office/2006/metadata/properties" ma:root="true" ma:fieldsID="c3ef2941d8989621020f9c367f5885d4" ns3:_="" ns4:_="">
    <xsd:import namespace="0b372038-bdb2-4525-a385-84df920501c9"/>
    <xsd:import namespace="b1ececa1-0584-4110-b801-ec06cae49910"/>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LengthInSeconds" minOccurs="0"/>
                <xsd:element ref="ns4:MediaServiceAutoTags" minOccurs="0"/>
                <xsd:element ref="ns4:MediaServiceOCR" minOccurs="0"/>
                <xsd:element ref="ns4:MediaServiceGenerationTime" minOccurs="0"/>
                <xsd:element ref="ns4:MediaServiceEventHashCode" minOccurs="0"/>
                <xsd:element ref="ns4:MediaServiceLocation" minOccurs="0"/>
                <xsd:element ref="ns4:_activity" minOccurs="0"/>
                <xsd:element ref="ns4:MediaServiceObjectDetectorVersions" minOccurs="0"/>
                <xsd:element ref="ns4:MediaServiceSystemTags" minOccurs="0"/>
                <xsd:element ref="ns4:MediaServiceSearchProperties"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b372038-bdb2-4525-a385-84df920501c9" elementFormDefault="qualified">
    <xsd:import namespace="http://schemas.microsoft.com/office/2006/documentManagement/types"/>
    <xsd:import namespace="http://schemas.microsoft.com/office/infopath/2007/PartnerControls"/>
    <xsd:element name="SharedWithUsers" ma:index="8"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lt med detaljer" ma:internalName="SharedWithDetails" ma:readOnly="true">
      <xsd:simpleType>
        <xsd:restriction base="dms:Note">
          <xsd:maxLength value="255"/>
        </xsd:restriction>
      </xsd:simpleType>
    </xsd:element>
    <xsd:element name="SharingHintHash" ma:index="10" nillable="true" ma:displayName="Hashværdi for deling"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ececa1-0584-4110-b801-ec06cae49910"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descriptio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b1ececa1-0584-4110-b801-ec06cae49910" xsi:nil="true"/>
  </documentManagement>
</p:properties>
</file>

<file path=customXml/itemProps1.xml><?xml version="1.0" encoding="utf-8"?>
<ds:datastoreItem xmlns:ds="http://schemas.openxmlformats.org/officeDocument/2006/customXml" ds:itemID="{574BF7A2-A247-4373-B96F-5835A9F537EC}">
  <ds:schemaRefs>
    <ds:schemaRef ds:uri="http://schemas.microsoft.com/sharepoint/v3/contenttype/forms"/>
  </ds:schemaRefs>
</ds:datastoreItem>
</file>

<file path=customXml/itemProps2.xml><?xml version="1.0" encoding="utf-8"?>
<ds:datastoreItem xmlns:ds="http://schemas.openxmlformats.org/officeDocument/2006/customXml" ds:itemID="{8AF7E05B-BEF3-4C43-B785-F7766BCB4A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b372038-bdb2-4525-a385-84df920501c9"/>
    <ds:schemaRef ds:uri="b1ececa1-0584-4110-b801-ec06cae4991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B807FB0-AAAA-44E9-BBB5-7299BE950969}">
  <ds:schemaRefs>
    <ds:schemaRef ds:uri="http://schemas.microsoft.com/office/infopath/2007/PartnerControls"/>
    <ds:schemaRef ds:uri="http://purl.org/dc/terms/"/>
    <ds:schemaRef ds:uri="http://schemas.microsoft.com/office/2006/metadata/properties"/>
    <ds:schemaRef ds:uri="http://schemas.microsoft.com/office/2006/documentManagement/types"/>
    <ds:schemaRef ds:uri="0b372038-bdb2-4525-a385-84df920501c9"/>
    <ds:schemaRef ds:uri="http://purl.org/dc/elements/1.1/"/>
    <ds:schemaRef ds:uri="b1ececa1-0584-4110-b801-ec06cae49910"/>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0</TotalTime>
  <Words>1631</Words>
  <Application>Microsoft Office PowerPoint</Application>
  <PresentationFormat>Widescreen</PresentationFormat>
  <Paragraphs>264</Paragraphs>
  <Slides>30</Slides>
  <Notes>24</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Introduction to machine learning</vt:lpstr>
      <vt:lpstr>PowerPoint Presentation</vt:lpstr>
      <vt:lpstr>PowerPoint Presentation</vt:lpstr>
      <vt:lpstr>PowerPoint Presentation</vt:lpstr>
      <vt:lpstr>Deep dive into ML</vt:lpstr>
      <vt:lpstr>Introduction –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Key concepts in Machine learning (ML) </vt:lpstr>
      <vt:lpstr>Want to get started on Python and ML</vt:lpstr>
      <vt:lpstr>Tutorials</vt:lpstr>
      <vt:lpstr>If you have questions, feel free to write Fiammetta Caccavale at fiacac@dtu.dk</vt:lpstr>
    </vt:vector>
  </TitlesOfParts>
  <Company>DTU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machine learning</dc:title>
  <dc:creator>Fiammetta Caccavale</dc:creator>
  <cp:lastModifiedBy>Fiammetta Caccavale</cp:lastModifiedBy>
  <cp:revision>9</cp:revision>
  <dcterms:created xsi:type="dcterms:W3CDTF">2025-11-03T14:06:00Z</dcterms:created>
  <dcterms:modified xsi:type="dcterms:W3CDTF">2026-04-01T09:46:10Z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0x0101000DACC57ABFE653469BA3B15402645F43</vt:lpwstr>
  </property>
</Properties>
</file>