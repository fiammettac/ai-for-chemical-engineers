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6"/>
  </p:sldMasterIdLst>
  <p:notesMasterIdLst>
    <p:notesMasterId r:id="rId20"/>
  </p:notesMasterIdLst>
  <p:sldIdLst>
    <p:sldId id="256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11FBA-2F86-4597-92DA-12C2DB62CC87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C919FD-153F-45E5-A8F2-C4C1738D2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6185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1" u="none" strike="noStrike" cap="none" normalizeH="0" baseline="0" dirty="0" smtClean="0">
                <a:ln>
                  <a:noFill/>
                </a:ln>
                <a:solidFill>
                  <a:srgbClr val="59636E"/>
                </a:solidFill>
                <a:effectLst/>
                <a:latin typeface="Arial Unicode MS"/>
              </a:rPr>
              <a:t># image from: https://www.google.com/search?q=yeast+images&amp;tbm=isch&amp;ved=2ahUKEwjUz-X_ldWCAxXcyAIHHYbhA1oQ2-cCegQIABAA&amp;oq=yeast+images&amp;gs_lcp=CgNpbWcQAzIFCAAQgAQyBQgAEIAEMgUIABCABDIFCAAQgAQyBQgAEIAEMgUIABCABDIGCAAQBRAeMgYIABAFEB4yBggAEAUQHjIGCAAQBRAeOgQIIxAnOgoIABCABBCKBRBDUNAJWIcYYLYaaABwAHgAgAFiiAHuCJIBAjEzmAEAoAEBqgELZ3dzLXdpei1pbWfAAQE&amp;sclient=img&amp;ei=FK1cZdT1C9yRi-gPhsOP0AU&amp;bih=963&amp;biw=1920&amp;rlz=1C1GCEA_enDK978DK978#imgrc=6qAuQC86zVkngM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212121"/>
                </a:solidFill>
                <a:effectLst/>
                <a:latin typeface="Arial Unicode MS"/>
              </a:rPr>
              <a:t> 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90786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A21B-9B48-4777-BF0D-9FB95719C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2442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>
          <p15:clr>
            <a:srgbClr val="F26B43"/>
          </p15:clr>
        </p15:guide>
        <p15:guide id="2" pos="1117">
          <p15:clr>
            <a:srgbClr val="F26B43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  <p:sldLayoutId id="214748366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customXml" Target="../../customXml/item2.xml"/><Relationship Id="rId1" Type="http://schemas.openxmlformats.org/officeDocument/2006/relationships/customXml" Target="../../customXml/item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reshapebiotech.com/" TargetMode="Externa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regulaforensics.com/blog/neural-networks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Relationship Id="rId5" Type="http://schemas.openxmlformats.org/officeDocument/2006/relationships/hyperlink" Target="https://medium.datadriveninvestor.com/a-primer-into-neural-networks-a0bc02d8513b" TargetMode="Externa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FiammettaC/AI-for-Chemical-Engineers/tree/main/week05" TargetMode="Externa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Image Processing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Fiammetta Caccavale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567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B9D89-4678-4B3C-8679-3E429EFBB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Why working with images?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5890CD-8F90-4FE7-841F-F7B0C2865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19304"/>
            <a:ext cx="3240360" cy="4545578"/>
          </a:xfrm>
        </p:spPr>
        <p:txBody>
          <a:bodyPr/>
          <a:lstStyle/>
          <a:p>
            <a:pPr marL="0" indent="0">
              <a:buNone/>
            </a:pPr>
            <a:r>
              <a:rPr lang="en-GB" dirty="0" smtClean="0"/>
              <a:t>Images provide a visual cue for detecting many aspects that could affect processes, so they could be useful for</a:t>
            </a:r>
          </a:p>
          <a:p>
            <a:r>
              <a:rPr lang="en-GB" dirty="0" smtClean="0">
                <a:sym typeface="Wingdings" panose="05000000000000000000" pitchFamily="2" charset="2"/>
              </a:rPr>
              <a:t>problems diagnostics</a:t>
            </a:r>
          </a:p>
          <a:p>
            <a:r>
              <a:rPr lang="en-GB" dirty="0" smtClean="0">
                <a:sym typeface="Wingdings" panose="05000000000000000000" pitchFamily="2" charset="2"/>
              </a:rPr>
              <a:t>corrective </a:t>
            </a:r>
            <a:r>
              <a:rPr lang="en-GB" dirty="0">
                <a:sym typeface="Wingdings" panose="05000000000000000000" pitchFamily="2" charset="2"/>
              </a:rPr>
              <a:t>actions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</a:t>
            </a:fld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8220" y="1655643"/>
            <a:ext cx="4507255" cy="4568281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100504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Image Fundamentals - The Pixel </a:t>
            </a:r>
            <a:r>
              <a:rPr lang="en-GB" dirty="0" smtClean="0"/>
              <a:t>Grid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77334" y="1758580"/>
            <a:ext cx="4176464" cy="4545578"/>
          </a:xfrm>
        </p:spPr>
        <p:txBody>
          <a:bodyPr/>
          <a:lstStyle/>
          <a:p>
            <a:r>
              <a:rPr lang="en-GB" b="1" dirty="0" smtClean="0"/>
              <a:t>Digital </a:t>
            </a:r>
            <a:r>
              <a:rPr lang="en-GB" b="1" dirty="0"/>
              <a:t>Image:</a:t>
            </a:r>
            <a:r>
              <a:rPr lang="en-GB" dirty="0"/>
              <a:t> A two-dimensional array (matrix) of numbers.</a:t>
            </a:r>
          </a:p>
          <a:p>
            <a:r>
              <a:rPr lang="en-GB" b="1" dirty="0"/>
              <a:t>Pixels (Picture Elements):</a:t>
            </a:r>
            <a:r>
              <a:rPr lang="en-GB" dirty="0"/>
              <a:t> Each number in the array represents the intensity (brightness and/or </a:t>
            </a:r>
            <a:r>
              <a:rPr lang="en-GB" dirty="0" err="1"/>
              <a:t>color</a:t>
            </a:r>
            <a:r>
              <a:rPr lang="en-GB" dirty="0"/>
              <a:t>) at a specific location.</a:t>
            </a:r>
          </a:p>
          <a:p>
            <a:endParaRPr lang="en-GB" b="1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</a:t>
            </a:fld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155" y="1833054"/>
            <a:ext cx="3562847" cy="123842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839" y="3707411"/>
            <a:ext cx="2343477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703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Image Fundamentals - The Pixel </a:t>
            </a:r>
            <a:r>
              <a:rPr lang="en-GB" dirty="0" smtClean="0"/>
              <a:t>Grid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77334" y="1678346"/>
            <a:ext cx="4320480" cy="4545578"/>
          </a:xfrm>
        </p:spPr>
        <p:txBody>
          <a:bodyPr/>
          <a:lstStyle/>
          <a:p>
            <a:r>
              <a:rPr lang="en-GB" b="1" dirty="0" smtClean="0"/>
              <a:t>Grayscale </a:t>
            </a:r>
            <a:r>
              <a:rPr lang="en-GB" b="1" dirty="0"/>
              <a:t>Images:</a:t>
            </a:r>
            <a:endParaRPr lang="en-GB" dirty="0"/>
          </a:p>
          <a:p>
            <a:pPr lvl="1"/>
            <a:r>
              <a:rPr lang="en-GB" dirty="0"/>
              <a:t>One channel (typically 8-bit).</a:t>
            </a:r>
          </a:p>
          <a:p>
            <a:pPr lvl="1"/>
            <a:r>
              <a:rPr lang="en-GB" dirty="0"/>
              <a:t>Intensity values range from 0 (Black) to 255 (White).</a:t>
            </a:r>
          </a:p>
          <a:p>
            <a:r>
              <a:rPr lang="en-GB" b="1" dirty="0" err="1"/>
              <a:t>Color</a:t>
            </a:r>
            <a:r>
              <a:rPr lang="en-GB" b="1" dirty="0"/>
              <a:t> Images (RGB):</a:t>
            </a:r>
            <a:endParaRPr lang="en-GB" dirty="0"/>
          </a:p>
          <a:p>
            <a:pPr lvl="1"/>
            <a:r>
              <a:rPr lang="en-GB" dirty="0"/>
              <a:t>Three independent channels: Red, Green, and Blue.</a:t>
            </a:r>
          </a:p>
          <a:p>
            <a:pPr lvl="1"/>
            <a:r>
              <a:rPr lang="en-GB" dirty="0"/>
              <a:t>Each pixel has three values (one for each channel) to define its </a:t>
            </a:r>
            <a:r>
              <a:rPr lang="en-GB" dirty="0" err="1"/>
              <a:t>color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</a:t>
            </a:fld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837" y="1678346"/>
            <a:ext cx="3953427" cy="23530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1466" y="4222375"/>
            <a:ext cx="3934374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286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9259146" cy="1320800"/>
          </a:xfrm>
        </p:spPr>
        <p:txBody>
          <a:bodyPr/>
          <a:lstStyle/>
          <a:p>
            <a:r>
              <a:rPr lang="en-GB" dirty="0"/>
              <a:t>Foundational Operations - Spatial </a:t>
            </a:r>
            <a:r>
              <a:rPr lang="en-GB" dirty="0" smtClean="0"/>
              <a:t>Domain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78346"/>
            <a:ext cx="5328592" cy="454557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 smtClean="0"/>
              <a:t>Spatial </a:t>
            </a:r>
            <a:r>
              <a:rPr lang="en-GB" b="1" dirty="0"/>
              <a:t>Domain:</a:t>
            </a:r>
            <a:r>
              <a:rPr lang="en-GB" dirty="0"/>
              <a:t> Directly manipulating the pixel values of the image.</a:t>
            </a:r>
          </a:p>
          <a:p>
            <a:r>
              <a:rPr lang="en-GB" b="1" dirty="0" smtClean="0"/>
              <a:t>Point </a:t>
            </a:r>
            <a:r>
              <a:rPr lang="en-GB" b="1" dirty="0"/>
              <a:t>Processing (Pixel-wise):</a:t>
            </a:r>
            <a:endParaRPr lang="en-GB" dirty="0"/>
          </a:p>
          <a:p>
            <a:pPr lvl="1"/>
            <a:r>
              <a:rPr lang="en-GB" dirty="0"/>
              <a:t>Operations applied to individual pixels, independent of </a:t>
            </a:r>
            <a:r>
              <a:rPr lang="en-GB" dirty="0" err="1"/>
              <a:t>neighbors</a:t>
            </a:r>
            <a:r>
              <a:rPr lang="en-GB" dirty="0"/>
              <a:t>.</a:t>
            </a:r>
          </a:p>
          <a:p>
            <a:pPr lvl="1"/>
            <a:r>
              <a:rPr lang="en-GB" i="1" dirty="0"/>
              <a:t>Examples:</a:t>
            </a:r>
            <a:r>
              <a:rPr lang="en-GB" dirty="0"/>
              <a:t> Contrast stretching, brightness adjustment, </a:t>
            </a:r>
            <a:r>
              <a:rPr lang="en-GB" dirty="0" err="1"/>
              <a:t>thresholding</a:t>
            </a:r>
            <a:r>
              <a:rPr lang="en-GB" dirty="0"/>
              <a:t> (converting to pure black/white</a:t>
            </a:r>
            <a:r>
              <a:rPr lang="en-GB" dirty="0" smtClean="0"/>
              <a:t>).</a:t>
            </a:r>
          </a:p>
          <a:p>
            <a:r>
              <a:rPr lang="en-GB" b="1" dirty="0" smtClean="0"/>
              <a:t>Neighbourhood </a:t>
            </a:r>
            <a:r>
              <a:rPr lang="en-GB" b="1" dirty="0"/>
              <a:t>Processing (Filtering/Convolution):</a:t>
            </a:r>
            <a:endParaRPr lang="en-GB" dirty="0"/>
          </a:p>
          <a:p>
            <a:pPr lvl="1"/>
            <a:r>
              <a:rPr lang="en-GB" dirty="0"/>
              <a:t>Operations applied to a pixel based on the values of its surrounding neighbours (the kernel/mask).</a:t>
            </a:r>
          </a:p>
          <a:p>
            <a:pPr lvl="1"/>
            <a:r>
              <a:rPr lang="en-GB" dirty="0"/>
              <a:t>Used for: Smoothing, Sharpening, and Edge Detection.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5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52607" b="51397"/>
          <a:stretch/>
        </p:blipFill>
        <p:spPr>
          <a:xfrm>
            <a:off x="5870336" y="1597618"/>
            <a:ext cx="3888225" cy="247954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52393" b="51397"/>
          <a:stretch/>
        </p:blipFill>
        <p:spPr>
          <a:xfrm>
            <a:off x="5877104" y="4157890"/>
            <a:ext cx="3881457" cy="246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012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Filtering: Smoothing and </a:t>
            </a:r>
            <a:r>
              <a:rPr lang="en-GB" dirty="0" smtClean="0"/>
              <a:t>Sharpening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32453"/>
            <a:ext cx="4817775" cy="4545578"/>
          </a:xfrm>
        </p:spPr>
        <p:txBody>
          <a:bodyPr>
            <a:normAutofit lnSpcReduction="10000"/>
          </a:bodyPr>
          <a:lstStyle/>
          <a:p>
            <a:r>
              <a:rPr lang="en-GB" b="1" dirty="0" smtClean="0"/>
              <a:t>Smoothing </a:t>
            </a:r>
            <a:r>
              <a:rPr lang="en-GB" b="1" dirty="0"/>
              <a:t>Filters (Low-pass):</a:t>
            </a:r>
            <a:endParaRPr lang="en-GB" dirty="0"/>
          </a:p>
          <a:p>
            <a:pPr lvl="1"/>
            <a:r>
              <a:rPr lang="en-GB" i="1" dirty="0"/>
              <a:t>Goal:</a:t>
            </a:r>
            <a:r>
              <a:rPr lang="en-GB" dirty="0"/>
              <a:t> Reduce noise and blur fine details (e.g., Gaussian Blur, Mean Filter).</a:t>
            </a:r>
          </a:p>
          <a:p>
            <a:pPr lvl="1"/>
            <a:r>
              <a:rPr lang="en-GB" i="1" dirty="0"/>
              <a:t>Mechanism:</a:t>
            </a:r>
            <a:r>
              <a:rPr lang="en-GB" dirty="0"/>
              <a:t> Averages the pixel values in the neighbourhood.</a:t>
            </a:r>
          </a:p>
          <a:p>
            <a:r>
              <a:rPr lang="en-GB" b="1" dirty="0"/>
              <a:t>Sharpening Filters (High-pass):</a:t>
            </a:r>
            <a:endParaRPr lang="en-GB" dirty="0"/>
          </a:p>
          <a:p>
            <a:pPr lvl="1"/>
            <a:r>
              <a:rPr lang="en-GB" i="1" dirty="0"/>
              <a:t>Goal:</a:t>
            </a:r>
            <a:r>
              <a:rPr lang="en-GB" dirty="0"/>
              <a:t> Enhance fine details and edges.</a:t>
            </a:r>
          </a:p>
          <a:p>
            <a:pPr lvl="1"/>
            <a:r>
              <a:rPr lang="en-GB" i="1" dirty="0"/>
              <a:t>Mechanism:</a:t>
            </a:r>
            <a:r>
              <a:rPr lang="en-GB" dirty="0"/>
              <a:t> Highlights intensity differences between a pixel and its neighbours.</a:t>
            </a:r>
          </a:p>
          <a:p>
            <a:r>
              <a:rPr lang="en-GB" b="1" dirty="0"/>
              <a:t>Edge Detection:</a:t>
            </a:r>
            <a:endParaRPr lang="en-GB" dirty="0"/>
          </a:p>
          <a:p>
            <a:pPr lvl="1"/>
            <a:r>
              <a:rPr lang="en-GB" dirty="0"/>
              <a:t>A specialized high-pass technique (e.g., Sobel, Canny).</a:t>
            </a:r>
          </a:p>
          <a:p>
            <a:pPr lvl="1"/>
            <a:r>
              <a:rPr lang="en-GB" dirty="0"/>
              <a:t>Identifies abrupt changes in image intensity, outlining objects.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6</a:t>
            </a:fld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52795" r="52607"/>
          <a:stretch/>
        </p:blipFill>
        <p:spPr>
          <a:xfrm>
            <a:off x="5906102" y="1572386"/>
            <a:ext cx="3927930" cy="243285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52505" t="52795"/>
          <a:stretch/>
        </p:blipFill>
        <p:spPr>
          <a:xfrm>
            <a:off x="5906102" y="4097683"/>
            <a:ext cx="3936313" cy="243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409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</a:t>
            </a:r>
            <a:r>
              <a:rPr lang="en-US" dirty="0" smtClean="0"/>
              <a:t>Applications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06328"/>
            <a:ext cx="5009363" cy="4545578"/>
          </a:xfrm>
        </p:spPr>
        <p:txBody>
          <a:bodyPr>
            <a:normAutofit/>
          </a:bodyPr>
          <a:lstStyle/>
          <a:p>
            <a:r>
              <a:rPr lang="en-US" sz="1600" b="1" dirty="0" smtClean="0"/>
              <a:t>Computer </a:t>
            </a:r>
            <a:r>
              <a:rPr lang="en-US" sz="1600" b="1" dirty="0"/>
              <a:t>Vision:</a:t>
            </a:r>
            <a:r>
              <a:rPr lang="en-US" sz="1600" dirty="0"/>
              <a:t> Object recognition, facial recognition, autonomous vehicle navigation.</a:t>
            </a:r>
          </a:p>
          <a:p>
            <a:r>
              <a:rPr lang="en-US" sz="1600" b="1" dirty="0" smtClean="0"/>
              <a:t>Medical </a:t>
            </a:r>
            <a:r>
              <a:rPr lang="en-US" sz="1600" b="1" dirty="0"/>
              <a:t>Imaging:</a:t>
            </a:r>
            <a:r>
              <a:rPr lang="en-US" sz="1600" dirty="0"/>
              <a:t> Enhancing X-rays, MRIs, and CT scans; detecting tumors or anomalies.</a:t>
            </a:r>
          </a:p>
          <a:p>
            <a:r>
              <a:rPr lang="en-US" sz="1600" b="1" dirty="0" smtClean="0"/>
              <a:t>Remote </a:t>
            </a:r>
            <a:r>
              <a:rPr lang="en-US" sz="1600" b="1" dirty="0"/>
              <a:t>Sensing:</a:t>
            </a:r>
            <a:r>
              <a:rPr lang="en-US" sz="1600" dirty="0"/>
              <a:t> Satellite imaging for land-use classification, weather forecasting, and environmental monitoring.</a:t>
            </a:r>
          </a:p>
          <a:p>
            <a:r>
              <a:rPr lang="en-US" sz="1600" b="1" dirty="0" smtClean="0"/>
              <a:t>Security </a:t>
            </a:r>
            <a:r>
              <a:rPr lang="en-US" sz="1600" b="1" dirty="0"/>
              <a:t>and Surveillance:</a:t>
            </a:r>
            <a:r>
              <a:rPr lang="en-US" sz="1600" dirty="0"/>
              <a:t> Motion detection, tracking, license plate recognition.</a:t>
            </a:r>
          </a:p>
          <a:p>
            <a:r>
              <a:rPr lang="en-US" sz="1600" b="1" dirty="0" smtClean="0"/>
              <a:t>Photography </a:t>
            </a:r>
            <a:r>
              <a:rPr lang="en-US" sz="1600" b="1" dirty="0"/>
              <a:t>and Graphic Design:</a:t>
            </a:r>
            <a:r>
              <a:rPr lang="en-US" sz="1600" dirty="0"/>
              <a:t> Digital restoration, special effects, compression (e.g., JPEG).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7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461" y="1706328"/>
            <a:ext cx="5188268" cy="36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8469" y="5480046"/>
            <a:ext cx="6092825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050" dirty="0"/>
              <a:t>https://www.kaggle.com/code/bonhart/brain-mri-data-visualization-unet-fpn</a:t>
            </a:r>
          </a:p>
        </p:txBody>
      </p:sp>
    </p:spTree>
    <p:extLst>
      <p:ext uri="{BB962C8B-B14F-4D97-AF65-F5344CB8AC3E}">
        <p14:creationId xmlns:p14="http://schemas.microsoft.com/office/powerpoint/2010/main" val="2867921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Images in Chemical Engineering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41162"/>
            <a:ext cx="4608512" cy="4545578"/>
          </a:xfrm>
        </p:spPr>
        <p:txBody>
          <a:bodyPr>
            <a:normAutofit fontScale="92500" lnSpcReduction="10000"/>
          </a:bodyPr>
          <a:lstStyle/>
          <a:p>
            <a:r>
              <a:rPr lang="en-GB" dirty="0" smtClean="0"/>
              <a:t>Granulation</a:t>
            </a:r>
          </a:p>
          <a:p>
            <a:r>
              <a:rPr lang="en-GB" dirty="0"/>
              <a:t>Computational Fluid Dynamics (bubble detection, segmentation, </a:t>
            </a:r>
            <a:r>
              <a:rPr lang="en-GB" dirty="0" smtClean="0"/>
              <a:t>shape reconstruction)</a:t>
            </a:r>
            <a:endParaRPr lang="en-GB" dirty="0"/>
          </a:p>
          <a:p>
            <a:r>
              <a:rPr lang="en-GB" dirty="0" smtClean="0"/>
              <a:t>Wastewater research</a:t>
            </a:r>
          </a:p>
          <a:p>
            <a:r>
              <a:rPr lang="en-GB" dirty="0" smtClean="0"/>
              <a:t>Spectral analysis</a:t>
            </a:r>
          </a:p>
          <a:p>
            <a:r>
              <a:rPr lang="en-US" dirty="0"/>
              <a:t>F</a:t>
            </a:r>
            <a:r>
              <a:rPr lang="en-US" dirty="0" smtClean="0"/>
              <a:t>luidized </a:t>
            </a:r>
            <a:r>
              <a:rPr lang="en-US" dirty="0"/>
              <a:t>bed </a:t>
            </a:r>
            <a:r>
              <a:rPr lang="en-US" dirty="0" smtClean="0"/>
              <a:t>applications</a:t>
            </a:r>
          </a:p>
          <a:p>
            <a:r>
              <a:rPr lang="en-US" dirty="0" smtClean="0"/>
              <a:t>Bacterial growth</a:t>
            </a:r>
            <a:endParaRPr lang="en-GB" dirty="0" smtClean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r>
              <a:rPr lang="en-GB" dirty="0">
                <a:hlinkClick r:id="rId2"/>
              </a:rPr>
              <a:t>https://www.reshapebiotech.com</a:t>
            </a:r>
            <a:r>
              <a:rPr lang="en-GB" dirty="0" smtClean="0">
                <a:hlinkClick r:id="rId2"/>
              </a:rPr>
              <a:t>/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8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516" y="2406391"/>
            <a:ext cx="4197566" cy="264808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74644" y="5177527"/>
            <a:ext cx="3983310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700" dirty="0" err="1"/>
              <a:t>Yizhou</a:t>
            </a:r>
            <a:r>
              <a:rPr lang="en-GB" sz="700" dirty="0"/>
              <a:t> Cui, </a:t>
            </a:r>
            <a:r>
              <a:rPr lang="en-GB" sz="700" dirty="0" err="1"/>
              <a:t>Chengxiang</a:t>
            </a:r>
            <a:r>
              <a:rPr lang="en-GB" sz="700" dirty="0"/>
              <a:t> Li, </a:t>
            </a:r>
            <a:r>
              <a:rPr lang="en-GB" sz="700" dirty="0" err="1"/>
              <a:t>Wanli</a:t>
            </a:r>
            <a:r>
              <a:rPr lang="en-GB" sz="700" dirty="0"/>
              <a:t> Zhang, </a:t>
            </a:r>
            <a:r>
              <a:rPr lang="en-GB" sz="700" dirty="0" err="1"/>
              <a:t>Xiaoqi</a:t>
            </a:r>
            <a:r>
              <a:rPr lang="en-GB" sz="700" dirty="0"/>
              <a:t> Ning, </a:t>
            </a:r>
            <a:r>
              <a:rPr lang="en-GB" sz="700" dirty="0" err="1"/>
              <a:t>Xiaogang</a:t>
            </a:r>
            <a:r>
              <a:rPr lang="en-GB" sz="700" dirty="0"/>
              <a:t> Shi, </a:t>
            </a:r>
            <a:r>
              <a:rPr lang="en-GB" sz="700" dirty="0" err="1"/>
              <a:t>Jinsen</a:t>
            </a:r>
            <a:r>
              <a:rPr lang="en-GB" sz="700" dirty="0"/>
              <a:t> Gao, </a:t>
            </a:r>
            <a:r>
              <a:rPr lang="en-GB" sz="700" dirty="0" err="1"/>
              <a:t>Xingying</a:t>
            </a:r>
            <a:r>
              <a:rPr lang="en-GB" sz="700" dirty="0"/>
              <a:t> </a:t>
            </a:r>
            <a:r>
              <a:rPr lang="en-GB" sz="700" dirty="0"/>
              <a:t>Lan, A </a:t>
            </a:r>
            <a:r>
              <a:rPr lang="en-GB" sz="700" dirty="0"/>
              <a:t>deep learning-based image </a:t>
            </a:r>
            <a:r>
              <a:rPr lang="en-GB" sz="700" dirty="0"/>
              <a:t>processing method </a:t>
            </a:r>
            <a:r>
              <a:rPr lang="en-GB" sz="700" dirty="0"/>
              <a:t>for bubble detection, segmentation, and shape reconstruction </a:t>
            </a:r>
            <a:r>
              <a:rPr lang="en-GB" sz="700" dirty="0"/>
              <a:t>in high </a:t>
            </a:r>
            <a:r>
              <a:rPr lang="en-GB" sz="700" dirty="0"/>
              <a:t>gas holdup sub-</a:t>
            </a:r>
            <a:r>
              <a:rPr lang="en-GB" sz="700" dirty="0" err="1"/>
              <a:t>millimeter</a:t>
            </a:r>
            <a:r>
              <a:rPr lang="en-GB" sz="700" dirty="0"/>
              <a:t> bubbly </a:t>
            </a:r>
            <a:r>
              <a:rPr lang="en-GB" sz="700" dirty="0"/>
              <a:t>flows, Chemical Engineering Journal, Volume 449, 2022, 137859, ISSN 1385-8947, https</a:t>
            </a:r>
            <a:r>
              <a:rPr lang="en-GB" sz="700" dirty="0"/>
              <a:t>://doi.org/10.1016/j.cej.2022.137859.</a:t>
            </a:r>
          </a:p>
        </p:txBody>
      </p:sp>
    </p:spTree>
    <p:extLst>
      <p:ext uri="{BB962C8B-B14F-4D97-AF65-F5344CB8AC3E}">
        <p14:creationId xmlns:p14="http://schemas.microsoft.com/office/powerpoint/2010/main" val="2267615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Application in Chemical Engineering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39365"/>
            <a:ext cx="7560840" cy="4767122"/>
          </a:xfrm>
        </p:spPr>
        <p:txBody>
          <a:bodyPr>
            <a:normAutofit fontScale="92500" lnSpcReduction="20000"/>
          </a:bodyPr>
          <a:lstStyle/>
          <a:p>
            <a:r>
              <a:rPr lang="en-GB" sz="1600" b="1" dirty="0"/>
              <a:t>Particle Characterization:</a:t>
            </a:r>
            <a:endParaRPr lang="en-GB" sz="1600" dirty="0"/>
          </a:p>
          <a:p>
            <a:pPr lvl="1"/>
            <a:r>
              <a:rPr lang="en-GB" dirty="0"/>
              <a:t>Quantifying particle size distribution, shape, and agglomeration in processes like crystallization and precipitation.</a:t>
            </a:r>
          </a:p>
          <a:p>
            <a:pPr lvl="1"/>
            <a:r>
              <a:rPr lang="en-GB" dirty="0"/>
              <a:t>Enables precise control over product quality and reaction kinetics.</a:t>
            </a:r>
          </a:p>
          <a:p>
            <a:r>
              <a:rPr lang="en-GB" sz="1600" b="1" dirty="0"/>
              <a:t>Fluid Dynamics &amp; Mixing Analysis:</a:t>
            </a:r>
            <a:endParaRPr lang="en-GB" sz="1600" dirty="0"/>
          </a:p>
          <a:p>
            <a:pPr lvl="1"/>
            <a:r>
              <a:rPr lang="en-GB" dirty="0" err="1"/>
              <a:t>Analyzes</a:t>
            </a:r>
            <a:r>
              <a:rPr lang="en-GB" dirty="0"/>
              <a:t> complex flow fields, mixing efficiency, and turbulence in reactors and pipes.</a:t>
            </a:r>
          </a:p>
          <a:p>
            <a:pPr lvl="1"/>
            <a:r>
              <a:rPr lang="en-GB" dirty="0"/>
              <a:t>Tracks tracer particles to map velocity vectors.</a:t>
            </a:r>
          </a:p>
          <a:p>
            <a:r>
              <a:rPr lang="en-GB" sz="1600" b="1" dirty="0"/>
              <a:t>Quality Control &amp; Surface Inspection:</a:t>
            </a:r>
            <a:endParaRPr lang="en-GB" sz="1600" dirty="0"/>
          </a:p>
          <a:p>
            <a:pPr lvl="1"/>
            <a:r>
              <a:rPr lang="en-GB" dirty="0"/>
              <a:t>Automated visual inspection of materials (e.g., coatings, membranes) for defects.</a:t>
            </a:r>
          </a:p>
          <a:p>
            <a:pPr lvl="1"/>
            <a:r>
              <a:rPr lang="en-GB" dirty="0"/>
              <a:t>Ensures consistency in manufacturing processes.</a:t>
            </a:r>
          </a:p>
          <a:p>
            <a:r>
              <a:rPr lang="en-GB" sz="1600" b="1" dirty="0"/>
              <a:t>Reactor and Combustion Monitoring:</a:t>
            </a:r>
            <a:endParaRPr lang="en-GB" sz="1600" dirty="0"/>
          </a:p>
          <a:p>
            <a:pPr lvl="1"/>
            <a:r>
              <a:rPr lang="en-GB" dirty="0"/>
              <a:t>Real-time observation of reaction zones, bubble size/velocity in fluidized beds, and flame analysis in furnaces.</a:t>
            </a:r>
          </a:p>
          <a:p>
            <a:pPr lvl="1"/>
            <a:r>
              <a:rPr lang="en-GB" dirty="0"/>
              <a:t>Provides data for optimizing reaction conditions and safety.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9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5192"/>
          <a:stretch/>
        </p:blipFill>
        <p:spPr>
          <a:xfrm>
            <a:off x="8231756" y="1405900"/>
            <a:ext cx="2706640" cy="500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066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features can you extract from images?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 smtClean="0"/>
              <a:t>Features you CAN’T extract from images:</a:t>
            </a:r>
          </a:p>
          <a:p>
            <a:r>
              <a:rPr lang="en-GB" dirty="0" smtClean="0"/>
              <a:t>pH</a:t>
            </a:r>
            <a:endParaRPr lang="en-GB" dirty="0"/>
          </a:p>
          <a:p>
            <a:r>
              <a:rPr lang="en-GB" dirty="0"/>
              <a:t>Concentrations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smtClean="0"/>
              <a:t>Features you CAN extract from images:</a:t>
            </a:r>
          </a:p>
          <a:p>
            <a:r>
              <a:rPr lang="en-GB" dirty="0" smtClean="0"/>
              <a:t>Particle size (effecting the transfer)</a:t>
            </a:r>
          </a:p>
          <a:p>
            <a:r>
              <a:rPr lang="en-GB" dirty="0" smtClean="0"/>
              <a:t>Shape (roundness, area)</a:t>
            </a:r>
          </a:p>
          <a:p>
            <a:r>
              <a:rPr lang="en-GB" dirty="0" smtClean="0"/>
              <a:t>Distance between particles</a:t>
            </a:r>
          </a:p>
          <a:p>
            <a:r>
              <a:rPr lang="en-GB" dirty="0" smtClean="0"/>
              <a:t>Infections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3287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Methods used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16000" lvl="1" indent="0">
              <a:buNone/>
            </a:pPr>
            <a:endParaRPr lang="en-GB" dirty="0"/>
          </a:p>
          <a:p>
            <a:pPr marL="216000" lvl="1" indent="0">
              <a:buNone/>
            </a:pPr>
            <a:endParaRPr lang="en-GB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11</a:t>
            </a:fld>
            <a:endParaRPr lang="en-GB" dirty="0"/>
          </a:p>
        </p:txBody>
      </p:sp>
      <p:pic>
        <p:nvPicPr>
          <p:cNvPr id="2052" name="Picture 4" descr="https://miro.medium.com/v2/resize:fit:700/0*LeK_gmCf3DfO3gj_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2282840"/>
            <a:ext cx="6667500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4589325" y="5793037"/>
            <a:ext cx="484042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50" dirty="0"/>
              <a:t>https://medium.com/@draj0718/convolutional-neural-networks-cnn-architectures-explained-716fb197b243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677737" y="1694222"/>
            <a:ext cx="7056784" cy="4546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GB" dirty="0"/>
              <a:t>Modern image processing leverages </a:t>
            </a:r>
            <a:r>
              <a:rPr lang="en-GB" b="1" dirty="0"/>
              <a:t>ML</a:t>
            </a:r>
            <a:r>
              <a:rPr lang="en-GB" dirty="0"/>
              <a:t>, especially </a:t>
            </a:r>
            <a:r>
              <a:rPr lang="en-GB" b="1" dirty="0"/>
              <a:t>Convolutional Neural Networks (CNNs)</a:t>
            </a:r>
            <a:r>
              <a:rPr lang="en-GB" dirty="0"/>
              <a:t>, for automatic feature extraction and advanced interpretation.</a:t>
            </a:r>
          </a:p>
          <a:p>
            <a:pPr marL="0" indent="0">
              <a:buNone/>
            </a:pPr>
            <a:endParaRPr lang="en-GB" kern="0" dirty="0"/>
          </a:p>
        </p:txBody>
      </p:sp>
    </p:spTree>
    <p:extLst>
      <p:ext uri="{BB962C8B-B14F-4D97-AF65-F5344CB8AC3E}">
        <p14:creationId xmlns:p14="http://schemas.microsoft.com/office/powerpoint/2010/main" val="4042012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Neural Networks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5" name="Freeform 2"/>
          <p:cNvSpPr/>
          <p:nvPr/>
        </p:nvSpPr>
        <p:spPr>
          <a:xfrm>
            <a:off x="747010" y="1807194"/>
            <a:ext cx="3569148" cy="1863865"/>
          </a:xfrm>
          <a:custGeom>
            <a:avLst/>
            <a:gdLst/>
            <a:ahLst/>
            <a:cxnLst/>
            <a:rect l="l" t="t" r="r" b="b"/>
            <a:pathLst>
              <a:path w="5354419" h="2796161">
                <a:moveTo>
                  <a:pt x="0" y="0"/>
                </a:moveTo>
                <a:lnTo>
                  <a:pt x="5354419" y="0"/>
                </a:lnTo>
                <a:lnTo>
                  <a:pt x="5354419" y="2796161"/>
                </a:lnTo>
                <a:lnTo>
                  <a:pt x="0" y="27961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30" t="-25798" r="-110233"/>
            </a:stretch>
          </a:blipFill>
        </p:spPr>
      </p:sp>
      <p:sp>
        <p:nvSpPr>
          <p:cNvPr id="6" name="Freeform 3">
            <a:hlinkClick r:id="rId3" tooltip="https://regulaforensics.com/blog/neural-networks/"/>
          </p:cNvPr>
          <p:cNvSpPr/>
          <p:nvPr/>
        </p:nvSpPr>
        <p:spPr>
          <a:xfrm>
            <a:off x="4975668" y="2037990"/>
            <a:ext cx="6129465" cy="3202646"/>
          </a:xfrm>
          <a:custGeom>
            <a:avLst/>
            <a:gdLst/>
            <a:ahLst/>
            <a:cxnLst/>
            <a:rect l="l" t="t" r="r" b="b"/>
            <a:pathLst>
              <a:path w="9195395" h="4804594">
                <a:moveTo>
                  <a:pt x="0" y="0"/>
                </a:moveTo>
                <a:lnTo>
                  <a:pt x="9195395" y="0"/>
                </a:lnTo>
                <a:lnTo>
                  <a:pt x="9195395" y="4804594"/>
                </a:lnTo>
                <a:lnTo>
                  <a:pt x="0" y="4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5"/>
          <p:cNvSpPr txBox="1"/>
          <p:nvPr/>
        </p:nvSpPr>
        <p:spPr>
          <a:xfrm>
            <a:off x="949815" y="5486368"/>
            <a:ext cx="3800452" cy="128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27"/>
              </a:lnSpc>
            </a:pPr>
            <a:r>
              <a:rPr lang="en-US" sz="733" u="sng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  <a:hlinkClick r:id="rId5" tooltip="https://medium.datadriveninvestor.com/a-primer-into-neural-networks-a0bc02d8513b"/>
              </a:rPr>
              <a:t>https://medium.datadriveninvestor.com/a-primer-into-neural-networks-a0bc02d8513b</a:t>
            </a:r>
          </a:p>
        </p:txBody>
      </p:sp>
      <p:sp>
        <p:nvSpPr>
          <p:cNvPr id="8" name="TextBox 6"/>
          <p:cNvSpPr txBox="1"/>
          <p:nvPr/>
        </p:nvSpPr>
        <p:spPr>
          <a:xfrm>
            <a:off x="8838844" y="4863381"/>
            <a:ext cx="2409467" cy="128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27"/>
              </a:lnSpc>
              <a:spcBef>
                <a:spcPct val="0"/>
              </a:spcBef>
            </a:pPr>
            <a:r>
              <a:rPr lang="en-US" sz="733" u="sng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https://regulaforensics.com/blog/neural-networks/</a:t>
            </a:r>
          </a:p>
        </p:txBody>
      </p:sp>
      <p:sp>
        <p:nvSpPr>
          <p:cNvPr id="9" name="Freeform 7"/>
          <p:cNvSpPr/>
          <p:nvPr/>
        </p:nvSpPr>
        <p:spPr>
          <a:xfrm>
            <a:off x="686505" y="3671058"/>
            <a:ext cx="3813528" cy="1834358"/>
          </a:xfrm>
          <a:custGeom>
            <a:avLst/>
            <a:gdLst/>
            <a:ahLst/>
            <a:cxnLst/>
            <a:rect l="l" t="t" r="r" b="b"/>
            <a:pathLst>
              <a:path w="5721037" h="2751896">
                <a:moveTo>
                  <a:pt x="0" y="0"/>
                </a:moveTo>
                <a:lnTo>
                  <a:pt x="5721037" y="0"/>
                </a:lnTo>
                <a:lnTo>
                  <a:pt x="5721037" y="2751895"/>
                </a:lnTo>
                <a:lnTo>
                  <a:pt x="0" y="27518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538" t="-27821"/>
            </a:stretch>
          </a:blipFill>
        </p:spPr>
      </p:sp>
      <p:sp>
        <p:nvSpPr>
          <p:cNvPr id="10" name="TextBox 8"/>
          <p:cNvSpPr txBox="1"/>
          <p:nvPr/>
        </p:nvSpPr>
        <p:spPr>
          <a:xfrm>
            <a:off x="2850043" y="1650581"/>
            <a:ext cx="1649991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</a:pPr>
            <a:r>
              <a:rPr lang="en-US" sz="1667" b="1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Biological Neuron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2531584" y="3639313"/>
            <a:ext cx="2332329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</a:pPr>
            <a:r>
              <a:rPr lang="en-US" sz="1667" b="1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Artificial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2105588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Tutorials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/>
              <a:t>Image processing material and </a:t>
            </a:r>
            <a:r>
              <a:rPr lang="en-GB" dirty="0"/>
              <a:t>exercise at:</a:t>
            </a:r>
          </a:p>
          <a:p>
            <a:r>
              <a:rPr lang="en-GB" dirty="0">
                <a:hlinkClick r:id="rId2"/>
              </a:rPr>
              <a:t>https://</a:t>
            </a:r>
            <a:r>
              <a:rPr lang="en-GB" dirty="0" smtClean="0">
                <a:hlinkClick r:id="rId2"/>
              </a:rPr>
              <a:t>github.com/FiammettaC/AI-for-Chemical-Engineers/tree/main/week05</a:t>
            </a:r>
            <a:endParaRPr lang="en-GB" dirty="0" smtClean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384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TemplateConfiguration><![CDATA[{"elementsMetadata":[],"enableDocumentContentUpdater":true,"documentContentValidatorConfiguration":{"enableDocumentContentValidator":false,"documentContentValidatorVersion":0},"slideId":"636837486369753289","version":"1.2"}]]></TemplafySlideTemplateConfiguration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DACC57ABFE653469BA3B15402645F43" ma:contentTypeVersion="17" ma:contentTypeDescription="Opret et nyt dokument." ma:contentTypeScope="" ma:versionID="06e25b2e61fc6fb0b173a103436a0000">
  <xsd:schema xmlns:xsd="http://www.w3.org/2001/XMLSchema" xmlns:xs="http://www.w3.org/2001/XMLSchema" xmlns:p="http://schemas.microsoft.com/office/2006/metadata/properties" xmlns:ns3="0b372038-bdb2-4525-a385-84df920501c9" xmlns:ns4="b1ececa1-0584-4110-b801-ec06cae49910" targetNamespace="http://schemas.microsoft.com/office/2006/metadata/properties" ma:root="true" ma:fieldsID="c3ef2941d8989621020f9c367f5885d4" ns3:_="" ns4:_="">
    <xsd:import namespace="0b372038-bdb2-4525-a385-84df920501c9"/>
    <xsd:import namespace="b1ececa1-0584-4110-b801-ec06cae49910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LengthInSecond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Location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  <xsd:element ref="ns4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372038-bdb2-4525-a385-84df920501c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værdi for deling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ceca1-0584-4110-b801-ec06cae499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1ececa1-0584-4110-b801-ec06cae49910" xsi:nil="true"/>
  </documentManagement>
</p:properties>
</file>

<file path=customXml/itemProps1.xml><?xml version="1.0" encoding="utf-8"?>
<ds:datastoreItem xmlns:ds="http://schemas.openxmlformats.org/officeDocument/2006/customXml" ds:itemID="{F4C08C7F-F953-44DE-ACDE-930692BDDB0F}">
  <ds:schemaRefs/>
</ds:datastoreItem>
</file>

<file path=customXml/itemProps2.xml><?xml version="1.0" encoding="utf-8"?>
<ds:datastoreItem xmlns:ds="http://schemas.openxmlformats.org/officeDocument/2006/customXml" ds:itemID="{02E7CCCE-613B-4CED-B813-E473EA1E01B2}">
  <ds:schemaRefs/>
</ds:datastoreItem>
</file>

<file path=customXml/itemProps3.xml><?xml version="1.0" encoding="utf-8"?>
<ds:datastoreItem xmlns:ds="http://schemas.openxmlformats.org/officeDocument/2006/customXml" ds:itemID="{9B86D049-F99E-4A87-BE11-4BCD6D5EA5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b372038-bdb2-4525-a385-84df920501c9"/>
    <ds:schemaRef ds:uri="b1ececa1-0584-4110-b801-ec06cae499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7E182F15-E9F8-4D22-B2DD-EFA0A8373751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C3E61CB6-41E4-4B7E-9CA6-75DCE19BB571}">
  <ds:schemaRefs>
    <ds:schemaRef ds:uri="b1ececa1-0584-4110-b801-ec06cae49910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0b372038-bdb2-4525-a385-84df920501c9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</TotalTime>
  <Words>708</Words>
  <Application>Microsoft Office PowerPoint</Application>
  <PresentationFormat>Widescreen</PresentationFormat>
  <Paragraphs>104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Arial Unicode MS</vt:lpstr>
      <vt:lpstr>Barlow</vt:lpstr>
      <vt:lpstr>Barlow Bold</vt:lpstr>
      <vt:lpstr>Calibri</vt:lpstr>
      <vt:lpstr>Trebuchet MS</vt:lpstr>
      <vt:lpstr>Wingdings</vt:lpstr>
      <vt:lpstr>Wingdings 3</vt:lpstr>
      <vt:lpstr>Facet</vt:lpstr>
      <vt:lpstr>Image Processing</vt:lpstr>
      <vt:lpstr>Why working with images?</vt:lpstr>
      <vt:lpstr>Image Fundamentals - The Pixel Grid</vt:lpstr>
      <vt:lpstr>Image Fundamentals - The Pixel Grid</vt:lpstr>
      <vt:lpstr>Foundational Operations - Spatial Domain</vt:lpstr>
      <vt:lpstr>Filtering: Smoothing and Sharpening</vt:lpstr>
      <vt:lpstr>Real-World Applications</vt:lpstr>
      <vt:lpstr>Images in Chemical Engineering</vt:lpstr>
      <vt:lpstr>Application in Chemical Engineering</vt:lpstr>
      <vt:lpstr>What features can you extract from images?</vt:lpstr>
      <vt:lpstr>Methods used</vt:lpstr>
      <vt:lpstr>Neural Networks</vt:lpstr>
      <vt:lpstr>Tutorials</vt:lpstr>
    </vt:vector>
  </TitlesOfParts>
  <Company>DTU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Processing</dc:title>
  <dc:creator>Fiammetta Caccavale</dc:creator>
  <cp:lastModifiedBy>Fiammetta Caccavale</cp:lastModifiedBy>
  <cp:revision>1</cp:revision>
  <dcterms:created xsi:type="dcterms:W3CDTF">2025-11-03T15:11:07Z</dcterms:created>
  <dcterms:modified xsi:type="dcterms:W3CDTF">2025-11-03T15:15:24Z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0x0101000DACC57ABFE653469BA3B15402645F43</vt:lpwstr>
  </property>
</Properties>
</file>